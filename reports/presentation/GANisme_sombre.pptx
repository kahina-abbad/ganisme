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Images</c:v>
                </c:pt>
              </c:strCache>
            </c:strRef>
          </c:tx>
          <c:spPr>
            <a:solidFill>
              <a:srgbClr val="6E665E"/>
            </a:solidFill>
          </c:spPr>
          <c:dPt>
            <c:idx val="1"/>
            <c:spPr>
              <a:solidFill>
                <a:srgbClr val="D4A84B"/>
              </a:solidFill>
            </c:spPr>
          </c:dPt>
          <c:dLbls>
            <c:dLbl>
              <c:idx val="0"/>
              <c:tx>
                <c:rich>
                  <a:bodyPr/>
                  <a:lstStyle/>
                  <a:p>
                    <a:r>
                      <a:rPr sz="1500" b="1">
                        <a:solidFill>
                          <a:srgbClr val="F2EDE6"/>
                        </a:solidFill>
                      </a:rPr>
                      <a:t>1 336</a:t>
                    </a:r>
                  </a:p>
                </c:rich>
              </c:tx>
              <c:dLblPos val="outEnd"/>
              <c:showLegendKey val="0"/>
              <c:showVal val="1"/>
              <c:showCatName val="0"/>
              <c:showSerName val="0"/>
              <c:showPercent val="0"/>
              <c:showBubbleSize val="0"/>
            </c:dLbl>
            <c:dLbl>
              <c:idx val="1"/>
              <c:tx>
                <c:rich>
                  <a:bodyPr/>
                  <a:lstStyle/>
                  <a:p>
                    <a:r>
                      <a:rPr sz="1500" b="1">
                        <a:solidFill>
                          <a:srgbClr val="F2EDE6"/>
                        </a:solidFill>
                      </a:rPr>
                      <a:t>8 000</a:t>
                    </a:r>
                  </a:p>
                </c:rich>
              </c:tx>
              <c:dLblPos val="outEnd"/>
              <c:showLegendKey val="0"/>
              <c:showVal val="1"/>
              <c:showCatName val="0"/>
              <c:showSerName val="0"/>
              <c:showPercent val="0"/>
              <c:showBubbleSize val="0"/>
            </c:dLbl>
            <c:dLbl>
              <c:idx val="2"/>
              <c:tx>
                <c:rich>
                  <a:bodyPr/>
                  <a:lstStyle/>
                  <a:p>
                    <a:r>
                      <a:rPr sz="1500" b="1">
                        <a:solidFill>
                          <a:srgbClr val="F2EDE6"/>
                        </a:solidFill>
                      </a:rPr>
                      <a:t>202 599</a:t>
                    </a:r>
                  </a:p>
                </c:rich>
              </c:tx>
              <c:dLblPos val="outEnd"/>
              <c:showLegendKey val="0"/>
              <c:showVal val="1"/>
              <c:showCatName val="0"/>
              <c:showSerName val="0"/>
              <c:showPercent val="0"/>
              <c:showBubbleSize val="0"/>
            </c:dLbl>
            <c:dLbl>
              <c:idx val="3"/>
              <c:tx>
                <c:rich>
                  <a:bodyPr/>
                  <a:lstStyle/>
                  <a:p>
                    <a:r>
                      <a:rPr sz="1500" b="1">
                        <a:solidFill>
                          <a:srgbClr val="F2EDE6"/>
                        </a:solidFill>
                      </a:rPr>
                      <a:t>3 033 042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MetFaces (ADA)</c:v>
                </c:pt>
                <c:pt idx="1">
                  <c:v>Notre projet</c:v>
                </c:pt>
                <c:pt idx="2">
                  <c:v>CelebA</c:v>
                </c:pt>
                <c:pt idx="3">
                  <c:v>LSUN chambres</c:v>
                </c:pt>
              </c:strCache>
            </c:strRef>
          </c:cat>
          <c:val>
            <c:numRef>
              <c:f>Sheet1!$B$2:$B$5</c:f>
              <c:numCache>
                <c:formatCode>General</c:formatCode>
                <c:ptCount val="4"/>
                <c:pt idx="0">
                  <c:v>1336</c:v>
                </c:pt>
                <c:pt idx="1">
                  <c:v>8000</c:v>
                </c:pt>
                <c:pt idx="2">
                  <c:v>202599</c:v>
                </c:pt>
                <c:pt idx="3">
                  <c:v>3033042</c:v>
                </c:pt>
              </c:numCache>
            </c:numRef>
          </c:val>
        </c:ser>
        <c:dLbls>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6E665E"/>
            </a:solidFill>
          </a:ln>
        </c:spPr>
        <c:txPr>
          <a:bodyPr/>
          <a:lstStyle/>
          <a:p>
            <a:pPr>
              <a:defRPr>
                <a:solidFill>
                  <a:srgbClr val="F2EDE6"/>
                </a:solidFill>
              </a:defRPr>
            </a:pPr>
          </a:p>
        </c:txPr>
        <c:crossAx val="-2113994440"/>
        <c:crosses val="autoZero"/>
        <c:auto val="1"/>
        <c:lblAlgn val="ctr"/>
        <c:lblOffset val="100"/>
        <c:noMultiLvlLbl val="0"/>
      </c:catAx>
      <c:valAx>
        <c:axId val="-2113994440"/>
        <c:scaling>
          <c:logBase val="10"/>
        </c:scaling>
        <c:delete/>
        <c:axPos val="l"/>
        <c:majorTickMark val="out"/>
        <c:minorTickMark val="none"/>
        <c:tickLblPos val="nextTo"/>
        <c:crossAx val="-2068027336"/>
        <c:crosses val="autoZero"/>
      </c:valAx>
    </c:plotArea>
    <c:dispBlanksAs val="gap"/>
  </c:chart>
  <c:txPr>
    <a:bodyPr/>
    <a:lstStyle/>
    <a:p>
      <a:pPr>
        <a:defRPr sz="1400">
          <a:solidFill>
            <a:srgbClr val="A39A9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FID</c:v>
                </c:pt>
              </c:strCache>
            </c:strRef>
          </c:tx>
          <c:dPt>
            <c:idx val="0"/>
            <c:spPr>
              <a:solidFill>
                <a:srgbClr val="6E665E"/>
              </a:solidFill>
            </c:spPr>
          </c:dPt>
          <c:dPt>
            <c:idx val="1"/>
            <c:spPr>
              <a:solidFill>
                <a:srgbClr val="C0505C"/>
              </a:solidFill>
            </c:spPr>
          </c:dPt>
          <c:dPt>
            <c:idx val="2"/>
            <c:spPr>
              <a:solidFill>
                <a:srgbClr val="D4A84B"/>
              </a:solidFill>
            </c:spPr>
          </c:dPt>
          <c:dLbls>
            <c:dLbl>
              <c:idx val="0"/>
              <c:tx>
                <c:rich>
                  <a:bodyPr/>
                  <a:lstStyle/>
                  <a:p>
                    <a:r>
                      <a:rPr sz="1600" b="1">
                        <a:solidFill>
                          <a:srgbClr val="F2EDE6"/>
                        </a:solidFill>
                      </a:rPr>
                      <a:t>FID 335</a:t>
                    </a:r>
                  </a:p>
                </c:rich>
              </c:tx>
              <c:dLblPos val="outEnd"/>
              <c:showLegendKey val="0"/>
              <c:showVal val="1"/>
              <c:showCatName val="0"/>
              <c:showSerName val="0"/>
              <c:showPercent val="0"/>
              <c:showBubbleSize val="0"/>
            </c:dLbl>
            <c:dLbl>
              <c:idx val="1"/>
              <c:tx>
                <c:rich>
                  <a:bodyPr/>
                  <a:lstStyle/>
                  <a:p>
                    <a:r>
                      <a:rPr sz="1600" b="1">
                        <a:solidFill>
                          <a:srgbClr val="F2EDE6"/>
                        </a:solidFill>
                      </a:rPr>
                      <a:t>FID 211</a:t>
                    </a:r>
                  </a:p>
                </c:rich>
              </c:tx>
              <c:dLblPos val="outEnd"/>
              <c:showLegendKey val="0"/>
              <c:showVal val="1"/>
              <c:showCatName val="0"/>
              <c:showSerName val="0"/>
              <c:showPercent val="0"/>
              <c:showBubbleSize val="0"/>
            </c:dLbl>
            <c:dLbl>
              <c:idx val="2"/>
              <c:tx>
                <c:rich>
                  <a:bodyPr/>
                  <a:lstStyle/>
                  <a:p>
                    <a:r>
                      <a:rPr sz="1600" b="1">
                        <a:solidFill>
                          <a:srgbClr val="F2EDE6"/>
                        </a:solidFill>
                      </a:rPr>
                      <a:t>FID 62</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Baseline v0</c:v>
                </c:pt>
                <c:pt idx="1">
                  <c:v>Modèle final</c:v>
                </c:pt>
                <c:pt idx="2">
                  <c:v>Réel vs réel</c:v>
                </c:pt>
              </c:strCache>
            </c:strRef>
          </c:cat>
          <c:val>
            <c:numRef>
              <c:f>Sheet1!$B$2:$B$4</c:f>
              <c:numCache>
                <c:formatCode>General</c:formatCode>
                <c:ptCount val="3"/>
                <c:pt idx="0">
                  <c:v>335.35381817449905</c:v>
                </c:pt>
                <c:pt idx="1">
                  <c:v>210.82793771660522</c:v>
                </c:pt>
                <c:pt idx="2">
                  <c:v>62.39881275559726</c:v>
                </c:pt>
              </c:numCache>
            </c:numRef>
          </c:val>
        </c:ser>
        <c:gapWidth val="70"/>
        <c:axId val="-2068027336"/>
        <c:axId val="-2113994440"/>
      </c:barChart>
      <c:catAx>
        <c:axId val="-2068027336"/>
        <c:scaling>
          <c:orientation val="minMax"/>
        </c:scaling>
        <c:delete val="0"/>
        <c:axPos val="b"/>
        <c:majorTickMark val="out"/>
        <c:minorTickMark val="none"/>
        <c:tickLblPos val="nextTo"/>
        <c:spPr>
          <a:ln>
            <a:solidFill>
              <a:srgbClr val="6E665E"/>
            </a:solidFill>
          </a:ln>
        </c:spPr>
        <c:txPr>
          <a:bodyPr/>
          <a:lstStyle/>
          <a:p>
            <a:pPr>
              <a:defRPr>
                <a:solidFill>
                  <a:srgbClr val="F2EDE6"/>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400">
          <a:solidFill>
            <a:srgbClr val="A39A9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Notre projet, GANisme, consiste à entraîner un réseau antagoniste génératif (GAN) capable de créer des peintures qui n'existent pas, à partir du catalogue de la Web Gallery of Art.</a:t>
            </a:r>
          </a:p>
          <a:p/>
          <a:p>
            <a:r>
              <a:t>Toutes les images de cette présentation sont de vraies peintures de notre jeu d'entraînement, téléchargées par scraping.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plan suit les attendus de l'énoncé : d'abord la veille scientifique sur les GAN, puis l'analyse du catalogue, la constitution du jeu d'images, le modèle, et enfin l'organisation de l'équipe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partie : la veille scientifique. Nous avons répondu aux 15 questions de l'énoncé ; les mots-clés sont à l'écran, les explications dans ces commentaires.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 Problème initial : le GAN (Goodfellow, 2014) répond à l'apprentissage NON SUPERVISÉ d'un modèle génératif : produire de nouvelles données qui ressemblent à un jeu d'exemples, sans étiquettes.</a:t>
            </a:r>
          </a:p>
          <a:p>
            <a:r>
              <a:t>Il fonctionne aussi pour l'image-à-image, la super-résolution, l'augmentation de données ou le semi-supervisé. Il est moins adapté au texte : les mots sont discrets, le gradient ne passe pas.</a:t>
            </a:r>
          </a:p>
          <a:p/>
          <a:p>
            <a:r>
              <a:t>Q2 — Fonctionnement (suivre le schéma) : le générateur G transforme un bruit aléatoire z en image. Le discriminateur D reçoit tantôt une vraie peinture, tantôt une image de G, et répond « vrai » ou « faux ». Le gradient de D indique à G comment mieux le tromper. Les deux progressent l'un contre l'autre (jeu à somme nulle) jusqu'à ce que les faux soient indiscernables.</a:t>
            </a:r>
          </a:p>
          <a:p/>
          <a:p>
            <a:r>
              <a:t>Ce que nos recherches montrent : le GAN n'est pas un classifieur. Le discriminateur classe, mais le but du GAN est de créer.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 Rôles : le générateur crée des images ; le discriminateur est un classifieur binaire vrai/faux qui sert de critique au générateur.</a:t>
            </a:r>
          </a:p>
          <a:p/>
          <a:p>
            <a:r>
              <a:t>Différence entre modèles (suivre les deux schémas) :</a:t>
            </a:r>
          </a:p>
          <a:p>
            <a:r>
              <a:t>• À gauche, un modèle DISCRIMINANT apprend p(y|x) : il trace une frontière entre deux classes (par exemple portrait ou paysage). Il ne sait pas fabriquer de nouvel exemple.</a:t>
            </a:r>
          </a:p>
          <a:p>
            <a:r>
              <a:t>• À droite, un modèle GÉNÉRATIF apprend p(x) : la forme du nuage de données lui-même. Il peut donc produire de nouveaux points (en doré) qui ressemblent aux données.</a:t>
            </a:r>
          </a:p>
          <a:p/>
          <a:p>
            <a:r>
              <a:t>Ce que nos recherches montrent : dans un GAN, le discriminateur EST un modèle discriminant. Mais le GAN dans son ensemble est un modèle génératif : D n'est qu'un outil d'entraînement, c'est G qu'on garde à la fin.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 Entrées (schéma de gauche) : le générateur reçoit un vecteur de bruit z, par exemple 100 nombres tirés d'une loi normale (plus une étiquette dans un GAN conditionnel). Le discriminateur reçoit une image, vraie ou générée, et renvoie une probabilité : 0,87 veut dire « vraie à 87 % ».</a:t>
            </a:r>
          </a:p>
          <a:p/>
          <a:p>
            <a:r>
              <a:t>Q5 — Densité implicite (schéma de droite) : un modèle EXPLICITE (VAE, flows) sait calculer p(x), la probabilité d'une image donnée. Un GAN ne le sait pas : il sait seulement TIRER de nouvelles images, en passant du bruit dans G. La distribution n'existe qu'à travers cet échantillonnage : on dit qu'elle est implicite.</a:t>
            </a:r>
          </a:p>
          <a:p/>
          <a:p>
            <a:r>
              <a:t>Ce que nos recherches montrent : le GAN apprend bien la distribution des données, mais il ne peut pas dire quelle est la probabilité d'une image.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 Rétropropagation : l'entraînement alterne deux pas à chaque lot d'images (suivre les deux schémas).</a:t>
            </a:r>
          </a:p>
          <a:p>
            <a:r>
              <a:t>Pas 1, le discriminateur apprend : on lui montre des vraies images (étiquette 1) et des fausses (étiquette 0). On calcule l'entropie croisée binaire et on met à jour SEULEMENT D. G est figé (gris).</a:t>
            </a:r>
          </a:p>
          <a:p>
            <a:r>
              <a:t>Pas 2, le générateur apprend : G produit des images, D les juge. La perte de G est −log D(G(z)). Le gradient (flèche dorée) traverse D sans le modifier, jusqu'à G. On met à jour SEULEMENT G.</a:t>
            </a:r>
          </a:p>
          <a:p/>
          <a:p>
            <a:r>
              <a:t>Ce que nos recherches montrent : on n'entraîne jamais G et D en même temps sur la même perte. À chaque pas, l'un des deux est figé, sinon D apprendrait à se laisser tromper.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 Évaluer un GAN est difficile : aucune perte ne mesure directement la qualité. Le schéma montre deux nuages : les vraies images (gris) et les images générées (doré).</a:t>
            </a:r>
          </a:p>
          <a:p>
            <a:r>
              <a:t>• PRÉCISION = la part des images générées qui tombent dans la zone des vraies : sont-elles réalistes ?</a:t>
            </a:r>
          </a:p>
          <a:p>
            <a:r>
              <a:t>• RAPPEL = la part des vraies images couverte par les générées : toute la variété est-elle produite ? Un mode collapse donne une bonne précision mais un rappel très faible.</a:t>
            </a:r>
          </a:p>
          <a:p>
            <a:r>
              <a:t>• FID (Fréchet Inception Distance) = la distance entre les deux nuages, mesurée sur des caractéristiques extraites par le réseau Inception. Plus bas = mieux. KID : même idée, plus fiable sur petits échantillons.</a:t>
            </a:r>
          </a:p>
          <a:p>
            <a:r>
              <a:t>• Et toujours : inspection visuelle, et recherche des plus proches voisins pour vérifier que G ne recopie pas les images d'entraînement.</a:t>
            </a:r>
          </a:p>
          <a:p/>
          <a:p>
            <a:r>
              <a:t>Ce que nos recherches montrent : une perte basse ne veut pas dire de belles images. On croise plusieurs métriques et l'œil.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 Quantité de données : il n'existe pas de seuil universel ; cela dépend de la résolution visée et de la diversité des images. Le graphique, en échelle logarithmique, situe notre projet :</a:t>
            </a:r>
          </a:p>
          <a:p>
            <a:r>
              <a:t>• MetFaces : 1 336 portraits issus de musées, suffisants pour StyleGAN2-ADA grâce à l'augmentation adaptative (Karras et al., 2020).</a:t>
            </a:r>
          </a:p>
          <a:p>
            <a:r>
              <a:t>• Notre projet : environ 8 000 peintures, en 64×64.</a:t>
            </a:r>
          </a:p>
          <a:p>
            <a:r>
              <a:t>• CelebA : environ 200 000 visages, jeu classique pour le DCGAN.</a:t>
            </a:r>
          </a:p>
          <a:p>
            <a:r>
              <a:t>• LSUN chambres : environ 3 millions d'images.</a:t>
            </a:r>
          </a:p>
          <a:p>
            <a:r>
              <a:t>Avec trop peu de données, le discriminateur sur-apprend et le générateur finit par recopier les images d'entraînement.</a:t>
            </a:r>
          </a:p>
          <a:p/>
          <a:p>
            <a:r>
              <a:t>Ce que nos recherches montrent : « il faut des millions d'images » est faux. Mais plus les images sont variées (et c'est notre cas : 10 genres, 7 siècles), plus il en faut.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Q9 — Convergence : on ne cherche pas le minimum d'une perte, mais un équilibre entre G et D.</a:t>
            </a:r>
          </a:p>
          <a:p>
            <a:r>
              <a:t>• À gauche : si D devient trop fort, il rejette tout ; D(G(z)) ≈ 0 et le gradient reçu par G s'évanouit : G n'apprend plus.</a:t>
            </a:r>
          </a:p>
          <a:p>
            <a:r>
              <a:t>• Au centre : l'équilibre théorique. Les faux suivent exactement la distribution réelle et D répond 0,5 partout, comme une pièce de monnaie.</a:t>
            </a:r>
          </a:p>
          <a:p>
            <a:r>
              <a:t>• À droite : le mode collapse. Des bruits z différents donnent tous la même image, parce qu'elle trompe D. G a « gagné » sans rien apprendre de la variété des peintures.</a:t>
            </a:r>
          </a:p>
          <a:p>
            <a:r>
              <a:t>En pratique, les pertes de G et D oscillent et ne descendent pas régulièrement.</a:t>
            </a:r>
          </a:p>
          <a:p/>
          <a:p>
            <a:r>
              <a:t>Ce que nos recherches montrent : une perte de G qui baisse ne veut pas dire que G progresse. Il faut regarder les images générées à intervalles réguliers.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Q10 — Avantages : images nettes et réalistes, génération très rapide (une seule passe dans G), pas de vraisemblance à calculer, apprentissage non supervisé. Inconvénients : entraînement instable et sensible aux réglages, mode collapse, évaluation difficile.</a:t>
            </a:r>
          </a:p>
          <a:p/>
          <a:p>
            <a:r>
              <a:t>Q11 — Variantes, sur la frise :</a:t>
            </a:r>
          </a:p>
          <a:p>
            <a:r>
              <a:t>• 2014 : GAN (Goodfellow) et GAN conditionnel, qui ajoute une étiquette pour choisir la classe générée (par exemple un genre de peinture).</a:t>
            </a:r>
          </a:p>
          <a:p>
            <a:r>
              <a:t>• 2015 : DCGAN, réseaux convolutifs pour les images (notre baseline).</a:t>
            </a:r>
          </a:p>
          <a:p>
            <a:r>
              <a:t>• 2016 : Pix2Pix, traduction d'image à image avec des paires (croquis → photo) ; SRGAN, super-résolution.</a:t>
            </a:r>
          </a:p>
          <a:p>
            <a:r>
              <a:t>• 2017 : CycleGAN, traduction sans paires (photo → tableau de Monet) ; WGAN-GP, entraînement plus stable grâce à la distance de Wasserstein.</a:t>
            </a:r>
          </a:p>
          <a:p>
            <a:r>
              <a:t>• 2018 : StyleGAN, visages ultra-réalistes (site thispersondoesnotexist).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Q12 — Un CNN (réseau convolutif) est une ARCHITECTURE de réseau, en général utilisée pour classer des images. Un GAN est une MÉTHODE D'ENTRAÎNEMENT à deux réseaux, quelle que soit leur architecture.</a:t>
            </a:r>
          </a:p>
          <a:p>
            <a:r>
              <a:t>Le vanilla GAN de 2014 utilisait des couches denses : il marchait sur des chiffres manuscrits mais restait instable sur des images complexes.</a:t>
            </a:r>
          </a:p>
          <a:p>
            <a:r>
              <a:t>Le DCGAN (Radford et al., 2015) est un GAN dont G et D sont des CNN, avec des règles précises : convolutions à pas au lieu du pooling, convolutions transposées dans G pour agrandir l'image, BatchNorm, ReLU dans G et LeakyReLU dans D, tanh en sortie. Résultat : un entraînement beaucoup plus stable sur des images, jusqu'à environ 64×64.</a:t>
            </a:r>
          </a:p>
          <a:p/>
          <a:p>
            <a:r>
              <a:t>Ce que nos recherches montrent : la question « comparez un CNN et un GAN » compare deux choses de nature différente. Il faut le dire : l'un est une architecture, l'autre une méthode ; le DCGAN combine les deux.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Q13 — Le chatbot dont parle l'énoncé est ChatGPT. Il repose sur GPT (Generative Pre-trained Transformer), de la famille des TRANSFORMERS : de grands modèles de langage autorégressifs, qui prédisent le mot suivant, affinés grâce aux retours humains (RLHF). Il a été développé par OpenAI.</a:t>
            </a:r>
          </a:p>
          <a:p>
            <a:r>
              <a:t>L'arbre montre les grandes familles de modèles génératifs profonds : les GAN (notre projet), les VAE, les modèles de diffusion (utilisés par DALL-E 2) et les transformers (GPT, ChatGPT).</a:t>
            </a:r>
          </a:p>
          <a:p/>
          <a:p>
            <a:r>
              <a:t>Ce que nos recherches montrent : ChatGPT n'est pas un GAN, et DALL-E non plus. Ce sont deux autres familles de modèles génératifs.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Q14 — Dangers des modèles génératifs comme les GAN :</a:t>
            </a:r>
          </a:p>
          <a:p>
            <a:r>
              <a:t>• deepfakes : usurpation d'identité, fraude, chantage ;</a:t>
            </a:r>
          </a:p>
          <a:p>
            <a:r>
              <a:t>• désinformation à grande échelle (fausses images crédibles) ;</a:t>
            </a:r>
          </a:p>
          <a:p>
            <a:r>
              <a:t>• biais : le modèle reproduit les déséquilibres de ses données (notre catalogue est très européen et très religieux, par exemple) ;</a:t>
            </a:r>
          </a:p>
          <a:p>
            <a:r>
              <a:t>• droits d'auteur : imitation du style d'artistes vivants ;</a:t>
            </a:r>
          </a:p>
          <a:p>
            <a:r>
              <a:t>• vie privée : mémorisation possible d'images d'entraînement.</a:t>
            </a:r>
          </a:p>
          <a:p/>
          <a:p>
            <a:r>
              <a:t>Q15 — Intérêt de générer des données : compléter des données rares (imagerie médicale), produire des données synthétiques anonymes, offrir un outil de création aux artistes, explorer des styles.</a:t>
            </a:r>
          </a:p>
          <a:p>
            <a:r>
              <a:t>Notre position : c'est utile à condition que le contenu synthétique reste identifié comme tel.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des enseignements de notre veille, à retenir pour l'oral :</a:t>
            </a:r>
          </a:p>
          <a:p>
            <a:r>
              <a:t>1. Un GAN ne sert pas à classer : il sert à créer. (Q1)</a:t>
            </a:r>
          </a:p>
          <a:p>
            <a:r>
              <a:t>2. Le discriminateur est discriminant, mais le GAN est génératif. (Q3)</a:t>
            </a:r>
          </a:p>
          <a:p>
            <a:r>
              <a:t>3. Un GAN ne calcule pas p(x) : sa densité est implicite. (Q5)</a:t>
            </a:r>
          </a:p>
          <a:p>
            <a:r>
              <a:t>4. G et D ne s'entraînent pas en même temps : on alterne. (Q6)</a:t>
            </a:r>
          </a:p>
          <a:p>
            <a:r>
              <a:t>5. Une perte basse ne prouve rien : on croise métriques et images. (Q7, Q9)</a:t>
            </a:r>
          </a:p>
          <a:p>
            <a:r>
              <a:t>6. CNN et GAN ne se comparent pas directement : architecture contre méthode. (Q12)</a:t>
            </a:r>
          </a:p>
          <a:p>
            <a:r>
              <a:t>7. ChatGPT et DALL-E ne sont pas des GAN. (Q13)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partie : l'analyse du catalogue. Nous l'avons faite uniquement sur les métadonnées (le fichier CSV), avant de télécharger la moindre image, pour décider quoi télécharger. Les graphiques qui suivent sont ceux produits par notre notebook 01_eda.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catalogue de la Web Gallery of Art contient 52 867 œuvres : peintures, sculptures, architecture, gravures… L'énoncé demande de ne garder que les peintures : 32 438, soit 61 %.</a:t>
            </a:r>
          </a:p>
          <a:p>
            <a:r>
              <a:t>Elles viennent de 3 663 artistes. 88 % des peintures ont une date connue ; les dates inconnues sont codées par un tiret, pas laissées vides.</a:t>
            </a:r>
          </a:p>
          <a:p>
            <a:r>
              <a:t>Chaque œuvre a une URL unique : c'est notre identifiant pour relier chaque image à sa source.</a:t>
            </a:r>
          </a:p>
          <a:p>
            <a:r>
              <a:t>Les champs sont du texte libre (« c. 1530 », « Oil on canvas, 68 x 95 cm ») : nous avons écrit des fonctions testées pour en extraire l'année, les dimensions et la technique.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sujets religieux représentent 42 % des peintures, presque trois fois plus que les portraits, deuxième genre. Les natures mortes, intérieurs et scènes de genre sont minoritaires.</a:t>
            </a:r>
          </a:p>
          <a:p>
            <a:r>
              <a:t>Conséquence : si on tirait les images au hasard, le GAN produirait surtout des madones et des scènes bibliques. Décision : imposer des quotas équilibrés par genre lors de la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gauche, les écoles : l'école italienne représente 42 % des peintures ; avec les écoles française, hollandaise et flamande, on dépasse 80 %. Le corpus est très européen de l'Ouest.</a:t>
            </a:r>
          </a:p>
          <a:p>
            <a:r>
              <a:t>À droite, les artistes les plus présents : Giotto arrive en tête, surtout parce que ses cycles de fresques sont détaillés vue par vue.</a:t>
            </a:r>
          </a:p>
          <a:p>
            <a:r>
              <a:t>Mais la concentration reste modérée : les 10 premiers artistes ne font que 10 % des peintures, et la moitié des artistes ont 3 peintures ou moins.</a:t>
            </a:r>
          </a:p>
          <a:p>
            <a:r>
              <a:t>Décision : un plafond de 30 peintures par artiste, comme garde-fou contre la mémorisation.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Répartition des dates de création. Le catalogue couvre surtout 1300-1900, avec trois pics : la Renaissance (vers 1500), le XVIIe siècle (baroque, âge d'or hollandais) et les années 1880 (impressionnisme, Van Gogh). L'art du XXe siècle est absent : le catalogue s'arrête vers 1900.</a:t>
            </a:r>
          </a:p>
          <a:p>
            <a:r>
              <a:t>Le graphique de droite montre que le genre dépend de l'époque : le religieux domine jusqu'au XVIe siècle, puis portraits, paysages et scènes de genre prennent le relais.</a:t>
            </a:r>
          </a:p>
          <a:p>
            <a:r>
              <a:t>Conséquence : équilibrer les genres équilibre aussi, en partie, les époques.</a:t>
            </a:r>
          </a:p>
          <a:p>
            <a:r>
              <a:t>Remarque : la colonne TIMEFRAME ne correspond pas à la date de l'œuvre dans 18 % des cas ; nous avons recalculé l'année à partir de 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gauche, les techniques : l'huile domine (70 %) ; les fresques (14,5 %) sont des photos de murs et de voûtes, que nous excluons.</a:t>
            </a:r>
          </a:p>
          <a:p>
            <a:r>
              <a:t>À droite, le ratio largeur/hauteur calculé à partir des dimensions en centimètres. Deux bosses : les formats verticaux (portraits, vers 0,8) et horizontaux (paysages, vers 1,33). Or un DCGAN génère des images carrées : un recadrage central fait perdre 24 % de la surface en médiane.</a:t>
            </a:r>
          </a:p>
          <a:p>
            <a:r>
              <a:t>Décision : recadrage carré central, et exclusion des formats trop allongés (ratio hors de 0,5 à 2), comme les frises ou les prédelles.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découvertes faites pendant l'analyse, chacune avec sa décision :</a:t>
            </a:r>
          </a:p>
          <a:p>
            <a:r>
              <a:t>• 15 % de vues de détail : ce sont des recadrages d'une autre œuvre du catalogue. Elles créent des quasi-doublons, et une fuite si une œuvre est en entraînement et son détail en évaluation. → Exclues, et découpage entraînement/évaluation par œuvre.</a:t>
            </a:r>
          </a:p>
          <a:p>
            <a:r>
              <a:t>• 14 % de fresques : photos de murs et de voûtes. → Exclues.</a:t>
            </a:r>
          </a:p>
          <a:p>
            <a:r>
              <a:t>• 18 % de périodes incohérentes : la colonne TIMEFRAME ne colle pas à la date. → On utilise DATE.</a:t>
            </a:r>
          </a:p>
          <a:p>
            <a:r>
              <a:t>• Ratio médian de 0,85 : les tableaux sont souvent verticaux. → Recadrage carré.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partie : comment nous passons du catalogue à un jeu d'images prêt pour l'entraînement. Les graphiques viennent de notre notebook 02_dataset.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Sélection en entonnoir : 32 438 peintures, puis sans vues de détail, sans fresques, avec un format raisonnable : il reste 23 228 candidates. Nous en tirons 8 000 avec une graine fixe (reproductible) : une image par œuvre, 30 peintures maximum par artiste, et des quotas équilibrés par genre.</a:t>
            </a:r>
          </a:p>
          <a:p>
            <a:r>
              <a:t>Le graphique (notebook 02_dataset) compare le catalogue (gris) et notre sélection (bleu) : le religieux passe de 42 % à 14 %, l'école italienne de 42 % à 24 %.</a:t>
            </a:r>
          </a:p>
          <a:p>
            <a:r>
              <a:t>Les œuvres sont réparties 90 % entraînement / 10 % évaluation, par œuvre : jamais des deux côtés.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scraping récupère chaque image sur le site wga.hu. Un fichier manifeste suit chaque image avec son statut : en attente, traitée, en échec (retentée plus tard) ou écartée. On peut arrêter et reprendre sans rien perdre.</a:t>
            </a:r>
          </a:p>
          <a:p>
            <a:r>
              <a:t>À gauche, un extrait réel du journal de téléchargement : le débit et l'état sont enregistrés toutes les 25 images.</a:t>
            </a:r>
          </a:p>
          <a:p>
            <a:r>
              <a:t>État au 12/10/2026 à 05:27 : 6 779 images traitées, 1 141 en échec, 80 écartées, 0 en attente.</a:t>
            </a:r>
          </a:p>
          <a:p>
            <a:r>
              <a:t>Difficulté rencontrée : le premier téléchargement s'est bloqué sans message d'erreur. Le serveur envoyait certaines images au compte-gouttes, et notre limite de temps ne portait que sur chaque lecture réseau. Correction : un délai total de 45 secondes par image, vérifié par un test.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manifeste (data/processed/manifest.csv) : une ligne par image sélectionnée, avec son identifiant, l'artiste, le titre, le genre, l'ensemble (entraînement ou évaluation), le statut et la taille d'origine. C'est ce fichier qui rend le téléchargement reprenable et qui relie chaque image à sa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Contrôle des images téléchargées (notebook 02_dataset, 6 779 images au moment de l'exécution).</a:t>
            </a:r>
          </a:p>
          <a:p>
            <a:r>
              <a:t>À gauche : le petit côté des images d'origine. Médiane : 850 pixels, très au-dessus de nos 256 pixels d'archive et des 64 pixels d'entraînement : aucune perte de détail utile.</a:t>
            </a:r>
          </a:p>
          <a:p>
            <a:r>
              <a:t>À droite : le ratio largeur/hauteur réel des images, comparé à celui calculé depuis les dimensions en cm du catalogue. Ils concordent à ±10 % pour 94 % des images : les métadonnées étaient fiables. Les écarts viennent d'images recadrées ou photographiées avec leur cadre.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5 de l'énoncé : ce que montrent les images, et les conséquences sur le prétraitement.</a:t>
            </a:r>
          </a:p>
          <a:p>
            <a:r>
              <a:t>• Tons sombres et bruns : vernis anciens, fonds noirs. On ne corrige pas les couleurs : c'est le style des œuvres que le GAN doit apprendre.</a:t>
            </a:r>
          </a:p>
          <a:p>
            <a:r>
              <a:t>• Cadres visibles sur certaines photos, ou mur autour de l'œuvre : du bruit, en faible proportion.</a:t>
            </a:r>
          </a:p>
          <a:p>
            <a:r>
              <a:t>• Le sujet est souvent centré : le recadrage carré central le conserve.</a:t>
            </a:r>
          </a:p>
          <a:p>
            <a:r>
              <a:t>Les images de cette diapositive sont de vraies images de notre jeu, après recadrage en 256×256.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Couleurs mesurées sur toutes les images téléchargées (notebook 02_dataset).</a:t>
            </a:r>
          </a:p>
          <a:p>
            <a:r>
              <a:t>À gauche, la saturation moyenne : la ligne orange est notre seuil de détection des reproductions en noir et blanc. Résultat : 14 image(s) seulement sous le seuil. Nous craignions un problème de photos noir et blanc ; les mesures montrent qu'il est négligeable.</a:t>
            </a:r>
          </a:p>
          <a:p>
            <a:r>
              <a:t>À droite, la luminosité : médiane de 0,308 sur une échelle de 0 (noir) à 1 (blanc). Les peintures sont globalement sombres, ce qui confirme l'observation visuelle. Nous gardons ces couleurs telles quelles : c'est le style à apprendre.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vrai bug trouvé grâce aux visualisations.</a:t>
            </a:r>
          </a:p>
          <a:p>
            <a:r>
              <a:t>Pour repérer les quasi-doublons, nous calculions une empreinte de chaque image (aHash 8×8). En regardant les paires détectées, nous avons vu qu'il s'agissait presque toujours de paysages DIFFÉRENTS : ciel clair en haut, sol sombre en bas, donc même empreinte.</a:t>
            </a:r>
          </a:p>
          <a:p>
            <a:r>
              <a:t>Le graphique mesure l'écart réel des pixels de chaque paire candidate : 1615 candidates, mais une seule sous le seuil de 10, à gauche : un vrai doublon (la même nature morte attribuée à deux artistes). Toutes les autres sont des images différentes.</a:t>
            </a:r>
          </a:p>
          <a:p>
            <a:r>
              <a:t>Sans correctif, l'export aurait supprimé des centaines de paysages et biaisé le jeu d'images. Correction : l'empreinte propose des candidats, la comparaison des pixels confirme. Un test automatique couvre ce cas.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choix de prétraitement, chacun justifié par une observation :</a:t>
            </a:r>
          </a:p>
          <a:p>
            <a:r>
              <a:t>• Recadrage carré central : le DCGAN génère des images carrées.</a:t>
            </a:r>
          </a:p>
          <a:p>
            <a:r>
              <a:t>• 64×64 pixels : baseline rapide à entraîner ; 128×128 possible sans retélécharger, les images étant archivées en 256×256.</a:t>
            </a:r>
          </a:p>
          <a:p>
            <a:r>
              <a:t>• Pixels normalisés entre −1 et 1 : la plage de sortie de la fonction tanh du générateur.</a:t>
            </a:r>
          </a:p>
          <a:p>
            <a:r>
              <a:t>• Exclusion des rares images en noir et blanc.</a:t>
            </a:r>
          </a:p>
          <a:p>
            <a:r>
              <a:t>• Suppression des quasi-doublons confirmés : évite la mémorisation et la fuite vers l'évaluation.</a:t>
            </a:r>
          </a:p>
          <a:p>
            <a:r>
              <a:t>• Miroir horizontal aléatoire : double la variété ; pas de miroir vertical (un ciel en bas n'est pas plausible).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qualité du code est vérifiée par des tests automatiques (pytest). Ci-contre, le résultat réel de leur exécution au moment de générer cette présentation.</a:t>
            </a:r>
          </a:p>
          <a:p>
            <a:r>
              <a:t>Ils couvrent l'extraction des métadonnées (dates, dimensions, techniques), la sélection (quotas, plafonds, découpage sans fuite), le téléchargement (reprise, doublons, délai total par image) et les contrôles d'images (empreintes, confirmation des doublons).</a:t>
            </a:r>
          </a:p>
          <a:p>
            <a:r>
              <a:t>Chaque bug rencontré (blocage du téléchargement, faux doublons) a donné lieu à un test.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Quatrième partie : le modèle, en suivant les questions 6 à 9 de l'énoncé : architecture et pertes, type de GAN et hyperparamètres, évaluation,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6 de l'énoncé — architecture et fonctions de perte.</a:t>
            </a:r>
          </a:p>
          <a:p>
            <a:r>
              <a:t>Le générateur part d'un vecteur de bruit de 100 nombres et l'agrandit étape par étape avec des convolutions transposées : 4×4, 8×8, 16×16, 32×32, jusqu'à une image 64×64 en couleurs. Chaque étape utilise BatchNorm et ReLU ; la sortie utilise tanh, d'où la normalisation des pixels entre −1 et 1.</a:t>
            </a:r>
          </a:p>
          <a:p>
            <a:r>
              <a:t>Le discriminateur fait le chemin inverse avec des convolutions à pas (stride 2) et LeakyReLU 0,2, et termine par une probabilité « vraie ».</a:t>
            </a:r>
          </a:p>
          <a:p>
            <a:r>
              <a:t>Fonctions de perte : entropie croisée binaire (BCE). Le discriminateur minimise −[log D(x) + log(1 − D(G(z)))] ; le générateur minimise −log D(G(z)), la version « non saturante » proposée par Goodfellow, qui donne des gradients utiles au début de l'entraînement quand D gagne facilement.</a:t>
            </a:r>
          </a:p>
          <a:p>
            <a:r>
              <a:t>Alternative envisagée : la perte de Wasserstein avec pénalité de gradient (WGAN-GP), plus stable mais plus coûteuse (5 pas de critique par pas de G).</a:t>
            </a:r>
          </a:p>
          <a:p>
            <a:r>
              <a:t>En 128×128, on ajoute une couche dans chaque réseau : le générateur part de 4×4×1024 et passe par 64×64 avant d'atteindre 128×128 ; le discriminateur fait l'inverse. Le générateur passe de 3,6 à 12,8 millions de paramètres, d'où un entraînement environ 5 fois plus lent.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7 de l'énoncé — type de GAN et hyperparamètres.</a:t>
            </a:r>
          </a:p>
          <a:p>
            <a:r>
              <a:t>Nous avons choisi un DCGAN : c'est l'architecture de référence pour des images 64×64, simple à diagnostiquer et assez légère pour être entraînée sans GPU dédié. Des modèles comme StyleGAN donnent de meilleures images mais demandent des jours de calcul sur GPU.</a:t>
            </a:r>
          </a:p>
          <a:p>
            <a:r>
              <a:t>Hyperparamètres : ceux du papier DCGAN (Radford et al., 2015), qui sont un point de départ éprouvé — optimiseur Adam, taux d'apprentissage 0,0002, β1 = 0,5 (β1 plus bas que la valeur par défaut 0,9 pour stabiliser l'entraînement), lots de 128 images, vecteur de bruit de dimension 100, poids initialisés selon une loi normale d'écart-type 0,02. Augmentation : miroir horizontal aléatoire.</a:t>
            </a:r>
          </a:p>
          <a:p>
            <a:r>
              <a:t>Les valeurs affichées sont lues dans la configuration réellement utilisée pour l'entraînement.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6 (suite) — l'entraînement.</a:t>
            </a:r>
          </a:p>
          <a:p>
            <a:r>
              <a:t>À gauche : les pertes du générateur et du discriminateur au fil des itérations. Elles oscillent au lieu de décroître, comme attendu pour un GAN : ce graphique sert surtout à repérer un effondrement (une perte de D qui tombe à zéro, par exemple).</a:t>
            </a:r>
          </a:p>
          <a:p>
            <a:r>
              <a:t>À droite : les images générées à partir des MÊMES vecteurs de bruit à plusieurs époques, ce qui permet de voir la progression réelle du générateur.</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8 de l'énoncé — évaluation.</a:t>
            </a:r>
          </a:p>
          <a:p>
            <a:r>
              <a:t>Les métriques sont calculées entre des images générées et le jeu d'ÉVALUATION (10 % des œuvres, jamais vues pendant l'entraînement), en 64×64.</a:t>
            </a:r>
          </a:p>
          <a:p>
            <a:r>
              <a:t>• FID (Fréchet Inception Distance) : plus bas = mieux. Pour l'interpréter, on calcule aussi le FID entre deux moitiés de vraies peintures : c'est le meilleur score atteignable avec ce nombre d'images.</a:t>
            </a:r>
          </a:p>
          <a:p>
            <a:r>
              <a:t>• KID : même idée, plus fiable sur de petits échantillons.</a:t>
            </a:r>
          </a:p>
          <a:p>
            <a:r>
              <a:t>• Plus proches voisins : pour chaque image générée, la peinture d'entraînement la plus proche ; si elles sont identiques, le modèle recopie au lieu de créer.</a:t>
            </a:r>
          </a:p>
          <a:p/>
          <a:p>
            <a:r>
              <a:t>Résultats (modèle final · 6 105 images, 100 époques, 657 images d'évaluation) : FID 210.8 contre 62.4 entre deux ensembles de vraies peintures de même taille ; KID 0.150 ± 0.005 (référence réel/réel : 0.000). L'écart entre le FID du générateur et le FID de référence mesure le chemin restant.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8 (suite) — la démarche v0 puis modèle final, et ce qu'elle prouve.</a:t>
            </a:r>
          </a:p>
          <a:p>
            <a:r>
              <a:t>La baseline v0 (30 époques sur 2 857 images) montrait un damier répété, un début de mode collapse et un discriminateur dominant. Notre hypothèse : il manquait des données et des itérations. Nous avons donc entraîné le modèle final avec 2,4 fois plus d'images et 7 fois plus d'itérations, SANS changer l'architecture, pour savoir exactement ce qui améliore le résultat.</a:t>
            </a:r>
          </a:p>
          <a:p>
            <a:r>
              <a:t>Pour comparer honnêtement, les deux modèles sont évalués sur les MÊMES 657 peintures d'évaluation : FID 335 pour la v0, 211 pour le modèle final, soit 37% de moins ; KID 0.30 puis 0.15, divisé par deux. L'hypothèse est confirmée.</a:t>
            </a:r>
          </a:p>
          <a:p>
            <a:r>
              <a:t>Le meilleur score atteignable avec ce nombre d'images est d'environ 62 (FID entre deux ensembles de vraies peintures) : il reste donc de la marge. Les images ne montrent plus de damier ni de mode collapse ; on voit une matière picturale (ocres, clairs-obscurs, ciels) mais aucun objet identifiable, et un nouvel artefact : des traînées claires en diagonale. Les plus proches voisins sont des peintures différentes : le modèle crée, il ne recopie pas.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cours de traitement d'images pose une règle d'or : un dataset homogène (un style, un format, un cadrage), sinon le GAN produit des images floues ou fait un mode collapse. Notre premier jeu mélangeait 10 genres et 7 siècles, et nos images restaient abstraites : nous avons donc testé la règle.</a:t>
            </a:r>
          </a:p>
          <a:p>
            <a:r>
              <a:t>Nous avons constitué un jeu de portraits : 4 068 sélectionnés (le maximum disponible dans le catalogue après nos filtres), 3 737 téléchargés, dont 3 347 pour l'entraînement et 390 pour l'évaluation, toujours séparés par œuvre.</a:t>
            </a:r>
          </a:p>
          <a:p>
            <a:r>
              <a:t>Nous avons appliqué le pipeline du cours à la lettre : dossier dédié en 128×128, classe Dataset qui lit les images à la demande, transformations Resize, CenterCrop, RandomHorizontalFlip, ToTensor et Normalize dans cet ordre, puis DataLoader.</a:t>
            </a:r>
          </a:p>
          <a:p>
            <a:r>
              <a:t>Avant d'entraîner, nous avons vérifié 16 images à la sortie du DataLoader, comme le recommande le cours : format (16, 3, 128, 128), valeurs entre −1 et 1, cadrage centré sans déformation. Limite : le jeu reste imparfaitement homogène (portraits en pied, de groupe, équestres).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Résultat du modèle portraits en 64×64 : même architecture, mêmes hyperparamètres et autant d'itérations (environ 4 700) que le modèle tous genres. Seul le jeu de données change.</a:t>
            </a:r>
          </a:p>
          <a:p>
            <a:r>
              <a:t>FID 204 contre 73 entre vraies peintures, soit 2.8 fois la référence ; le modèle tous genres était à 211 contre 62, soit 3.4 fois. KID 0.135 contre 0.150. Les deux modèles ne sont pas évalués sur les mêmes peintures : on compare donc l'écart à la référence de chacun.</a:t>
            </a:r>
          </a:p>
          <a:p>
            <a:r>
              <a:t>La différence est surtout visible : presque chaque image est un portrait reconnaissable (silhouette centrée, visage clair, buste, fond sombre, perruques ou cols blancs). Les visages restent flous, ce qui est normal en 64×64. Les plus proches voisins sont des tableaux différents : pas de recopie.</a:t>
            </a:r>
          </a:p>
          <a:p>
            <a:r>
              <a:t>Conclusion : la règle d'or du cours est vérifiée sur nos données.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règle du cours : commencer en 64×64, puis passer en 128×128 pour gagner en détails. Nous avons étendu le DCGAN d'une couche dans le générateur et dans le discriminateur (12,8 millions de paramètres pour le générateur, contre 3,6 en 64×64).</a:t>
            </a:r>
          </a:p>
          <a:p>
            <a:r>
              <a:t>Sur notre processeur, une époque en 128×128 prend 5 min 20 contre 1 min en 64×64. Pour tenir les délais, nous l'avons limité à 100 époques (environ 2 600 itérations, contre 4 700 en 64×64) : la comparaison est donc moins équitable, ce qui est une limite à garder en tête.</a:t>
            </a:r>
          </a:p>
          <a:p>
            <a:r>
              <a:t>Résultat : FID 286 contre 76 entre vraies peintures, soit 3.8 fois la référence. Les FID en 64 et en 128 ne se comparent pas directement (les images sont redimensionnées différemment avant Inception) : on compare l'écart et les images.</a:t>
            </a:r>
          </a:p>
          <a:p>
            <a:r>
              <a:t>Conclusion : avec 2600 itérations seulement, le 128×128 reste moins bon que le 64×64 (×3.8 contre ×2.8) : traînées horizontales, couleurs saturées, silhouettes moins lisibles. Un modèle 3,5 fois plus gros demande plus d'entraînement, pas moins. Nous gardons le 64×64 comme modèle principal ; le 128×128 est la prochaine étape, sur GPU.</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compléter par l'équipe : les outils utilisés (dépôt GitHub, tableau Trello ou Azure DevOps), les rituels (fréquence des points d'équipe, revues de code) et la répartition des tâches entre les membres.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9 de l'énoncé — conclusion.</a:t>
            </a:r>
          </a:p>
          <a:p>
            <a:r>
              <a:t>Acquis : le catalogue est analysé, ses biais sont identifiés et corrigés par la sélection ; le jeu d'images est reproductible, contrôlé et testé ; le DCGAN est entraîné et évalué avec un protocole sans fuite.</a:t>
            </a:r>
          </a:p>
          <a:p>
            <a:r>
              <a:t>Difficultés : un serveur lent et irrégulier (blocage puis correctif), des données hétérogènes, un fort déséquilibre des genres, et un faux signal de doublons repéré grâce aux visualisations.</a:t>
            </a:r>
          </a:p>
          <a:p>
            <a:r>
              <a:t>Pistes : WGAN-GP si le mode collapse apparaît, passage en 128×128, GAN conditionnel pour choisir le genre, augmentation adaptative (ADA), et l'application Streamlit pour rendre le générateur accessible.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GANisme à l'infini : l'application Streamlit (fichier app.py) rend le générateur accessible à tous.</a:t>
            </a:r>
          </a:p>
          <a:p>
            <a:r>
              <a:t>On choisit le nombre de peintures (de 1 à 36) et une graine : la même graine redonne toujours les mêmes peintures, ce qui permet de retrouver une création. Le bouton « Nouvelles peintures » tire une graine au hasard. Les images, générées en 64×64 pixels, sont agrandies sans flou, et la grille peut être téléchargée en PNG.</a:t>
            </a:r>
          </a:p>
          <a:p>
            <a:r>
              <a:t>L'application charge un fichier léger (models/generator.pt, environ 14 Mo) qui ne contient que les poids du générateur : elle fonctionne sans les checkpoints d'entraînement. Le modèle est chargé une seule fois grâce au cache de Streamlit. L'interface est couverte par des tests automatiques (AppTest).</a:t>
            </a:r>
          </a:p>
          <a:p>
            <a:r>
              <a:t>Lancement : streamlit run app.py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Tableau de couverture de l'énoncé : chaque question est traitée dans la présentation (diapositive indiquée) et dans les notebooks. Les questions marquées « en cours » dépendent de l'entraînement du modèle et seront complétées dès qu'il sera terminé.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 Id="rId6" Type="http://schemas.openxmlformats.org/officeDocument/2006/relationships/image" Target="../media/image4.jpg"/><Relationship Id="rId7" Type="http://schemas.openxmlformats.org/officeDocument/2006/relationships/image" Target="../media/image5.jpg"/><Relationship Id="rId8" Type="http://schemas.openxmlformats.org/officeDocument/2006/relationships/image" Target="../media/image6.jpg"/><Relationship Id="rId9" Type="http://schemas.openxmlformats.org/officeDocument/2006/relationships/image" Target="../media/image7.jpg"/><Relationship Id="rId10" Type="http://schemas.openxmlformats.org/officeDocument/2006/relationships/image" Target="../media/image8.jpg"/><Relationship Id="rId11" Type="http://schemas.openxmlformats.org/officeDocument/2006/relationships/image" Target="../media/image9.jpg"/><Relationship Id="rId12" Type="http://schemas.openxmlformats.org/officeDocument/2006/relationships/image" Target="../media/image10.jpg"/><Relationship Id="rId13" Type="http://schemas.openxmlformats.org/officeDocument/2006/relationships/image" Target="../media/image11.jpg"/><Relationship Id="rId14" Type="http://schemas.openxmlformats.org/officeDocument/2006/relationships/image" Target="../media/image12.jpg"/><Relationship Id="rId15" Type="http://schemas.openxmlformats.org/officeDocument/2006/relationships/image" Target="../media/image13.jpg"/><Relationship Id="rId16" Type="http://schemas.openxmlformats.org/officeDocument/2006/relationships/image" Target="../media/image14.jpg"/><Relationship Id="rId17" Type="http://schemas.openxmlformats.org/officeDocument/2006/relationships/image" Target="../media/image15.jpg"/><Relationship Id="rId18" Type="http://schemas.openxmlformats.org/officeDocument/2006/relationships/image" Target="../media/image16.jpg"/><Relationship Id="rId19" Type="http://schemas.openxmlformats.org/officeDocument/2006/relationships/image" Target="../media/image17.jpg"/><Relationship Id="rId20" Type="http://schemas.openxmlformats.org/officeDocument/2006/relationships/image" Target="../media/image18.jpg"/><Relationship Id="rId21" Type="http://schemas.openxmlformats.org/officeDocument/2006/relationships/image" Target="../media/image19.jpg"/><Relationship Id="rId22" Type="http://schemas.openxmlformats.org/officeDocument/2006/relationships/image" Target="../media/image2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image" Target="../media/image24.jpg"/><Relationship Id="rId7" Type="http://schemas.openxmlformats.org/officeDocument/2006/relationships/image" Target="../media/image2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6.jpg"/><Relationship Id="rId4" Type="http://schemas.openxmlformats.org/officeDocument/2006/relationships/image" Target="../media/image27.jpg"/><Relationship Id="rId5" Type="http://schemas.openxmlformats.org/officeDocument/2006/relationships/image" Target="../media/image20.jpg"/><Relationship Id="rId6" Type="http://schemas.openxmlformats.org/officeDocument/2006/relationships/image" Target="../media/image28.jpg"/><Relationship Id="rId7" Type="http://schemas.openxmlformats.org/officeDocument/2006/relationships/image" Target="../media/image29.jpg"/><Relationship Id="rId8" Type="http://schemas.openxmlformats.org/officeDocument/2006/relationships/image" Target="../media/image30.jpg"/><Relationship Id="rId9" Type="http://schemas.openxmlformats.org/officeDocument/2006/relationships/image" Target="../media/image31.jpg"/><Relationship Id="rId10" Type="http://schemas.openxmlformats.org/officeDocument/2006/relationships/image" Target="../media/image32.jpg"/><Relationship Id="rId11" Type="http://schemas.openxmlformats.org/officeDocument/2006/relationships/image" Target="../media/image3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jpg"/><Relationship Id="rId4" Type="http://schemas.openxmlformats.org/officeDocument/2006/relationships/image" Target="../media/image37.jpg"/><Relationship Id="rId5" Type="http://schemas.openxmlformats.org/officeDocument/2006/relationships/image" Target="../media/image38.jpg"/><Relationship Id="rId6" Type="http://schemas.openxmlformats.org/officeDocument/2006/relationships/image" Target="../media/image39.jpg"/><Relationship Id="rId7" Type="http://schemas.openxmlformats.org/officeDocument/2006/relationships/image" Target="../media/image17.jpg"/><Relationship Id="rId8" Type="http://schemas.openxmlformats.org/officeDocument/2006/relationships/image" Target="../media/image40.jpg"/><Relationship Id="rId9" Type="http://schemas.openxmlformats.org/officeDocument/2006/relationships/image" Target="../media/image41.jpg"/><Relationship Id="rId10" Type="http://schemas.openxmlformats.org/officeDocument/2006/relationships/image" Target="../media/image31.jpg"/><Relationship Id="rId11" Type="http://schemas.openxmlformats.org/officeDocument/2006/relationships/image" Target="../media/image4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6.png"/><Relationship Id="rId4" Type="http://schemas.openxmlformats.org/officeDocument/2006/relationships/image" Target="../media/image4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7.jpg"/><Relationship Id="rId4" Type="http://schemas.openxmlformats.org/officeDocument/2006/relationships/image" Target="../media/image49.jpg"/><Relationship Id="rId5" Type="http://schemas.openxmlformats.org/officeDocument/2006/relationships/image" Target="../media/image19.jpg"/><Relationship Id="rId6" Type="http://schemas.openxmlformats.org/officeDocument/2006/relationships/image" Target="../media/image41.jpg"/><Relationship Id="rId7" Type="http://schemas.openxmlformats.org/officeDocument/2006/relationships/image" Target="../media/image10.jpg"/><Relationship Id="rId8" Type="http://schemas.openxmlformats.org/officeDocument/2006/relationships/image" Target="../media/image17.jpg"/><Relationship Id="rId9" Type="http://schemas.openxmlformats.org/officeDocument/2006/relationships/image" Target="../media/image50.jpg"/><Relationship Id="rId10" Type="http://schemas.openxmlformats.org/officeDocument/2006/relationships/image" Target="../media/image51.jpg"/><Relationship Id="rId11" Type="http://schemas.openxmlformats.org/officeDocument/2006/relationships/image" Target="../media/image5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5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4.jpg"/><Relationship Id="rId4" Type="http://schemas.openxmlformats.org/officeDocument/2006/relationships/image" Target="../media/image23.jpg"/><Relationship Id="rId5" Type="http://schemas.openxmlformats.org/officeDocument/2006/relationships/image" Target="../media/image34.jpg"/><Relationship Id="rId6" Type="http://schemas.openxmlformats.org/officeDocument/2006/relationships/image" Target="../media/image55.jpg"/><Relationship Id="rId7" Type="http://schemas.openxmlformats.org/officeDocument/2006/relationships/image" Target="../media/image1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7.jpg"/><Relationship Id="rId4" Type="http://schemas.openxmlformats.org/officeDocument/2006/relationships/image" Target="../media/image58.jpg"/><Relationship Id="rId5" Type="http://schemas.openxmlformats.org/officeDocument/2006/relationships/image" Target="../media/image16.jpg"/><Relationship Id="rId6" Type="http://schemas.openxmlformats.org/officeDocument/2006/relationships/image" Target="../media/image59.jpg"/><Relationship Id="rId7" Type="http://schemas.openxmlformats.org/officeDocument/2006/relationships/image" Target="../media/image60.jpg"/><Relationship Id="rId8" Type="http://schemas.openxmlformats.org/officeDocument/2006/relationships/image" Target="../media/image54.jpg"/><Relationship Id="rId9" Type="http://schemas.openxmlformats.org/officeDocument/2006/relationships/image" Target="../media/image52.jpg"/><Relationship Id="rId10" Type="http://schemas.openxmlformats.org/officeDocument/2006/relationships/image" Target="../media/image61.jpg"/><Relationship Id="rId11" Type="http://schemas.openxmlformats.org/officeDocument/2006/relationships/image" Target="../media/image62.jpg"/><Relationship Id="rId12" Type="http://schemas.openxmlformats.org/officeDocument/2006/relationships/image" Target="../media/image63.jpg"/><Relationship Id="rId13" Type="http://schemas.openxmlformats.org/officeDocument/2006/relationships/image" Target="../media/image64.jpg"/><Relationship Id="rId14" Type="http://schemas.openxmlformats.org/officeDocument/2006/relationships/image" Target="../media/image65.jpg"/><Relationship Id="rId15" Type="http://schemas.openxmlformats.org/officeDocument/2006/relationships/image" Target="../media/image66.jpg"/><Relationship Id="rId16" Type="http://schemas.openxmlformats.org/officeDocument/2006/relationships/image" Target="../media/image13.jpg"/><Relationship Id="rId17" Type="http://schemas.openxmlformats.org/officeDocument/2006/relationships/image" Target="../media/image21.jpg"/><Relationship Id="rId18" Type="http://schemas.openxmlformats.org/officeDocument/2006/relationships/image" Target="../media/image67.jpg"/><Relationship Id="rId19" Type="http://schemas.openxmlformats.org/officeDocument/2006/relationships/image" Target="../media/image34.jpg"/><Relationship Id="rId20" Type="http://schemas.openxmlformats.org/officeDocument/2006/relationships/image" Target="../media/image68.jpg"/><Relationship Id="rId21" Type="http://schemas.openxmlformats.org/officeDocument/2006/relationships/image" Target="../media/image69.jpg"/><Relationship Id="rId22" Type="http://schemas.openxmlformats.org/officeDocument/2006/relationships/image" Target="../media/image70.jpg"/><Relationship Id="rId23" Type="http://schemas.openxmlformats.org/officeDocument/2006/relationships/image" Target="../media/image15.jpg"/><Relationship Id="rId24" Type="http://schemas.openxmlformats.org/officeDocument/2006/relationships/image" Target="../media/image71.jpg"/><Relationship Id="rId25" Type="http://schemas.openxmlformats.org/officeDocument/2006/relationships/image" Target="../media/image51.jpg"/><Relationship Id="rId26" Type="http://schemas.openxmlformats.org/officeDocument/2006/relationships/image" Target="../media/image72.jpg"/><Relationship Id="rId27" Type="http://schemas.openxmlformats.org/officeDocument/2006/relationships/image" Target="../media/image73.jpg"/><Relationship Id="rId28" Type="http://schemas.openxmlformats.org/officeDocument/2006/relationships/image" Target="../media/image74.jpg"/><Relationship Id="rId29" Type="http://schemas.openxmlformats.org/officeDocument/2006/relationships/image" Target="../media/image75.jpg"/><Relationship Id="rId30" Type="http://schemas.openxmlformats.org/officeDocument/2006/relationships/image" Target="../media/image76.jpg"/><Relationship Id="rId31" Type="http://schemas.openxmlformats.org/officeDocument/2006/relationships/image" Target="../media/image77.jpg"/><Relationship Id="rId32" Type="http://schemas.openxmlformats.org/officeDocument/2006/relationships/image" Target="../media/image78.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8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0.jpg"/><Relationship Id="rId4" Type="http://schemas.openxmlformats.org/officeDocument/2006/relationships/image" Target="../media/image40.jpg"/><Relationship Id="rId5" Type="http://schemas.openxmlformats.org/officeDocument/2006/relationships/image" Target="../media/image6.jpg"/><Relationship Id="rId6" Type="http://schemas.openxmlformats.org/officeDocument/2006/relationships/image" Target="../media/image81.jpg"/><Relationship Id="rId7" Type="http://schemas.openxmlformats.org/officeDocument/2006/relationships/image" Target="../media/image82.jpg"/><Relationship Id="rId8" Type="http://schemas.openxmlformats.org/officeDocument/2006/relationships/image" Target="../media/image2.jpg"/><Relationship Id="rId9" Type="http://schemas.openxmlformats.org/officeDocument/2006/relationships/image" Target="../media/image83.jpg"/><Relationship Id="rId10" Type="http://schemas.openxmlformats.org/officeDocument/2006/relationships/image" Target="../media/image22.jpg"/><Relationship Id="rId11" Type="http://schemas.openxmlformats.org/officeDocument/2006/relationships/image" Target="../media/image8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85.png"/><Relationship Id="rId4" Type="http://schemas.openxmlformats.org/officeDocument/2006/relationships/image" Target="../media/image8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87.png"/><Relationship Id="rId4" Type="http://schemas.openxmlformats.org/officeDocument/2006/relationships/image" Target="../media/image8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chart" Target="../charts/char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8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9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9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6.jpg"/><Relationship Id="rId4" Type="http://schemas.openxmlformats.org/officeDocument/2006/relationships/image" Target="../media/image21.jpg"/><Relationship Id="rId5" Type="http://schemas.openxmlformats.org/officeDocument/2006/relationships/image" Target="../media/image5.jpg"/><Relationship Id="rId6" Type="http://schemas.openxmlformats.org/officeDocument/2006/relationships/image" Target="../media/image92.jpg"/><Relationship Id="rId7" Type="http://schemas.openxmlformats.org/officeDocument/2006/relationships/image" Target="../media/image93.jpg"/><Relationship Id="rId8" Type="http://schemas.openxmlformats.org/officeDocument/2006/relationships/image" Target="../media/image94.jpg"/><Relationship Id="rId9" Type="http://schemas.openxmlformats.org/officeDocument/2006/relationships/image" Target="../media/image37.jpg"/><Relationship Id="rId10" Type="http://schemas.openxmlformats.org/officeDocument/2006/relationships/image" Target="../media/image95.jpg"/><Relationship Id="rId11" Type="http://schemas.openxmlformats.org/officeDocument/2006/relationships/image" Target="../media/image9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9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2194560"/>
            <a:ext cx="5486400" cy="1188720"/>
          </a:xfrm>
          <a:prstGeom prst="rect">
            <a:avLst/>
          </a:prstGeom>
          <a:noFill/>
        </p:spPr>
        <p:txBody>
          <a:bodyPr wrap="square" lIns="0" rIns="0" tIns="0" bIns="0" anchor="t">
            <a:spAutoFit/>
          </a:bodyPr>
          <a:lstStyle/>
          <a:p>
            <a:pPr algn="l">
              <a:spcAft>
                <a:spcPts val="400"/>
              </a:spcAft>
            </a:pPr>
            <a:r>
              <a:rPr sz="8000" b="1">
                <a:solidFill>
                  <a:srgbClr val="F2EDE6"/>
                </a:solidFill>
                <a:latin typeface="Cambria"/>
              </a:rPr>
              <a:t>GANisme</a:t>
            </a:r>
          </a:p>
        </p:txBody>
      </p:sp>
      <p:sp>
        <p:nvSpPr>
          <p:cNvPr id="3" name="TextBox 2"/>
          <p:cNvSpPr txBox="1"/>
          <p:nvPr/>
        </p:nvSpPr>
        <p:spPr>
          <a:xfrm>
            <a:off x="548640" y="3474720"/>
            <a:ext cx="5486400" cy="548640"/>
          </a:xfrm>
          <a:prstGeom prst="rect">
            <a:avLst/>
          </a:prstGeom>
          <a:noFill/>
        </p:spPr>
        <p:txBody>
          <a:bodyPr wrap="square" lIns="0" rIns="0" tIns="0" bIns="0" anchor="t">
            <a:spAutoFit/>
          </a:bodyPr>
          <a:lstStyle/>
          <a:p>
            <a:pPr algn="l">
              <a:spcAft>
                <a:spcPts val="400"/>
              </a:spcAft>
            </a:pPr>
            <a:r>
              <a:rPr sz="2800" b="0">
                <a:solidFill>
                  <a:srgbClr val="D4A84B"/>
                </a:solidFill>
                <a:latin typeface="Cambria"/>
              </a:rPr>
              <a:t>Peindre avec un GAN</a:t>
            </a:r>
          </a:p>
        </p:txBody>
      </p:sp>
      <p:sp>
        <p:nvSpPr>
          <p:cNvPr id="4" name="TextBox 3"/>
          <p:cNvSpPr txBox="1"/>
          <p:nvPr/>
        </p:nvSpPr>
        <p:spPr>
          <a:xfrm>
            <a:off x="548640" y="4846320"/>
            <a:ext cx="5486400" cy="640080"/>
          </a:xfrm>
          <a:prstGeom prst="rect">
            <a:avLst/>
          </a:prstGeom>
          <a:noFill/>
        </p:spPr>
        <p:txBody>
          <a:bodyPr wrap="square" lIns="0" rIns="0" tIns="0" bIns="0" anchor="t">
            <a:spAutoFit/>
          </a:bodyPr>
          <a:lstStyle/>
          <a:p>
            <a:pPr algn="l">
              <a:spcAft>
                <a:spcPts val="400"/>
              </a:spcAft>
            </a:pPr>
            <a:r>
              <a:rPr sz="1400" b="0">
                <a:solidFill>
                  <a:srgbClr val="A39A90"/>
                </a:solidFill>
                <a:latin typeface="Calibri"/>
              </a:rPr>
              <a:t>La Plateforme · Deep Learning</a:t>
            </a:r>
          </a:p>
          <a:p>
            <a:pPr algn="l">
              <a:spcAft>
                <a:spcPts val="400"/>
              </a:spcAft>
            </a:pPr>
            <a:r>
              <a:rPr sz="1400" b="0">
                <a:solidFill>
                  <a:srgbClr val="A39A90"/>
                </a:solidFill>
                <a:latin typeface="Calibri"/>
              </a:rPr>
              <a:t>Équipe : [à compléter]</a:t>
            </a:r>
          </a:p>
        </p:txBody>
      </p:sp>
      <p:pic>
        <p:nvPicPr>
          <p:cNvPr id="5" name="Picture 4" descr="01508.jpg"/>
          <p:cNvPicPr>
            <a:picLocks noChangeAspect="1"/>
          </p:cNvPicPr>
          <p:nvPr/>
        </p:nvPicPr>
        <p:blipFill>
          <a:blip r:embed="rId3"/>
          <a:stretch>
            <a:fillRect/>
          </a:stretch>
        </p:blipFill>
        <p:spPr>
          <a:xfrm>
            <a:off x="6903720" y="502920"/>
            <a:ext cx="1097280" cy="1097280"/>
          </a:xfrm>
          <a:prstGeom prst="rect">
            <a:avLst/>
          </a:prstGeom>
        </p:spPr>
      </p:pic>
      <p:pic>
        <p:nvPicPr>
          <p:cNvPr id="6" name="Picture 5" descr="00642.jpg"/>
          <p:cNvPicPr>
            <a:picLocks noChangeAspect="1"/>
          </p:cNvPicPr>
          <p:nvPr/>
        </p:nvPicPr>
        <p:blipFill>
          <a:blip r:embed="rId4"/>
          <a:stretch>
            <a:fillRect/>
          </a:stretch>
        </p:blipFill>
        <p:spPr>
          <a:xfrm>
            <a:off x="8074152" y="502920"/>
            <a:ext cx="1097280" cy="1097280"/>
          </a:xfrm>
          <a:prstGeom prst="rect">
            <a:avLst/>
          </a:prstGeom>
        </p:spPr>
      </p:pic>
      <p:pic>
        <p:nvPicPr>
          <p:cNvPr id="7" name="Picture 6" descr="00635.jpg"/>
          <p:cNvPicPr>
            <a:picLocks noChangeAspect="1"/>
          </p:cNvPicPr>
          <p:nvPr/>
        </p:nvPicPr>
        <p:blipFill>
          <a:blip r:embed="rId5"/>
          <a:stretch>
            <a:fillRect/>
          </a:stretch>
        </p:blipFill>
        <p:spPr>
          <a:xfrm>
            <a:off x="9244584" y="502920"/>
            <a:ext cx="1097280" cy="1097280"/>
          </a:xfrm>
          <a:prstGeom prst="rect">
            <a:avLst/>
          </a:prstGeom>
        </p:spPr>
      </p:pic>
      <p:pic>
        <p:nvPicPr>
          <p:cNvPr id="8" name="Picture 7" descr="02008.jpg"/>
          <p:cNvPicPr>
            <a:picLocks noChangeAspect="1"/>
          </p:cNvPicPr>
          <p:nvPr/>
        </p:nvPicPr>
        <p:blipFill>
          <a:blip r:embed="rId6"/>
          <a:stretch>
            <a:fillRect/>
          </a:stretch>
        </p:blipFill>
        <p:spPr>
          <a:xfrm>
            <a:off x="10415016" y="502920"/>
            <a:ext cx="1097280" cy="1097280"/>
          </a:xfrm>
          <a:prstGeom prst="rect">
            <a:avLst/>
          </a:prstGeom>
        </p:spPr>
      </p:pic>
      <p:pic>
        <p:nvPicPr>
          <p:cNvPr id="9" name="Picture 8" descr="02084.jpg"/>
          <p:cNvPicPr>
            <a:picLocks noChangeAspect="1"/>
          </p:cNvPicPr>
          <p:nvPr/>
        </p:nvPicPr>
        <p:blipFill>
          <a:blip r:embed="rId7"/>
          <a:stretch>
            <a:fillRect/>
          </a:stretch>
        </p:blipFill>
        <p:spPr>
          <a:xfrm>
            <a:off x="6903720" y="1673352"/>
            <a:ext cx="1097280" cy="1097280"/>
          </a:xfrm>
          <a:prstGeom prst="rect">
            <a:avLst/>
          </a:prstGeom>
        </p:spPr>
      </p:pic>
      <p:pic>
        <p:nvPicPr>
          <p:cNvPr id="10" name="Picture 9" descr="00729.jpg"/>
          <p:cNvPicPr>
            <a:picLocks noChangeAspect="1"/>
          </p:cNvPicPr>
          <p:nvPr/>
        </p:nvPicPr>
        <p:blipFill>
          <a:blip r:embed="rId8"/>
          <a:stretch>
            <a:fillRect/>
          </a:stretch>
        </p:blipFill>
        <p:spPr>
          <a:xfrm>
            <a:off x="8074152" y="1673352"/>
            <a:ext cx="1097280" cy="1097280"/>
          </a:xfrm>
          <a:prstGeom prst="rect">
            <a:avLst/>
          </a:prstGeom>
        </p:spPr>
      </p:pic>
      <p:pic>
        <p:nvPicPr>
          <p:cNvPr id="11" name="Picture 10" descr="01550.jpg"/>
          <p:cNvPicPr>
            <a:picLocks noChangeAspect="1"/>
          </p:cNvPicPr>
          <p:nvPr/>
        </p:nvPicPr>
        <p:blipFill>
          <a:blip r:embed="rId9"/>
          <a:stretch>
            <a:fillRect/>
          </a:stretch>
        </p:blipFill>
        <p:spPr>
          <a:xfrm>
            <a:off x="9244584" y="1673352"/>
            <a:ext cx="1097280" cy="1097280"/>
          </a:xfrm>
          <a:prstGeom prst="rect">
            <a:avLst/>
          </a:prstGeom>
        </p:spPr>
      </p:pic>
      <p:pic>
        <p:nvPicPr>
          <p:cNvPr id="12" name="Picture 11" descr="01576.jpg"/>
          <p:cNvPicPr>
            <a:picLocks noChangeAspect="1"/>
          </p:cNvPicPr>
          <p:nvPr/>
        </p:nvPicPr>
        <p:blipFill>
          <a:blip r:embed="rId10"/>
          <a:stretch>
            <a:fillRect/>
          </a:stretch>
        </p:blipFill>
        <p:spPr>
          <a:xfrm>
            <a:off x="10415016" y="1673352"/>
            <a:ext cx="1097280" cy="1097280"/>
          </a:xfrm>
          <a:prstGeom prst="rect">
            <a:avLst/>
          </a:prstGeom>
        </p:spPr>
      </p:pic>
      <p:pic>
        <p:nvPicPr>
          <p:cNvPr id="13" name="Picture 12" descr="00582.jpg"/>
          <p:cNvPicPr>
            <a:picLocks noChangeAspect="1"/>
          </p:cNvPicPr>
          <p:nvPr/>
        </p:nvPicPr>
        <p:blipFill>
          <a:blip r:embed="rId11"/>
          <a:stretch>
            <a:fillRect/>
          </a:stretch>
        </p:blipFill>
        <p:spPr>
          <a:xfrm>
            <a:off x="6903720" y="2843784"/>
            <a:ext cx="1097280" cy="1097280"/>
          </a:xfrm>
          <a:prstGeom prst="rect">
            <a:avLst/>
          </a:prstGeom>
        </p:spPr>
      </p:pic>
      <p:pic>
        <p:nvPicPr>
          <p:cNvPr id="14" name="Picture 13" descr="00919.jpg"/>
          <p:cNvPicPr>
            <a:picLocks noChangeAspect="1"/>
          </p:cNvPicPr>
          <p:nvPr/>
        </p:nvPicPr>
        <p:blipFill>
          <a:blip r:embed="rId12"/>
          <a:stretch>
            <a:fillRect/>
          </a:stretch>
        </p:blipFill>
        <p:spPr>
          <a:xfrm>
            <a:off x="8074152" y="2843784"/>
            <a:ext cx="1097280" cy="1097280"/>
          </a:xfrm>
          <a:prstGeom prst="rect">
            <a:avLst/>
          </a:prstGeom>
        </p:spPr>
      </p:pic>
      <p:pic>
        <p:nvPicPr>
          <p:cNvPr id="15" name="Picture 14" descr="00709.jpg"/>
          <p:cNvPicPr>
            <a:picLocks noChangeAspect="1"/>
          </p:cNvPicPr>
          <p:nvPr/>
        </p:nvPicPr>
        <p:blipFill>
          <a:blip r:embed="rId13"/>
          <a:stretch>
            <a:fillRect/>
          </a:stretch>
        </p:blipFill>
        <p:spPr>
          <a:xfrm>
            <a:off x="9244584" y="2843784"/>
            <a:ext cx="1097280" cy="1097280"/>
          </a:xfrm>
          <a:prstGeom prst="rect">
            <a:avLst/>
          </a:prstGeom>
        </p:spPr>
      </p:pic>
      <p:pic>
        <p:nvPicPr>
          <p:cNvPr id="16" name="Picture 15" descr="02033.jpg"/>
          <p:cNvPicPr>
            <a:picLocks noChangeAspect="1"/>
          </p:cNvPicPr>
          <p:nvPr/>
        </p:nvPicPr>
        <p:blipFill>
          <a:blip r:embed="rId14"/>
          <a:stretch>
            <a:fillRect/>
          </a:stretch>
        </p:blipFill>
        <p:spPr>
          <a:xfrm>
            <a:off x="10415016" y="2843784"/>
            <a:ext cx="1097280" cy="1097280"/>
          </a:xfrm>
          <a:prstGeom prst="rect">
            <a:avLst/>
          </a:prstGeom>
        </p:spPr>
      </p:pic>
      <p:pic>
        <p:nvPicPr>
          <p:cNvPr id="17" name="Picture 16" descr="00044.jpg"/>
          <p:cNvPicPr>
            <a:picLocks noChangeAspect="1"/>
          </p:cNvPicPr>
          <p:nvPr/>
        </p:nvPicPr>
        <p:blipFill>
          <a:blip r:embed="rId15"/>
          <a:stretch>
            <a:fillRect/>
          </a:stretch>
        </p:blipFill>
        <p:spPr>
          <a:xfrm>
            <a:off x="6903720" y="4014216"/>
            <a:ext cx="1097280" cy="1097280"/>
          </a:xfrm>
          <a:prstGeom prst="rect">
            <a:avLst/>
          </a:prstGeom>
        </p:spPr>
      </p:pic>
      <p:pic>
        <p:nvPicPr>
          <p:cNvPr id="18" name="Picture 17" descr="00701.jpg"/>
          <p:cNvPicPr>
            <a:picLocks noChangeAspect="1"/>
          </p:cNvPicPr>
          <p:nvPr/>
        </p:nvPicPr>
        <p:blipFill>
          <a:blip r:embed="rId16"/>
          <a:stretch>
            <a:fillRect/>
          </a:stretch>
        </p:blipFill>
        <p:spPr>
          <a:xfrm>
            <a:off x="8074152" y="4014216"/>
            <a:ext cx="1097280" cy="1097280"/>
          </a:xfrm>
          <a:prstGeom prst="rect">
            <a:avLst/>
          </a:prstGeom>
        </p:spPr>
      </p:pic>
      <p:pic>
        <p:nvPicPr>
          <p:cNvPr id="19" name="Picture 18" descr="00884.jpg"/>
          <p:cNvPicPr>
            <a:picLocks noChangeAspect="1"/>
          </p:cNvPicPr>
          <p:nvPr/>
        </p:nvPicPr>
        <p:blipFill>
          <a:blip r:embed="rId17"/>
          <a:stretch>
            <a:fillRect/>
          </a:stretch>
        </p:blipFill>
        <p:spPr>
          <a:xfrm>
            <a:off x="9244584" y="4014216"/>
            <a:ext cx="1097280" cy="1097280"/>
          </a:xfrm>
          <a:prstGeom prst="rect">
            <a:avLst/>
          </a:prstGeom>
        </p:spPr>
      </p:pic>
      <p:pic>
        <p:nvPicPr>
          <p:cNvPr id="20" name="Picture 19" descr="00286.jpg"/>
          <p:cNvPicPr>
            <a:picLocks noChangeAspect="1"/>
          </p:cNvPicPr>
          <p:nvPr/>
        </p:nvPicPr>
        <p:blipFill>
          <a:blip r:embed="rId18"/>
          <a:stretch>
            <a:fillRect/>
          </a:stretch>
        </p:blipFill>
        <p:spPr>
          <a:xfrm>
            <a:off x="10415016" y="4014216"/>
            <a:ext cx="1097280" cy="1097280"/>
          </a:xfrm>
          <a:prstGeom prst="rect">
            <a:avLst/>
          </a:prstGeom>
        </p:spPr>
      </p:pic>
      <p:pic>
        <p:nvPicPr>
          <p:cNvPr id="21" name="Picture 20" descr="01623.jpg"/>
          <p:cNvPicPr>
            <a:picLocks noChangeAspect="1"/>
          </p:cNvPicPr>
          <p:nvPr/>
        </p:nvPicPr>
        <p:blipFill>
          <a:blip r:embed="rId19"/>
          <a:stretch>
            <a:fillRect/>
          </a:stretch>
        </p:blipFill>
        <p:spPr>
          <a:xfrm>
            <a:off x="6903720" y="5184648"/>
            <a:ext cx="1097280" cy="1097280"/>
          </a:xfrm>
          <a:prstGeom prst="rect">
            <a:avLst/>
          </a:prstGeom>
        </p:spPr>
      </p:pic>
      <p:pic>
        <p:nvPicPr>
          <p:cNvPr id="22" name="Picture 21" descr="01449.jpg"/>
          <p:cNvPicPr>
            <a:picLocks noChangeAspect="1"/>
          </p:cNvPicPr>
          <p:nvPr/>
        </p:nvPicPr>
        <p:blipFill>
          <a:blip r:embed="rId20"/>
          <a:stretch>
            <a:fillRect/>
          </a:stretch>
        </p:blipFill>
        <p:spPr>
          <a:xfrm>
            <a:off x="8074152" y="5184648"/>
            <a:ext cx="1097280" cy="1097280"/>
          </a:xfrm>
          <a:prstGeom prst="rect">
            <a:avLst/>
          </a:prstGeom>
        </p:spPr>
      </p:pic>
      <p:pic>
        <p:nvPicPr>
          <p:cNvPr id="23" name="Picture 22" descr="00558.jpg"/>
          <p:cNvPicPr>
            <a:picLocks noChangeAspect="1"/>
          </p:cNvPicPr>
          <p:nvPr/>
        </p:nvPicPr>
        <p:blipFill>
          <a:blip r:embed="rId21"/>
          <a:stretch>
            <a:fillRect/>
          </a:stretch>
        </p:blipFill>
        <p:spPr>
          <a:xfrm>
            <a:off x="9244584" y="5184648"/>
            <a:ext cx="1097280" cy="1097280"/>
          </a:xfrm>
          <a:prstGeom prst="rect">
            <a:avLst/>
          </a:prstGeom>
        </p:spPr>
      </p:pic>
      <p:pic>
        <p:nvPicPr>
          <p:cNvPr id="24" name="Picture 23" descr="00963.jpg"/>
          <p:cNvPicPr>
            <a:picLocks noChangeAspect="1"/>
          </p:cNvPicPr>
          <p:nvPr/>
        </p:nvPicPr>
        <p:blipFill>
          <a:blip r:embed="rId22"/>
          <a:stretch>
            <a:fillRect/>
          </a:stretch>
        </p:blipFill>
        <p:spPr>
          <a:xfrm>
            <a:off x="10415016" y="5184648"/>
            <a:ext cx="1097280" cy="10972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PLAN</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Du catalogue au générateur</a:t>
            </a:r>
          </a:p>
        </p:txBody>
      </p:sp>
      <p:sp>
        <p:nvSpPr>
          <p:cNvPr id="4" name="Rounded Rectangle 3"/>
          <p:cNvSpPr/>
          <p:nvPr/>
        </p:nvSpPr>
        <p:spPr>
          <a:xfrm>
            <a:off x="548640" y="1920240"/>
            <a:ext cx="2011680" cy="32918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43000" y="2286000"/>
            <a:ext cx="822960" cy="8229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2EDE6"/>
                </a:solidFill>
                <a:latin typeface="Calibri"/>
              </a:rPr>
              <a:t>1</a:t>
            </a:r>
          </a:p>
        </p:txBody>
      </p:sp>
      <p:sp>
        <p:nvSpPr>
          <p:cNvPr id="6" name="TextBox 5"/>
          <p:cNvSpPr txBox="1"/>
          <p:nvPr/>
        </p:nvSpPr>
        <p:spPr>
          <a:xfrm>
            <a:off x="548640" y="3429000"/>
            <a:ext cx="2011680" cy="548640"/>
          </a:xfrm>
          <a:prstGeom prst="rect">
            <a:avLst/>
          </a:prstGeom>
          <a:noFill/>
        </p:spPr>
        <p:txBody>
          <a:bodyPr wrap="square" lIns="0" rIns="0" tIns="0" bIns="0" anchor="t">
            <a:spAutoFit/>
          </a:bodyPr>
          <a:lstStyle/>
          <a:p>
            <a:pPr algn="ctr">
              <a:spcAft>
                <a:spcPts val="400"/>
              </a:spcAft>
            </a:pPr>
            <a:r>
              <a:rPr sz="2400" b="1">
                <a:solidFill>
                  <a:srgbClr val="F2EDE6"/>
                </a:solidFill>
                <a:latin typeface="Cambria"/>
              </a:rPr>
              <a:t>Veille</a:t>
            </a:r>
          </a:p>
        </p:txBody>
      </p:sp>
      <p:pic>
        <p:nvPicPr>
          <p:cNvPr id="7" name="Picture 6" descr="00544.jpg"/>
          <p:cNvPicPr>
            <a:picLocks noChangeAspect="1"/>
          </p:cNvPicPr>
          <p:nvPr/>
        </p:nvPicPr>
        <p:blipFill>
          <a:blip r:embed="rId3"/>
          <a:stretch>
            <a:fillRect/>
          </a:stretch>
        </p:blipFill>
        <p:spPr>
          <a:xfrm>
            <a:off x="1097280" y="4069080"/>
            <a:ext cx="914400" cy="914400"/>
          </a:xfrm>
          <a:prstGeom prst="rect">
            <a:avLst/>
          </a:prstGeom>
        </p:spPr>
      </p:pic>
      <p:sp>
        <p:nvSpPr>
          <p:cNvPr id="8" name="Rounded Rectangle 7"/>
          <p:cNvSpPr/>
          <p:nvPr/>
        </p:nvSpPr>
        <p:spPr>
          <a:xfrm>
            <a:off x="2807208" y="1920240"/>
            <a:ext cx="2011680" cy="32918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401568" y="2286000"/>
            <a:ext cx="822960" cy="8229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2EDE6"/>
                </a:solidFill>
                <a:latin typeface="Calibri"/>
              </a:rPr>
              <a:t>2</a:t>
            </a:r>
          </a:p>
        </p:txBody>
      </p:sp>
      <p:sp>
        <p:nvSpPr>
          <p:cNvPr id="10" name="TextBox 9"/>
          <p:cNvSpPr txBox="1"/>
          <p:nvPr/>
        </p:nvSpPr>
        <p:spPr>
          <a:xfrm>
            <a:off x="2807208" y="3429000"/>
            <a:ext cx="2011680" cy="548640"/>
          </a:xfrm>
          <a:prstGeom prst="rect">
            <a:avLst/>
          </a:prstGeom>
          <a:noFill/>
        </p:spPr>
        <p:txBody>
          <a:bodyPr wrap="square" lIns="0" rIns="0" tIns="0" bIns="0" anchor="t">
            <a:spAutoFit/>
          </a:bodyPr>
          <a:lstStyle/>
          <a:p>
            <a:pPr algn="ctr">
              <a:spcAft>
                <a:spcPts val="400"/>
              </a:spcAft>
            </a:pPr>
            <a:r>
              <a:rPr sz="2400" b="1">
                <a:solidFill>
                  <a:srgbClr val="F2EDE6"/>
                </a:solidFill>
                <a:latin typeface="Cambria"/>
              </a:rPr>
              <a:t>Catalogue</a:t>
            </a:r>
          </a:p>
        </p:txBody>
      </p:sp>
      <p:pic>
        <p:nvPicPr>
          <p:cNvPr id="11" name="Picture 10" descr="00988.jpg"/>
          <p:cNvPicPr>
            <a:picLocks noChangeAspect="1"/>
          </p:cNvPicPr>
          <p:nvPr/>
        </p:nvPicPr>
        <p:blipFill>
          <a:blip r:embed="rId4"/>
          <a:stretch>
            <a:fillRect/>
          </a:stretch>
        </p:blipFill>
        <p:spPr>
          <a:xfrm>
            <a:off x="3355848" y="4069080"/>
            <a:ext cx="914400" cy="914400"/>
          </a:xfrm>
          <a:prstGeom prst="rect">
            <a:avLst/>
          </a:prstGeom>
        </p:spPr>
      </p:pic>
      <p:sp>
        <p:nvSpPr>
          <p:cNvPr id="12" name="Rounded Rectangle 11"/>
          <p:cNvSpPr/>
          <p:nvPr/>
        </p:nvSpPr>
        <p:spPr>
          <a:xfrm>
            <a:off x="5065776" y="1920240"/>
            <a:ext cx="2011680" cy="32918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0136" y="2286000"/>
            <a:ext cx="822960" cy="8229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2EDE6"/>
                </a:solidFill>
                <a:latin typeface="Calibri"/>
              </a:rPr>
              <a:t>3</a:t>
            </a:r>
          </a:p>
        </p:txBody>
      </p:sp>
      <p:sp>
        <p:nvSpPr>
          <p:cNvPr id="14" name="TextBox 13"/>
          <p:cNvSpPr txBox="1"/>
          <p:nvPr/>
        </p:nvSpPr>
        <p:spPr>
          <a:xfrm>
            <a:off x="5065776" y="3429000"/>
            <a:ext cx="2011680" cy="548640"/>
          </a:xfrm>
          <a:prstGeom prst="rect">
            <a:avLst/>
          </a:prstGeom>
          <a:noFill/>
        </p:spPr>
        <p:txBody>
          <a:bodyPr wrap="square" lIns="0" rIns="0" tIns="0" bIns="0" anchor="t">
            <a:spAutoFit/>
          </a:bodyPr>
          <a:lstStyle/>
          <a:p>
            <a:pPr algn="ctr">
              <a:spcAft>
                <a:spcPts val="400"/>
              </a:spcAft>
            </a:pPr>
            <a:r>
              <a:rPr sz="2400" b="1">
                <a:solidFill>
                  <a:srgbClr val="F2EDE6"/>
                </a:solidFill>
                <a:latin typeface="Cambria"/>
              </a:rPr>
              <a:t>Images</a:t>
            </a:r>
          </a:p>
        </p:txBody>
      </p:sp>
      <p:pic>
        <p:nvPicPr>
          <p:cNvPr id="15" name="Picture 14" descr="00630.jpg"/>
          <p:cNvPicPr>
            <a:picLocks noChangeAspect="1"/>
          </p:cNvPicPr>
          <p:nvPr/>
        </p:nvPicPr>
        <p:blipFill>
          <a:blip r:embed="rId5"/>
          <a:stretch>
            <a:fillRect/>
          </a:stretch>
        </p:blipFill>
        <p:spPr>
          <a:xfrm>
            <a:off x="5614416" y="4069080"/>
            <a:ext cx="914400" cy="914400"/>
          </a:xfrm>
          <a:prstGeom prst="rect">
            <a:avLst/>
          </a:prstGeom>
        </p:spPr>
      </p:pic>
      <p:sp>
        <p:nvSpPr>
          <p:cNvPr id="16" name="Rounded Rectangle 15"/>
          <p:cNvSpPr/>
          <p:nvPr/>
        </p:nvSpPr>
        <p:spPr>
          <a:xfrm>
            <a:off x="7324344" y="1920240"/>
            <a:ext cx="2011680" cy="32918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918704" y="2286000"/>
            <a:ext cx="822960" cy="8229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2EDE6"/>
                </a:solidFill>
                <a:latin typeface="Calibri"/>
              </a:rPr>
              <a:t>4</a:t>
            </a:r>
          </a:p>
        </p:txBody>
      </p:sp>
      <p:sp>
        <p:nvSpPr>
          <p:cNvPr id="18" name="TextBox 17"/>
          <p:cNvSpPr txBox="1"/>
          <p:nvPr/>
        </p:nvSpPr>
        <p:spPr>
          <a:xfrm>
            <a:off x="7324344" y="3429000"/>
            <a:ext cx="2011680" cy="548640"/>
          </a:xfrm>
          <a:prstGeom prst="rect">
            <a:avLst/>
          </a:prstGeom>
          <a:noFill/>
        </p:spPr>
        <p:txBody>
          <a:bodyPr wrap="square" lIns="0" rIns="0" tIns="0" bIns="0" anchor="t">
            <a:spAutoFit/>
          </a:bodyPr>
          <a:lstStyle/>
          <a:p>
            <a:pPr algn="ctr">
              <a:spcAft>
                <a:spcPts val="400"/>
              </a:spcAft>
            </a:pPr>
            <a:r>
              <a:rPr sz="2400" b="1">
                <a:solidFill>
                  <a:srgbClr val="F2EDE6"/>
                </a:solidFill>
                <a:latin typeface="Cambria"/>
              </a:rPr>
              <a:t>Modèle</a:t>
            </a:r>
          </a:p>
        </p:txBody>
      </p:sp>
      <p:pic>
        <p:nvPicPr>
          <p:cNvPr id="19" name="Picture 18" descr="00711.jpg"/>
          <p:cNvPicPr>
            <a:picLocks noChangeAspect="1"/>
          </p:cNvPicPr>
          <p:nvPr/>
        </p:nvPicPr>
        <p:blipFill>
          <a:blip r:embed="rId6"/>
          <a:stretch>
            <a:fillRect/>
          </a:stretch>
        </p:blipFill>
        <p:spPr>
          <a:xfrm>
            <a:off x="7872984" y="4069080"/>
            <a:ext cx="914400" cy="914400"/>
          </a:xfrm>
          <a:prstGeom prst="rect">
            <a:avLst/>
          </a:prstGeom>
        </p:spPr>
      </p:pic>
      <p:sp>
        <p:nvSpPr>
          <p:cNvPr id="20" name="Rounded Rectangle 19"/>
          <p:cNvSpPr/>
          <p:nvPr/>
        </p:nvSpPr>
        <p:spPr>
          <a:xfrm>
            <a:off x="9582912" y="1920240"/>
            <a:ext cx="2011680" cy="32918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177272" y="2286000"/>
            <a:ext cx="822960" cy="8229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2EDE6"/>
                </a:solidFill>
                <a:latin typeface="Calibri"/>
              </a:rPr>
              <a:t>5</a:t>
            </a:r>
          </a:p>
        </p:txBody>
      </p:sp>
      <p:sp>
        <p:nvSpPr>
          <p:cNvPr id="22" name="TextBox 21"/>
          <p:cNvSpPr txBox="1"/>
          <p:nvPr/>
        </p:nvSpPr>
        <p:spPr>
          <a:xfrm>
            <a:off x="9582912" y="3429000"/>
            <a:ext cx="2011680" cy="548640"/>
          </a:xfrm>
          <a:prstGeom prst="rect">
            <a:avLst/>
          </a:prstGeom>
          <a:noFill/>
        </p:spPr>
        <p:txBody>
          <a:bodyPr wrap="square" lIns="0" rIns="0" tIns="0" bIns="0" anchor="t">
            <a:spAutoFit/>
          </a:bodyPr>
          <a:lstStyle/>
          <a:p>
            <a:pPr algn="ctr">
              <a:spcAft>
                <a:spcPts val="400"/>
              </a:spcAft>
            </a:pPr>
            <a:r>
              <a:rPr sz="2400" b="1">
                <a:solidFill>
                  <a:srgbClr val="F2EDE6"/>
                </a:solidFill>
                <a:latin typeface="Cambria"/>
              </a:rPr>
              <a:t>Bilan</a:t>
            </a:r>
          </a:p>
        </p:txBody>
      </p:sp>
      <p:pic>
        <p:nvPicPr>
          <p:cNvPr id="23" name="Picture 22" descr="00852.jpg"/>
          <p:cNvPicPr>
            <a:picLocks noChangeAspect="1"/>
          </p:cNvPicPr>
          <p:nvPr/>
        </p:nvPicPr>
        <p:blipFill>
          <a:blip r:embed="rId7"/>
          <a:stretch>
            <a:fillRect/>
          </a:stretch>
        </p:blipFill>
        <p:spPr>
          <a:xfrm>
            <a:off x="10131552" y="4069080"/>
            <a:ext cx="914400" cy="914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2103120"/>
            <a:ext cx="3657600" cy="1280160"/>
          </a:xfrm>
          <a:prstGeom prst="rect">
            <a:avLst/>
          </a:prstGeom>
          <a:noFill/>
        </p:spPr>
        <p:txBody>
          <a:bodyPr wrap="square" lIns="0" rIns="0" tIns="0" bIns="0" anchor="t">
            <a:spAutoFit/>
          </a:bodyPr>
          <a:lstStyle/>
          <a:p>
            <a:pPr algn="l">
              <a:spcAft>
                <a:spcPts val="400"/>
              </a:spcAft>
            </a:pPr>
            <a:r>
              <a:rPr sz="11000" b="1">
                <a:solidFill>
                  <a:srgbClr val="D4A84B"/>
                </a:solidFill>
                <a:latin typeface="Cambria"/>
              </a:rPr>
              <a:t>01</a:t>
            </a:r>
          </a:p>
        </p:txBody>
      </p:sp>
      <p:sp>
        <p:nvSpPr>
          <p:cNvPr id="3" name="TextBox 2"/>
          <p:cNvSpPr txBox="1"/>
          <p:nvPr/>
        </p:nvSpPr>
        <p:spPr>
          <a:xfrm>
            <a:off x="548640" y="3566160"/>
            <a:ext cx="5943600" cy="822960"/>
          </a:xfrm>
          <a:prstGeom prst="rect">
            <a:avLst/>
          </a:prstGeom>
          <a:noFill/>
        </p:spPr>
        <p:txBody>
          <a:bodyPr wrap="square" lIns="0" rIns="0" tIns="0" bIns="0" anchor="t">
            <a:spAutoFit/>
          </a:bodyPr>
          <a:lstStyle/>
          <a:p>
            <a:pPr algn="l">
              <a:spcAft>
                <a:spcPts val="400"/>
              </a:spcAft>
            </a:pPr>
            <a:r>
              <a:rPr sz="4400" b="1">
                <a:solidFill>
                  <a:srgbClr val="F2EDE6"/>
                </a:solidFill>
                <a:latin typeface="Cambria"/>
              </a:rPr>
              <a:t>Veille</a:t>
            </a:r>
          </a:p>
        </p:txBody>
      </p:sp>
      <p:sp>
        <p:nvSpPr>
          <p:cNvPr id="4" name="Rounded Rectangle 3"/>
          <p:cNvSpPr/>
          <p:nvPr/>
        </p:nvSpPr>
        <p:spPr>
          <a:xfrm>
            <a:off x="548640"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15 questions</a:t>
            </a:r>
          </a:p>
        </p:txBody>
      </p:sp>
      <p:sp>
        <p:nvSpPr>
          <p:cNvPr id="5" name="Rounded Rectangle 4"/>
          <p:cNvSpPr/>
          <p:nvPr/>
        </p:nvSpPr>
        <p:spPr>
          <a:xfrm>
            <a:off x="2423159"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GAN</a:t>
            </a:r>
          </a:p>
        </p:txBody>
      </p:sp>
      <p:sp>
        <p:nvSpPr>
          <p:cNvPr id="6" name="Rounded Rectangle 5"/>
          <p:cNvSpPr/>
          <p:nvPr/>
        </p:nvSpPr>
        <p:spPr>
          <a:xfrm>
            <a:off x="4297678"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DCGAN</a:t>
            </a:r>
          </a:p>
        </p:txBody>
      </p:sp>
      <p:pic>
        <p:nvPicPr>
          <p:cNvPr id="7" name="Picture 6" descr="00512.jpg"/>
          <p:cNvPicPr>
            <a:picLocks noChangeAspect="1"/>
          </p:cNvPicPr>
          <p:nvPr/>
        </p:nvPicPr>
        <p:blipFill>
          <a:blip r:embed="rId3"/>
          <a:stretch>
            <a:fillRect/>
          </a:stretch>
        </p:blipFill>
        <p:spPr>
          <a:xfrm>
            <a:off x="7269480" y="1280160"/>
            <a:ext cx="1325880" cy="1325880"/>
          </a:xfrm>
          <a:prstGeom prst="rect">
            <a:avLst/>
          </a:prstGeom>
        </p:spPr>
      </p:pic>
      <p:pic>
        <p:nvPicPr>
          <p:cNvPr id="8" name="Picture 7" descr="00302.jpg"/>
          <p:cNvPicPr>
            <a:picLocks noChangeAspect="1"/>
          </p:cNvPicPr>
          <p:nvPr/>
        </p:nvPicPr>
        <p:blipFill>
          <a:blip r:embed="rId4"/>
          <a:stretch>
            <a:fillRect/>
          </a:stretch>
        </p:blipFill>
        <p:spPr>
          <a:xfrm>
            <a:off x="8686800" y="1280160"/>
            <a:ext cx="1325880" cy="1325880"/>
          </a:xfrm>
          <a:prstGeom prst="rect">
            <a:avLst/>
          </a:prstGeom>
        </p:spPr>
      </p:pic>
      <p:pic>
        <p:nvPicPr>
          <p:cNvPr id="9" name="Picture 8" descr="00963.jpg"/>
          <p:cNvPicPr>
            <a:picLocks noChangeAspect="1"/>
          </p:cNvPicPr>
          <p:nvPr/>
        </p:nvPicPr>
        <p:blipFill>
          <a:blip r:embed="rId5"/>
          <a:stretch>
            <a:fillRect/>
          </a:stretch>
        </p:blipFill>
        <p:spPr>
          <a:xfrm>
            <a:off x="10104120" y="1280160"/>
            <a:ext cx="1325880" cy="1325880"/>
          </a:xfrm>
          <a:prstGeom prst="rect">
            <a:avLst/>
          </a:prstGeom>
        </p:spPr>
      </p:pic>
      <p:pic>
        <p:nvPicPr>
          <p:cNvPr id="10" name="Picture 9" descr="00353.jpg"/>
          <p:cNvPicPr>
            <a:picLocks noChangeAspect="1"/>
          </p:cNvPicPr>
          <p:nvPr/>
        </p:nvPicPr>
        <p:blipFill>
          <a:blip r:embed="rId6"/>
          <a:stretch>
            <a:fillRect/>
          </a:stretch>
        </p:blipFill>
        <p:spPr>
          <a:xfrm>
            <a:off x="7269480" y="2697480"/>
            <a:ext cx="1325880" cy="1325880"/>
          </a:xfrm>
          <a:prstGeom prst="rect">
            <a:avLst/>
          </a:prstGeom>
        </p:spPr>
      </p:pic>
      <p:pic>
        <p:nvPicPr>
          <p:cNvPr id="11" name="Picture 10" descr="01437.jpg"/>
          <p:cNvPicPr>
            <a:picLocks noChangeAspect="1"/>
          </p:cNvPicPr>
          <p:nvPr/>
        </p:nvPicPr>
        <p:blipFill>
          <a:blip r:embed="rId7"/>
          <a:stretch>
            <a:fillRect/>
          </a:stretch>
        </p:blipFill>
        <p:spPr>
          <a:xfrm>
            <a:off x="8686800" y="2697480"/>
            <a:ext cx="1325880" cy="1325880"/>
          </a:xfrm>
          <a:prstGeom prst="rect">
            <a:avLst/>
          </a:prstGeom>
        </p:spPr>
      </p:pic>
      <p:pic>
        <p:nvPicPr>
          <p:cNvPr id="12" name="Picture 11" descr="01953.jpg"/>
          <p:cNvPicPr>
            <a:picLocks noChangeAspect="1"/>
          </p:cNvPicPr>
          <p:nvPr/>
        </p:nvPicPr>
        <p:blipFill>
          <a:blip r:embed="rId8"/>
          <a:stretch>
            <a:fillRect/>
          </a:stretch>
        </p:blipFill>
        <p:spPr>
          <a:xfrm>
            <a:off x="10104120" y="2697480"/>
            <a:ext cx="1325880" cy="1325880"/>
          </a:xfrm>
          <a:prstGeom prst="rect">
            <a:avLst/>
          </a:prstGeom>
        </p:spPr>
      </p:pic>
      <p:pic>
        <p:nvPicPr>
          <p:cNvPr id="13" name="Picture 12" descr="01027.jpg"/>
          <p:cNvPicPr>
            <a:picLocks noChangeAspect="1"/>
          </p:cNvPicPr>
          <p:nvPr/>
        </p:nvPicPr>
        <p:blipFill>
          <a:blip r:embed="rId9"/>
          <a:stretch>
            <a:fillRect/>
          </a:stretch>
        </p:blipFill>
        <p:spPr>
          <a:xfrm>
            <a:off x="7269480" y="4114800"/>
            <a:ext cx="1325880" cy="1325880"/>
          </a:xfrm>
          <a:prstGeom prst="rect">
            <a:avLst/>
          </a:prstGeom>
        </p:spPr>
      </p:pic>
      <p:pic>
        <p:nvPicPr>
          <p:cNvPr id="14" name="Picture 13" descr="01043.jpg"/>
          <p:cNvPicPr>
            <a:picLocks noChangeAspect="1"/>
          </p:cNvPicPr>
          <p:nvPr/>
        </p:nvPicPr>
        <p:blipFill>
          <a:blip r:embed="rId10"/>
          <a:stretch>
            <a:fillRect/>
          </a:stretch>
        </p:blipFill>
        <p:spPr>
          <a:xfrm>
            <a:off x="8686800" y="4114800"/>
            <a:ext cx="1325880" cy="1325880"/>
          </a:xfrm>
          <a:prstGeom prst="rect">
            <a:avLst/>
          </a:prstGeom>
        </p:spPr>
      </p:pic>
      <p:pic>
        <p:nvPicPr>
          <p:cNvPr id="15" name="Picture 14" descr="01570.jpg"/>
          <p:cNvPicPr>
            <a:picLocks noChangeAspect="1"/>
          </p:cNvPicPr>
          <p:nvPr/>
        </p:nvPicPr>
        <p:blipFill>
          <a:blip r:embed="rId11"/>
          <a:stretch>
            <a:fillRect/>
          </a:stretch>
        </p:blipFill>
        <p:spPr>
          <a:xfrm>
            <a:off x="10104120" y="4114800"/>
            <a:ext cx="1325880" cy="13258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Q1–Q2</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Deux réseaux en compétition</a:t>
            </a:r>
          </a:p>
        </p:txBody>
      </p:sp>
      <p:sp>
        <p:nvSpPr>
          <p:cNvPr id="4" name="Rounded Rectangle 3"/>
          <p:cNvSpPr/>
          <p:nvPr/>
        </p:nvSpPr>
        <p:spPr>
          <a:xfrm>
            <a:off x="548640" y="1600200"/>
            <a:ext cx="2377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Non supervisé</a:t>
            </a:r>
          </a:p>
        </p:txBody>
      </p:sp>
      <p:sp>
        <p:nvSpPr>
          <p:cNvPr id="5" name="Rounded Rectangle 4"/>
          <p:cNvSpPr/>
          <p:nvPr/>
        </p:nvSpPr>
        <p:spPr>
          <a:xfrm>
            <a:off x="3108960" y="1600200"/>
            <a:ext cx="2377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Jeu à somme nulle</a:t>
            </a:r>
          </a:p>
        </p:txBody>
      </p:sp>
      <p:sp>
        <p:nvSpPr>
          <p:cNvPr id="6" name="Rounded Rectangle 5"/>
          <p:cNvSpPr/>
          <p:nvPr/>
        </p:nvSpPr>
        <p:spPr>
          <a:xfrm>
            <a:off x="548640" y="3954780"/>
            <a:ext cx="1737360" cy="9144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954780"/>
            <a:ext cx="173736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Bruit z</a:t>
            </a:r>
          </a:p>
        </p:txBody>
      </p:sp>
      <p:sp>
        <p:nvSpPr>
          <p:cNvPr id="8" name="Rounded Rectangle 7"/>
          <p:cNvSpPr/>
          <p:nvPr/>
        </p:nvSpPr>
        <p:spPr>
          <a:xfrm>
            <a:off x="2834640" y="3954780"/>
            <a:ext cx="1737360" cy="91440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34640" y="3954780"/>
            <a:ext cx="173736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Générateur G</a:t>
            </a:r>
          </a:p>
        </p:txBody>
      </p:sp>
      <p:sp>
        <p:nvSpPr>
          <p:cNvPr id="10" name="Right Arrow 9"/>
          <p:cNvSpPr/>
          <p:nvPr/>
        </p:nvSpPr>
        <p:spPr>
          <a:xfrm>
            <a:off x="2395728" y="427939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4681728" y="427939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1027.jpg"/>
          <p:cNvPicPr>
            <a:picLocks noChangeAspect="1"/>
          </p:cNvPicPr>
          <p:nvPr/>
        </p:nvPicPr>
        <p:blipFill>
          <a:blip r:embed="rId3"/>
          <a:stretch>
            <a:fillRect/>
          </a:stretch>
        </p:blipFill>
        <p:spPr>
          <a:xfrm>
            <a:off x="5120640" y="2331720"/>
            <a:ext cx="1143000" cy="1143000"/>
          </a:xfrm>
          <a:prstGeom prst="rect">
            <a:avLst/>
          </a:prstGeom>
        </p:spPr>
      </p:pic>
      <p:sp>
        <p:nvSpPr>
          <p:cNvPr id="13" name="TextBox 12"/>
          <p:cNvSpPr txBox="1"/>
          <p:nvPr/>
        </p:nvSpPr>
        <p:spPr>
          <a:xfrm>
            <a:off x="4846320" y="3474720"/>
            <a:ext cx="1691640" cy="411480"/>
          </a:xfrm>
          <a:prstGeom prst="rect">
            <a:avLst/>
          </a:prstGeom>
          <a:noFill/>
        </p:spPr>
        <p:txBody>
          <a:bodyPr wrap="square" lIns="0" rIns="0" tIns="0" bIns="0" anchor="ctr">
            <a:spAutoFit/>
          </a:bodyPr>
          <a:lstStyle/>
          <a:p>
            <a:pPr algn="ctr">
              <a:spcAft>
                <a:spcPts val="400"/>
              </a:spcAft>
            </a:pPr>
            <a:r>
              <a:rPr sz="1400" b="0">
                <a:solidFill>
                  <a:srgbClr val="A39A90"/>
                </a:solidFill>
                <a:latin typeface="Calibri"/>
              </a:rPr>
              <a:t>vraie</a:t>
            </a:r>
          </a:p>
        </p:txBody>
      </p:sp>
      <p:sp>
        <p:nvSpPr>
          <p:cNvPr id="14" name="Rounded Rectangle 13"/>
          <p:cNvSpPr/>
          <p:nvPr/>
        </p:nvSpPr>
        <p:spPr>
          <a:xfrm>
            <a:off x="5120640" y="3840480"/>
            <a:ext cx="1143000" cy="11430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0" y="3840480"/>
            <a:ext cx="1143000" cy="1143000"/>
          </a:xfrm>
          <a:prstGeom prst="rect">
            <a:avLst/>
          </a:prstGeom>
          <a:noFill/>
        </p:spPr>
        <p:txBody>
          <a:bodyPr wrap="square" lIns="0" rIns="0" tIns="0" bIns="0" anchor="ctr">
            <a:spAutoFit/>
          </a:bodyPr>
          <a:lstStyle/>
          <a:p>
            <a:pPr algn="ctr">
              <a:spcAft>
                <a:spcPts val="0"/>
              </a:spcAft>
            </a:pPr>
            <a:r>
              <a:rPr sz="4400" b="1">
                <a:solidFill>
                  <a:srgbClr val="D4A84B"/>
                </a:solidFill>
                <a:latin typeface="Calibri"/>
              </a:rPr>
              <a:t>?</a:t>
            </a:r>
          </a:p>
        </p:txBody>
      </p:sp>
      <p:sp>
        <p:nvSpPr>
          <p:cNvPr id="16" name="TextBox 15"/>
          <p:cNvSpPr txBox="1"/>
          <p:nvPr/>
        </p:nvSpPr>
        <p:spPr>
          <a:xfrm>
            <a:off x="4846320" y="4983480"/>
            <a:ext cx="1691640" cy="411480"/>
          </a:xfrm>
          <a:prstGeom prst="rect">
            <a:avLst/>
          </a:prstGeom>
          <a:noFill/>
        </p:spPr>
        <p:txBody>
          <a:bodyPr wrap="square" lIns="0" rIns="0" tIns="0" bIns="0" anchor="ctr">
            <a:spAutoFit/>
          </a:bodyPr>
          <a:lstStyle/>
          <a:p>
            <a:pPr algn="ctr">
              <a:spcAft>
                <a:spcPts val="400"/>
              </a:spcAft>
            </a:pPr>
            <a:r>
              <a:rPr sz="1400" b="0">
                <a:solidFill>
                  <a:srgbClr val="A39A90"/>
                </a:solidFill>
                <a:latin typeface="Calibri"/>
              </a:rPr>
              <a:t>générée</a:t>
            </a:r>
          </a:p>
        </p:txBody>
      </p:sp>
      <p:sp>
        <p:nvSpPr>
          <p:cNvPr id="17" name="Right Arrow 16"/>
          <p:cNvSpPr/>
          <p:nvPr/>
        </p:nvSpPr>
        <p:spPr>
          <a:xfrm>
            <a:off x="6373368" y="277063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6373368" y="4279392"/>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12280" y="2331720"/>
            <a:ext cx="2011680" cy="265176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331720"/>
            <a:ext cx="2011680" cy="2651760"/>
          </a:xfrm>
          <a:prstGeom prst="rect">
            <a:avLst/>
          </a:prstGeom>
          <a:noFill/>
        </p:spPr>
        <p:txBody>
          <a:bodyPr wrap="square" lIns="0" rIns="0" tIns="0" bIns="0" anchor="ctr">
            <a:spAutoFit/>
          </a:bodyPr>
          <a:lstStyle/>
          <a:p>
            <a:pPr algn="ctr">
              <a:spcAft>
                <a:spcPts val="0"/>
              </a:spcAft>
            </a:pPr>
            <a:r>
              <a:rPr sz="2000" b="1">
                <a:solidFill>
                  <a:srgbClr val="F2EDE6"/>
                </a:solidFill>
                <a:latin typeface="Calibri"/>
              </a:rPr>
              <a:t>Discriminateur D</a:t>
            </a:r>
          </a:p>
          <a:p>
            <a:pPr algn="ctr">
              <a:spcAft>
                <a:spcPts val="0"/>
              </a:spcAft>
            </a:pPr>
            <a:r>
              <a:rPr sz="1600" b="0">
                <a:solidFill>
                  <a:srgbClr val="D4A84B"/>
                </a:solidFill>
                <a:latin typeface="Calibri"/>
              </a:rPr>
              <a:t>vrai / faux ?</a:t>
            </a:r>
          </a:p>
        </p:txBody>
      </p:sp>
      <p:sp>
        <p:nvSpPr>
          <p:cNvPr id="21" name="Right Arrow 20"/>
          <p:cNvSpPr/>
          <p:nvPr/>
        </p:nvSpPr>
        <p:spPr>
          <a:xfrm>
            <a:off x="8933688" y="338328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3063240"/>
            <a:ext cx="2103120" cy="914400"/>
          </a:xfrm>
          <a:prstGeom prst="rect">
            <a:avLst/>
          </a:prstGeom>
          <a:noFill/>
        </p:spPr>
        <p:txBody>
          <a:bodyPr wrap="square" lIns="0" rIns="0" tIns="0" bIns="0" anchor="ctr">
            <a:spAutoFit/>
          </a:bodyPr>
          <a:lstStyle/>
          <a:p>
            <a:pPr algn="l">
              <a:spcAft>
                <a:spcPts val="400"/>
              </a:spcAft>
            </a:pPr>
            <a:r>
              <a:rPr sz="1800" b="1">
                <a:solidFill>
                  <a:srgbClr val="D4A84B"/>
                </a:solidFill>
                <a:latin typeface="Calibri"/>
              </a:rPr>
              <a:t>gradient</a:t>
            </a:r>
          </a:p>
          <a:p>
            <a:pPr algn="l">
              <a:spcAft>
                <a:spcPts val="400"/>
              </a:spcAft>
            </a:pPr>
            <a:r>
              <a:rPr sz="1800" b="1">
                <a:solidFill>
                  <a:srgbClr val="D4A84B"/>
                </a:solidFill>
                <a:latin typeface="Calibri"/>
              </a:rPr>
              <a:t>→ G apprend</a:t>
            </a:r>
          </a:p>
        </p:txBody>
      </p:sp>
      <p:sp>
        <p:nvSpPr>
          <p:cNvPr id="23" name="Rounded Rectangle 22"/>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25" name="TextBox 24"/>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Le GAN sert à classer</a:t>
            </a:r>
          </a:p>
        </p:txBody>
      </p:sp>
      <p:sp>
        <p:nvSpPr>
          <p:cNvPr id="26" name="TextBox 25"/>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Il sert à créer de nouvelles images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Q3</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Discriminant ou génératif ?</a:t>
            </a:r>
          </a:p>
        </p:txBody>
      </p:sp>
      <p:sp>
        <p:nvSpPr>
          <p:cNvPr id="4" name="Rounded Rectangle 3"/>
          <p:cNvSpPr/>
          <p:nvPr/>
        </p:nvSpPr>
        <p:spPr>
          <a:xfrm>
            <a:off x="548640" y="1645920"/>
            <a:ext cx="53949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237744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Discriminant</a:t>
            </a:r>
          </a:p>
        </p:txBody>
      </p:sp>
      <p:sp>
        <p:nvSpPr>
          <p:cNvPr id="6" name="TextBox 5"/>
          <p:cNvSpPr txBox="1"/>
          <p:nvPr/>
        </p:nvSpPr>
        <p:spPr>
          <a:xfrm>
            <a:off x="3291840" y="1828800"/>
            <a:ext cx="2377440" cy="411480"/>
          </a:xfrm>
          <a:prstGeom prst="rect">
            <a:avLst/>
          </a:prstGeom>
          <a:noFill/>
        </p:spPr>
        <p:txBody>
          <a:bodyPr wrap="square" lIns="0" rIns="0" tIns="0" bIns="0" anchor="ctr">
            <a:spAutoFit/>
          </a:bodyPr>
          <a:lstStyle/>
          <a:p>
            <a:pPr algn="r">
              <a:spcAft>
                <a:spcPts val="400"/>
              </a:spcAft>
            </a:pPr>
            <a:r>
              <a:rPr sz="1600" b="0">
                <a:solidFill>
                  <a:srgbClr val="A39A90"/>
                </a:solidFill>
                <a:latin typeface="Calibri"/>
              </a:rPr>
              <a:t>apprend p(y | x)</a:t>
            </a:r>
          </a:p>
        </p:txBody>
      </p:sp>
      <p:sp>
        <p:nvSpPr>
          <p:cNvPr id="7" name="Oval 6"/>
          <p:cNvSpPr/>
          <p:nvPr/>
        </p:nvSpPr>
        <p:spPr>
          <a:xfrm>
            <a:off x="1886058" y="4647448"/>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63844" y="4541431"/>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740451" y="4025481"/>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628786" y="4197911"/>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829425" y="4433262"/>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10765" y="4120396"/>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89035" y="3732419"/>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96161" y="3952808"/>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298880" y="3512364"/>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7645" y="4034887"/>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776138" y="4001275"/>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75532" y="3583521"/>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814389" y="4231060"/>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156126" y="3784884"/>
            <a:ext cx="146304" cy="14630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242869" y="3029562"/>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200166" y="2954873"/>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823359" y="4312017"/>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01481" y="4187360"/>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542330" y="3730246"/>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596418" y="4075807"/>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837577" y="3763975"/>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163721" y="3609980"/>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001507" y="3840283"/>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084084" y="4298473"/>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38177" y="3408713"/>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015195" y="2997596"/>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190157" y="2867784"/>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290840" y="3642653"/>
            <a:ext cx="146304" cy="146304"/>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flipH="1">
            <a:off x="2971800" y="2331720"/>
            <a:ext cx="548640" cy="2788920"/>
          </a:xfrm>
          <a:prstGeom prst="line">
            <a:avLst/>
          </a:prstGeom>
          <a:ln w="38100">
            <a:solidFill>
              <a:srgbClr val="D4A84B"/>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291840" y="4754880"/>
            <a:ext cx="2468880" cy="411480"/>
          </a:xfrm>
          <a:prstGeom prst="rect">
            <a:avLst/>
          </a:prstGeom>
          <a:noFill/>
        </p:spPr>
        <p:txBody>
          <a:bodyPr wrap="square" lIns="0" rIns="0" tIns="0" bIns="0" anchor="ctr">
            <a:spAutoFit/>
          </a:bodyPr>
          <a:lstStyle/>
          <a:p>
            <a:pPr algn="ctr">
              <a:spcAft>
                <a:spcPts val="400"/>
              </a:spcAft>
            </a:pPr>
            <a:r>
              <a:rPr sz="1500" b="1">
                <a:solidFill>
                  <a:srgbClr val="D4A84B"/>
                </a:solidFill>
                <a:latin typeface="Calibri"/>
              </a:rPr>
              <a:t>frontière</a:t>
            </a:r>
          </a:p>
        </p:txBody>
      </p:sp>
      <p:sp>
        <p:nvSpPr>
          <p:cNvPr id="37" name="Rounded Rectangle 36"/>
          <p:cNvSpPr/>
          <p:nvPr/>
        </p:nvSpPr>
        <p:spPr>
          <a:xfrm>
            <a:off x="6245352" y="1645920"/>
            <a:ext cx="53949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1828800"/>
            <a:ext cx="237744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Génératif</a:t>
            </a:r>
          </a:p>
        </p:txBody>
      </p:sp>
      <p:sp>
        <p:nvSpPr>
          <p:cNvPr id="39" name="TextBox 38"/>
          <p:cNvSpPr txBox="1"/>
          <p:nvPr/>
        </p:nvSpPr>
        <p:spPr>
          <a:xfrm>
            <a:off x="8988552" y="1828800"/>
            <a:ext cx="2377440" cy="411480"/>
          </a:xfrm>
          <a:prstGeom prst="rect">
            <a:avLst/>
          </a:prstGeom>
          <a:noFill/>
        </p:spPr>
        <p:txBody>
          <a:bodyPr wrap="square" lIns="0" rIns="0" tIns="0" bIns="0" anchor="ctr">
            <a:spAutoFit/>
          </a:bodyPr>
          <a:lstStyle/>
          <a:p>
            <a:pPr algn="r">
              <a:spcAft>
                <a:spcPts val="400"/>
              </a:spcAft>
            </a:pPr>
            <a:r>
              <a:rPr sz="1600" b="0">
                <a:solidFill>
                  <a:srgbClr val="A39A90"/>
                </a:solidFill>
                <a:latin typeface="Calibri"/>
              </a:rPr>
              <a:t>apprend p(x)</a:t>
            </a:r>
          </a:p>
        </p:txBody>
      </p:sp>
      <p:sp>
        <p:nvSpPr>
          <p:cNvPr id="40" name="Oval 39"/>
          <p:cNvSpPr/>
          <p:nvPr/>
        </p:nvSpPr>
        <p:spPr>
          <a:xfrm>
            <a:off x="7582770" y="4647448"/>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160556" y="4541431"/>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437163" y="4025481"/>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325498" y="4197911"/>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526137" y="4433262"/>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007477" y="4120396"/>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785747" y="3732419"/>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392873" y="3952808"/>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995592" y="3512364"/>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874357" y="4034887"/>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472850" y="4001275"/>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572244" y="3583521"/>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511101" y="4231060"/>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852838" y="3784884"/>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9939581" y="3029562"/>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896878" y="2954873"/>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520071" y="4312017"/>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198193" y="4187360"/>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239042" y="3730246"/>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293130" y="4075807"/>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534289" y="3763975"/>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860433" y="3609980"/>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98219" y="3840283"/>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780796" y="4298473"/>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9334889" y="3408713"/>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711907" y="2997596"/>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886869" y="2867784"/>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987552" y="3642653"/>
            <a:ext cx="146304" cy="146304"/>
          </a:xfrm>
          <a:prstGeom prst="ellipse">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232904" y="3639312"/>
            <a:ext cx="219456" cy="219456"/>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964424" y="4462272"/>
            <a:ext cx="219456" cy="219456"/>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598664" y="4828032"/>
            <a:ext cx="219456" cy="219456"/>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793224" y="3364992"/>
            <a:ext cx="219456" cy="219456"/>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10433304" y="4279392"/>
            <a:ext cx="219456" cy="219456"/>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0158984" y="3547872"/>
            <a:ext cx="219456" cy="219456"/>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988552" y="4754880"/>
            <a:ext cx="2468880" cy="411480"/>
          </a:xfrm>
          <a:prstGeom prst="rect">
            <a:avLst/>
          </a:prstGeom>
          <a:noFill/>
        </p:spPr>
        <p:txBody>
          <a:bodyPr wrap="square" lIns="0" rIns="0" tIns="0" bIns="0" anchor="ctr">
            <a:spAutoFit/>
          </a:bodyPr>
          <a:lstStyle/>
          <a:p>
            <a:pPr algn="ctr">
              <a:spcAft>
                <a:spcPts val="400"/>
              </a:spcAft>
            </a:pPr>
            <a:r>
              <a:rPr sz="1500" b="1">
                <a:solidFill>
                  <a:srgbClr val="D4A84B"/>
                </a:solidFill>
                <a:latin typeface="Calibri"/>
              </a:rPr>
              <a:t>○ nouveaux exemples</a:t>
            </a:r>
          </a:p>
        </p:txBody>
      </p:sp>
      <p:sp>
        <p:nvSpPr>
          <p:cNvPr id="75" name="Rounded Rectangle 74"/>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77" name="TextBox 76"/>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Le GAN est un modèle discriminant</a:t>
            </a:r>
          </a:p>
        </p:txBody>
      </p:sp>
      <p:sp>
        <p:nvSpPr>
          <p:cNvPr id="78" name="TextBox 77"/>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D l'est, mais le GAN est génératif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Q4–Q5</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Ce qui entre, ce qui sort</a:t>
            </a:r>
          </a:p>
        </p:txBody>
      </p:sp>
      <p:sp>
        <p:nvSpPr>
          <p:cNvPr id="4" name="Rounded Rectangle 3"/>
          <p:cNvSpPr/>
          <p:nvPr/>
        </p:nvSpPr>
        <p:spPr>
          <a:xfrm>
            <a:off x="548640" y="1645920"/>
            <a:ext cx="512064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457200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Q4 · Entrées</a:t>
            </a:r>
          </a:p>
        </p:txBody>
      </p:sp>
      <p:sp>
        <p:nvSpPr>
          <p:cNvPr id="6" name="Rounded Rectangle 5"/>
          <p:cNvSpPr/>
          <p:nvPr/>
        </p:nvSpPr>
        <p:spPr>
          <a:xfrm>
            <a:off x="960120" y="2423160"/>
            <a:ext cx="384048" cy="146304"/>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20" y="2606040"/>
            <a:ext cx="384048" cy="146304"/>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60120" y="2788920"/>
            <a:ext cx="384048" cy="146304"/>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60120" y="2971800"/>
            <a:ext cx="384048" cy="146304"/>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0120" y="3154680"/>
            <a:ext cx="384048" cy="146304"/>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3337560"/>
            <a:ext cx="384048" cy="146304"/>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520440"/>
            <a:ext cx="1005840" cy="411480"/>
          </a:xfrm>
          <a:prstGeom prst="rect">
            <a:avLst/>
          </a:prstGeom>
          <a:noFill/>
        </p:spPr>
        <p:txBody>
          <a:bodyPr wrap="square" lIns="0" rIns="0" tIns="0" bIns="0" anchor="ctr">
            <a:spAutoFit/>
          </a:bodyPr>
          <a:lstStyle/>
          <a:p>
            <a:pPr algn="ctr">
              <a:spcAft>
                <a:spcPts val="400"/>
              </a:spcAft>
            </a:pPr>
            <a:r>
              <a:rPr sz="1300" b="0">
                <a:solidFill>
                  <a:srgbClr val="A39A90"/>
                </a:solidFill>
                <a:latin typeface="Calibri"/>
              </a:rPr>
              <a:t>z (100)</a:t>
            </a:r>
          </a:p>
        </p:txBody>
      </p:sp>
      <p:sp>
        <p:nvSpPr>
          <p:cNvPr id="13" name="Right Arrow 12"/>
          <p:cNvSpPr/>
          <p:nvPr/>
        </p:nvSpPr>
        <p:spPr>
          <a:xfrm>
            <a:off x="1463040" y="278892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874520" y="2560320"/>
            <a:ext cx="1097280" cy="73152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74520" y="2560320"/>
            <a:ext cx="1097280" cy="731520"/>
          </a:xfrm>
          <a:prstGeom prst="rect">
            <a:avLst/>
          </a:prstGeom>
          <a:noFill/>
        </p:spPr>
        <p:txBody>
          <a:bodyPr wrap="square" lIns="0" rIns="0" tIns="0" bIns="0" anchor="ctr">
            <a:spAutoFit/>
          </a:bodyPr>
          <a:lstStyle/>
          <a:p>
            <a:pPr algn="ctr">
              <a:spcAft>
                <a:spcPts val="0"/>
              </a:spcAft>
            </a:pPr>
            <a:r>
              <a:rPr sz="2200" b="1">
                <a:solidFill>
                  <a:srgbClr val="F2EDE6"/>
                </a:solidFill>
                <a:latin typeface="Calibri"/>
              </a:rPr>
              <a:t>G</a:t>
            </a:r>
          </a:p>
        </p:txBody>
      </p:sp>
      <p:sp>
        <p:nvSpPr>
          <p:cNvPr id="16" name="Right Arrow 15"/>
          <p:cNvSpPr/>
          <p:nvPr/>
        </p:nvSpPr>
        <p:spPr>
          <a:xfrm>
            <a:off x="3063240" y="278892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474720" y="2560320"/>
            <a:ext cx="1463040"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2560320"/>
            <a:ext cx="1463040" cy="731520"/>
          </a:xfrm>
          <a:prstGeom prst="rect">
            <a:avLst/>
          </a:prstGeom>
          <a:noFill/>
        </p:spPr>
        <p:txBody>
          <a:bodyPr wrap="square" lIns="0" rIns="0" tIns="0" bIns="0" anchor="ctr">
            <a:spAutoFit/>
          </a:bodyPr>
          <a:lstStyle/>
          <a:p>
            <a:pPr algn="ctr">
              <a:spcAft>
                <a:spcPts val="0"/>
              </a:spcAft>
            </a:pPr>
            <a:r>
              <a:rPr sz="1600" b="1">
                <a:solidFill>
                  <a:srgbClr val="A39A90"/>
                </a:solidFill>
                <a:latin typeface="Calibri"/>
              </a:rPr>
              <a:t>image</a:t>
            </a:r>
          </a:p>
        </p:txBody>
      </p:sp>
      <p:pic>
        <p:nvPicPr>
          <p:cNvPr id="19" name="Picture 18" descr="00696.jpg"/>
          <p:cNvPicPr>
            <a:picLocks noChangeAspect="1"/>
          </p:cNvPicPr>
          <p:nvPr/>
        </p:nvPicPr>
        <p:blipFill>
          <a:blip r:embed="rId3"/>
          <a:stretch>
            <a:fillRect/>
          </a:stretch>
        </p:blipFill>
        <p:spPr>
          <a:xfrm>
            <a:off x="914400" y="4023360"/>
            <a:ext cx="868680" cy="868680"/>
          </a:xfrm>
          <a:prstGeom prst="rect">
            <a:avLst/>
          </a:prstGeom>
        </p:spPr>
      </p:pic>
      <p:sp>
        <p:nvSpPr>
          <p:cNvPr id="20" name="TextBox 19"/>
          <p:cNvSpPr txBox="1"/>
          <p:nvPr/>
        </p:nvSpPr>
        <p:spPr>
          <a:xfrm>
            <a:off x="640080" y="4892040"/>
            <a:ext cx="1463040" cy="411480"/>
          </a:xfrm>
          <a:prstGeom prst="rect">
            <a:avLst/>
          </a:prstGeom>
          <a:noFill/>
        </p:spPr>
        <p:txBody>
          <a:bodyPr wrap="square" lIns="0" rIns="0" tIns="0" bIns="0" anchor="ctr">
            <a:spAutoFit/>
          </a:bodyPr>
          <a:lstStyle/>
          <a:p>
            <a:pPr algn="ctr">
              <a:spcAft>
                <a:spcPts val="400"/>
              </a:spcAft>
            </a:pPr>
            <a:r>
              <a:rPr sz="1300" b="0">
                <a:solidFill>
                  <a:srgbClr val="A39A90"/>
                </a:solidFill>
                <a:latin typeface="Calibri"/>
              </a:rPr>
              <a:t>vraie ou générée</a:t>
            </a:r>
          </a:p>
        </p:txBody>
      </p:sp>
      <p:sp>
        <p:nvSpPr>
          <p:cNvPr id="21" name="Right Arrow 20"/>
          <p:cNvSpPr/>
          <p:nvPr/>
        </p:nvSpPr>
        <p:spPr>
          <a:xfrm>
            <a:off x="1920240" y="434340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331720" y="4114800"/>
            <a:ext cx="1097280" cy="73152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331720" y="4114800"/>
            <a:ext cx="1097280" cy="731520"/>
          </a:xfrm>
          <a:prstGeom prst="rect">
            <a:avLst/>
          </a:prstGeom>
          <a:noFill/>
        </p:spPr>
        <p:txBody>
          <a:bodyPr wrap="square" lIns="0" rIns="0" tIns="0" bIns="0" anchor="ctr">
            <a:spAutoFit/>
          </a:bodyPr>
          <a:lstStyle/>
          <a:p>
            <a:pPr algn="ctr">
              <a:spcAft>
                <a:spcPts val="0"/>
              </a:spcAft>
            </a:pPr>
            <a:r>
              <a:rPr sz="2200" b="1">
                <a:solidFill>
                  <a:srgbClr val="F2EDE6"/>
                </a:solidFill>
                <a:latin typeface="Calibri"/>
              </a:rPr>
              <a:t>D</a:t>
            </a:r>
          </a:p>
        </p:txBody>
      </p:sp>
      <p:sp>
        <p:nvSpPr>
          <p:cNvPr id="24" name="Right Arrow 23"/>
          <p:cNvSpPr/>
          <p:nvPr/>
        </p:nvSpPr>
        <p:spPr>
          <a:xfrm>
            <a:off x="3520440" y="434340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931920" y="4114800"/>
            <a:ext cx="1371600"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931920" y="4114800"/>
            <a:ext cx="1371600" cy="731520"/>
          </a:xfrm>
          <a:prstGeom prst="rect">
            <a:avLst/>
          </a:prstGeom>
          <a:noFill/>
        </p:spPr>
        <p:txBody>
          <a:bodyPr wrap="square" lIns="0" rIns="0" tIns="0" bIns="0" anchor="ctr">
            <a:spAutoFit/>
          </a:bodyPr>
          <a:lstStyle/>
          <a:p>
            <a:pPr algn="ctr">
              <a:spcAft>
                <a:spcPts val="0"/>
              </a:spcAft>
            </a:pPr>
            <a:r>
              <a:rPr sz="2000" b="1">
                <a:solidFill>
                  <a:srgbClr val="D4A84B"/>
                </a:solidFill>
                <a:latin typeface="Calibri"/>
              </a:rPr>
              <a:t>0,87</a:t>
            </a:r>
          </a:p>
          <a:p>
            <a:pPr algn="ctr">
              <a:spcAft>
                <a:spcPts val="0"/>
              </a:spcAft>
            </a:pPr>
            <a:r>
              <a:rPr sz="1600" b="0">
                <a:solidFill>
                  <a:srgbClr val="D4A84B"/>
                </a:solidFill>
                <a:latin typeface="Calibri"/>
              </a:rPr>
              <a:t>vraie à 87 %</a:t>
            </a:r>
          </a:p>
        </p:txBody>
      </p:sp>
      <p:sp>
        <p:nvSpPr>
          <p:cNvPr id="27" name="Rounded Rectangle 26"/>
          <p:cNvSpPr/>
          <p:nvPr/>
        </p:nvSpPr>
        <p:spPr>
          <a:xfrm>
            <a:off x="5989320" y="1645920"/>
            <a:ext cx="5650992"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1783080"/>
            <a:ext cx="502920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Q5 · Densité</a:t>
            </a:r>
          </a:p>
        </p:txBody>
      </p:sp>
      <p:sp>
        <p:nvSpPr>
          <p:cNvPr id="29" name="TextBox 28"/>
          <p:cNvSpPr txBox="1"/>
          <p:nvPr/>
        </p:nvSpPr>
        <p:spPr>
          <a:xfrm>
            <a:off x="6263640" y="2423160"/>
            <a:ext cx="1463040" cy="41148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Explicite</a:t>
            </a:r>
          </a:p>
        </p:txBody>
      </p:sp>
      <p:sp>
        <p:nvSpPr>
          <p:cNvPr id="30" name="Rounded Rectangle 29"/>
          <p:cNvSpPr/>
          <p:nvPr/>
        </p:nvSpPr>
        <p:spPr>
          <a:xfrm>
            <a:off x="7726679" y="2331720"/>
            <a:ext cx="685800" cy="59436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79" y="2331720"/>
            <a:ext cx="685800" cy="59436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x</a:t>
            </a:r>
          </a:p>
        </p:txBody>
      </p:sp>
      <p:sp>
        <p:nvSpPr>
          <p:cNvPr id="32" name="Right Arrow 31"/>
          <p:cNvSpPr/>
          <p:nvPr/>
        </p:nvSpPr>
        <p:spPr>
          <a:xfrm>
            <a:off x="8503920" y="2487168"/>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915400" y="2331720"/>
            <a:ext cx="1143000" cy="59436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331720"/>
            <a:ext cx="1143000" cy="59436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VAE</a:t>
            </a:r>
          </a:p>
        </p:txBody>
      </p:sp>
      <p:sp>
        <p:nvSpPr>
          <p:cNvPr id="35" name="Right Arrow 34"/>
          <p:cNvSpPr/>
          <p:nvPr/>
        </p:nvSpPr>
        <p:spPr>
          <a:xfrm>
            <a:off x="10149840" y="2487168"/>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424160" y="2377440"/>
            <a:ext cx="1143000" cy="41148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p(x) ✓</a:t>
            </a:r>
          </a:p>
        </p:txBody>
      </p:sp>
      <p:sp>
        <p:nvSpPr>
          <p:cNvPr id="37" name="TextBox 36"/>
          <p:cNvSpPr txBox="1"/>
          <p:nvPr/>
        </p:nvSpPr>
        <p:spPr>
          <a:xfrm>
            <a:off x="6263640" y="3703320"/>
            <a:ext cx="1463040" cy="411480"/>
          </a:xfrm>
          <a:prstGeom prst="rect">
            <a:avLst/>
          </a:prstGeom>
          <a:noFill/>
        </p:spPr>
        <p:txBody>
          <a:bodyPr wrap="square" lIns="0" rIns="0" tIns="0" bIns="0" anchor="ctr">
            <a:spAutoFit/>
          </a:bodyPr>
          <a:lstStyle/>
          <a:p>
            <a:pPr algn="l">
              <a:spcAft>
                <a:spcPts val="400"/>
              </a:spcAft>
            </a:pPr>
            <a:r>
              <a:rPr sz="1600" b="1">
                <a:solidFill>
                  <a:srgbClr val="D4A84B"/>
                </a:solidFill>
                <a:latin typeface="Calibri"/>
              </a:rPr>
              <a:t>Implicite</a:t>
            </a:r>
          </a:p>
        </p:txBody>
      </p:sp>
      <p:sp>
        <p:nvSpPr>
          <p:cNvPr id="38" name="Rounded Rectangle 37"/>
          <p:cNvSpPr/>
          <p:nvPr/>
        </p:nvSpPr>
        <p:spPr>
          <a:xfrm>
            <a:off x="7726679" y="3611880"/>
            <a:ext cx="685800" cy="59436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26679" y="3611880"/>
            <a:ext cx="685800" cy="59436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z</a:t>
            </a:r>
          </a:p>
        </p:txBody>
      </p:sp>
      <p:sp>
        <p:nvSpPr>
          <p:cNvPr id="40" name="Right Arrow 39"/>
          <p:cNvSpPr/>
          <p:nvPr/>
        </p:nvSpPr>
        <p:spPr>
          <a:xfrm>
            <a:off x="8503920" y="3767328"/>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915400" y="3611880"/>
            <a:ext cx="1143000" cy="59436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15400" y="3611880"/>
            <a:ext cx="1143000" cy="59436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G</a:t>
            </a:r>
          </a:p>
        </p:txBody>
      </p:sp>
      <p:sp>
        <p:nvSpPr>
          <p:cNvPr id="43" name="Right Arrow 42"/>
          <p:cNvSpPr/>
          <p:nvPr/>
        </p:nvSpPr>
        <p:spPr>
          <a:xfrm>
            <a:off x="10149840" y="3767328"/>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4160" y="3657600"/>
            <a:ext cx="1143000" cy="411480"/>
          </a:xfrm>
          <a:prstGeom prst="rect">
            <a:avLst/>
          </a:prstGeom>
          <a:noFill/>
        </p:spPr>
        <p:txBody>
          <a:bodyPr wrap="square" lIns="0" rIns="0" tIns="0" bIns="0" anchor="ctr">
            <a:spAutoFit/>
          </a:bodyPr>
          <a:lstStyle/>
          <a:p>
            <a:pPr algn="ctr">
              <a:spcAft>
                <a:spcPts val="400"/>
              </a:spcAft>
            </a:pPr>
            <a:r>
              <a:rPr sz="1700" b="1">
                <a:solidFill>
                  <a:srgbClr val="D4A84B"/>
                </a:solidFill>
                <a:latin typeface="Calibri"/>
              </a:rPr>
              <a:t>x ✓</a:t>
            </a:r>
          </a:p>
        </p:txBody>
      </p:sp>
      <p:sp>
        <p:nvSpPr>
          <p:cNvPr id="45" name="TextBox 44"/>
          <p:cNvSpPr txBox="1"/>
          <p:nvPr/>
        </p:nvSpPr>
        <p:spPr>
          <a:xfrm>
            <a:off x="7726679" y="4434840"/>
            <a:ext cx="3840480" cy="411480"/>
          </a:xfrm>
          <a:prstGeom prst="rect">
            <a:avLst/>
          </a:prstGeom>
          <a:noFill/>
        </p:spPr>
        <p:txBody>
          <a:bodyPr wrap="square" lIns="0" rIns="0" tIns="0" bIns="0" anchor="ctr">
            <a:spAutoFit/>
          </a:bodyPr>
          <a:lstStyle/>
          <a:p>
            <a:pPr algn="ctr">
              <a:spcAft>
                <a:spcPts val="400"/>
              </a:spcAft>
            </a:pPr>
            <a:r>
              <a:rPr sz="1600" b="1">
                <a:solidFill>
                  <a:srgbClr val="C0505C"/>
                </a:solidFill>
                <a:latin typeface="Calibri"/>
              </a:rPr>
              <a:t>p(x) = ?   impossible à calculer</a:t>
            </a:r>
          </a:p>
        </p:txBody>
      </p:sp>
      <p:sp>
        <p:nvSpPr>
          <p:cNvPr id="46" name="Rounded Rectangle 45"/>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48" name="TextBox 47"/>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Le GAN calcule p(x)</a:t>
            </a:r>
          </a:p>
        </p:txBody>
      </p:sp>
      <p:sp>
        <p:nvSpPr>
          <p:cNvPr id="49" name="TextBox 48"/>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Il tire des images, sans formule de p(x)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Q6</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pas pour D, un pas pour G</a:t>
            </a:r>
          </a:p>
        </p:txBody>
      </p:sp>
      <p:sp>
        <p:nvSpPr>
          <p:cNvPr id="4" name="Rounded Rectangle 3"/>
          <p:cNvSpPr/>
          <p:nvPr/>
        </p:nvSpPr>
        <p:spPr>
          <a:xfrm>
            <a:off x="548640" y="1645920"/>
            <a:ext cx="53949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484632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1 · D apprend</a:t>
            </a:r>
          </a:p>
        </p:txBody>
      </p:sp>
      <p:sp>
        <p:nvSpPr>
          <p:cNvPr id="6" name="Rounded Rectangle 5"/>
          <p:cNvSpPr/>
          <p:nvPr/>
        </p:nvSpPr>
        <p:spPr>
          <a:xfrm>
            <a:off x="868680" y="2788920"/>
            <a:ext cx="1280160" cy="91440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G</a:t>
            </a:r>
          </a:p>
          <a:p>
            <a:pPr algn="ctr">
              <a:spcAft>
                <a:spcPts val="0"/>
              </a:spcAft>
            </a:pPr>
            <a:r>
              <a:rPr sz="2000" b="0">
                <a:solidFill>
                  <a:srgbClr val="D4A84B"/>
                </a:solidFill>
                <a:latin typeface="Calibri"/>
              </a:rPr>
              <a:t>figé</a:t>
            </a:r>
          </a:p>
        </p:txBody>
      </p:sp>
      <p:sp>
        <p:nvSpPr>
          <p:cNvPr id="8" name="Right Arrow 7"/>
          <p:cNvSpPr/>
          <p:nvPr/>
        </p:nvSpPr>
        <p:spPr>
          <a:xfrm>
            <a:off x="2240280"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51760" y="2788920"/>
            <a:ext cx="1280160" cy="91440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D</a:t>
            </a:r>
          </a:p>
          <a:p>
            <a:pPr algn="ctr">
              <a:spcAft>
                <a:spcPts val="0"/>
              </a:spcAft>
            </a:pPr>
            <a:r>
              <a:rPr sz="2000" b="0">
                <a:solidFill>
                  <a:srgbClr val="D4A84B"/>
                </a:solidFill>
                <a:latin typeface="Calibri"/>
              </a:rPr>
              <a:t>mis à jour</a:t>
            </a:r>
          </a:p>
        </p:txBody>
      </p:sp>
      <p:sp>
        <p:nvSpPr>
          <p:cNvPr id="11" name="Right Arrow 10"/>
          <p:cNvSpPr/>
          <p:nvPr/>
        </p:nvSpPr>
        <p:spPr>
          <a:xfrm>
            <a:off x="4023360"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34840" y="2788920"/>
            <a:ext cx="1234440" cy="9144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2788920"/>
            <a:ext cx="123444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perte</a:t>
            </a:r>
          </a:p>
        </p:txBody>
      </p:sp>
      <p:cxnSp>
        <p:nvCxnSpPr>
          <p:cNvPr id="14" name="Connector 13"/>
          <p:cNvCxnSpPr/>
          <p:nvPr/>
        </p:nvCxnSpPr>
        <p:spPr>
          <a:xfrm>
            <a:off x="5029200" y="3886200"/>
            <a:ext cx="0" cy="457200"/>
          </a:xfrm>
          <a:prstGeom prst="line">
            <a:avLst/>
          </a:prstGeom>
          <a:ln w="38100">
            <a:solidFill>
              <a:srgbClr val="D4A84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291840" y="4343400"/>
            <a:ext cx="1737360" cy="0"/>
          </a:xfrm>
          <a:prstGeom prst="line">
            <a:avLst/>
          </a:prstGeom>
          <a:ln w="38100">
            <a:solidFill>
              <a:srgbClr val="D4A84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91840" y="3794760"/>
            <a:ext cx="0" cy="548640"/>
          </a:xfrm>
          <a:prstGeom prst="line">
            <a:avLst/>
          </a:prstGeom>
          <a:ln w="38100">
            <a:solidFill>
              <a:srgbClr val="D4A8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480560"/>
            <a:ext cx="4846320" cy="411480"/>
          </a:xfrm>
          <a:prstGeom prst="rect">
            <a:avLst/>
          </a:prstGeom>
          <a:noFill/>
        </p:spPr>
        <p:txBody>
          <a:bodyPr wrap="square" lIns="0" rIns="0" tIns="0" bIns="0" anchor="ctr">
            <a:spAutoFit/>
          </a:bodyPr>
          <a:lstStyle/>
          <a:p>
            <a:pPr algn="ctr">
              <a:spcAft>
                <a:spcPts val="400"/>
              </a:spcAft>
            </a:pPr>
            <a:r>
              <a:rPr sz="1500" b="0">
                <a:solidFill>
                  <a:srgbClr val="D4A84B"/>
                </a:solidFill>
                <a:latin typeface="Calibri"/>
              </a:rPr>
              <a:t>gradient</a:t>
            </a:r>
          </a:p>
        </p:txBody>
      </p:sp>
      <p:sp>
        <p:nvSpPr>
          <p:cNvPr id="18" name="TextBox 17"/>
          <p:cNvSpPr txBox="1"/>
          <p:nvPr/>
        </p:nvSpPr>
        <p:spPr>
          <a:xfrm>
            <a:off x="2377440" y="2286000"/>
            <a:ext cx="1828800" cy="411480"/>
          </a:xfrm>
          <a:prstGeom prst="rect">
            <a:avLst/>
          </a:prstGeom>
          <a:noFill/>
        </p:spPr>
        <p:txBody>
          <a:bodyPr wrap="square" lIns="0" rIns="0" tIns="0" bIns="0" anchor="ctr">
            <a:spAutoFit/>
          </a:bodyPr>
          <a:lstStyle/>
          <a:p>
            <a:pPr algn="ctr">
              <a:spcAft>
                <a:spcPts val="400"/>
              </a:spcAft>
            </a:pPr>
            <a:r>
              <a:rPr sz="1300" b="0">
                <a:solidFill>
                  <a:srgbClr val="A39A90"/>
                </a:solidFill>
                <a:latin typeface="Calibri"/>
              </a:rPr>
              <a:t>vraies = 1 · fausses = 0</a:t>
            </a:r>
          </a:p>
        </p:txBody>
      </p:sp>
      <p:sp>
        <p:nvSpPr>
          <p:cNvPr id="19" name="Rounded Rectangle 18"/>
          <p:cNvSpPr/>
          <p:nvPr/>
        </p:nvSpPr>
        <p:spPr>
          <a:xfrm>
            <a:off x="6245352" y="1645920"/>
            <a:ext cx="53949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19672" y="1783080"/>
            <a:ext cx="484632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2 · G apprend</a:t>
            </a:r>
          </a:p>
        </p:txBody>
      </p:sp>
      <p:sp>
        <p:nvSpPr>
          <p:cNvPr id="21" name="Rounded Rectangle 20"/>
          <p:cNvSpPr/>
          <p:nvPr/>
        </p:nvSpPr>
        <p:spPr>
          <a:xfrm>
            <a:off x="6565392" y="2788920"/>
            <a:ext cx="1280160" cy="91440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G</a:t>
            </a:r>
          </a:p>
          <a:p>
            <a:pPr algn="ctr">
              <a:spcAft>
                <a:spcPts val="0"/>
              </a:spcAft>
            </a:pPr>
            <a:r>
              <a:rPr sz="2000" b="0">
                <a:solidFill>
                  <a:srgbClr val="D4A84B"/>
                </a:solidFill>
                <a:latin typeface="Calibri"/>
              </a:rPr>
              <a:t>mis à jour</a:t>
            </a:r>
          </a:p>
        </p:txBody>
      </p:sp>
      <p:sp>
        <p:nvSpPr>
          <p:cNvPr id="23" name="Right Arrow 22"/>
          <p:cNvSpPr/>
          <p:nvPr/>
        </p:nvSpPr>
        <p:spPr>
          <a:xfrm>
            <a:off x="7936992"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48472" y="2788920"/>
            <a:ext cx="1280160" cy="91440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8472" y="2788920"/>
            <a:ext cx="1280160" cy="914400"/>
          </a:xfrm>
          <a:prstGeom prst="rect">
            <a:avLst/>
          </a:prstGeom>
          <a:noFill/>
        </p:spPr>
        <p:txBody>
          <a:bodyPr wrap="square" lIns="0" rIns="0" tIns="0" bIns="0" anchor="ctr">
            <a:spAutoFit/>
          </a:bodyPr>
          <a:lstStyle/>
          <a:p>
            <a:pPr algn="ctr">
              <a:spcAft>
                <a:spcPts val="0"/>
              </a:spcAft>
            </a:pPr>
            <a:r>
              <a:rPr sz="2400" b="1">
                <a:solidFill>
                  <a:srgbClr val="F2EDE6"/>
                </a:solidFill>
                <a:latin typeface="Calibri"/>
              </a:rPr>
              <a:t>D</a:t>
            </a:r>
          </a:p>
          <a:p>
            <a:pPr algn="ctr">
              <a:spcAft>
                <a:spcPts val="0"/>
              </a:spcAft>
            </a:pPr>
            <a:r>
              <a:rPr sz="2000" b="0">
                <a:solidFill>
                  <a:srgbClr val="D4A84B"/>
                </a:solidFill>
                <a:latin typeface="Calibri"/>
              </a:rPr>
              <a:t>figé</a:t>
            </a:r>
          </a:p>
        </p:txBody>
      </p:sp>
      <p:sp>
        <p:nvSpPr>
          <p:cNvPr id="26" name="Right Arrow 25"/>
          <p:cNvSpPr/>
          <p:nvPr/>
        </p:nvSpPr>
        <p:spPr>
          <a:xfrm>
            <a:off x="9720072" y="3108960"/>
            <a:ext cx="32004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31552" y="2788920"/>
            <a:ext cx="1234440" cy="9144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31552" y="2788920"/>
            <a:ext cx="1234440" cy="9144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perte</a:t>
            </a:r>
          </a:p>
        </p:txBody>
      </p:sp>
      <p:cxnSp>
        <p:nvCxnSpPr>
          <p:cNvPr id="29" name="Connector 28"/>
          <p:cNvCxnSpPr/>
          <p:nvPr/>
        </p:nvCxnSpPr>
        <p:spPr>
          <a:xfrm>
            <a:off x="10725912" y="3886200"/>
            <a:ext cx="0" cy="457200"/>
          </a:xfrm>
          <a:prstGeom prst="line">
            <a:avLst/>
          </a:prstGeom>
          <a:ln w="38100">
            <a:solidFill>
              <a:srgbClr val="D4A84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205472" y="4343400"/>
            <a:ext cx="3520440" cy="0"/>
          </a:xfrm>
          <a:prstGeom prst="line">
            <a:avLst/>
          </a:prstGeom>
          <a:ln w="38100">
            <a:solidFill>
              <a:srgbClr val="D4A84B"/>
            </a:solidFill>
            <a:prstDash val="dash"/>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205472" y="3794760"/>
            <a:ext cx="0" cy="548640"/>
          </a:xfrm>
          <a:prstGeom prst="line">
            <a:avLst/>
          </a:prstGeom>
          <a:ln w="38100">
            <a:solidFill>
              <a:srgbClr val="D4A8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519672" y="4480560"/>
            <a:ext cx="4846320" cy="411480"/>
          </a:xfrm>
          <a:prstGeom prst="rect">
            <a:avLst/>
          </a:prstGeom>
          <a:noFill/>
        </p:spPr>
        <p:txBody>
          <a:bodyPr wrap="square" lIns="0" rIns="0" tIns="0" bIns="0" anchor="ctr">
            <a:spAutoFit/>
          </a:bodyPr>
          <a:lstStyle/>
          <a:p>
            <a:pPr algn="ctr">
              <a:spcAft>
                <a:spcPts val="400"/>
              </a:spcAft>
            </a:pPr>
            <a:r>
              <a:rPr sz="1500" b="0">
                <a:solidFill>
                  <a:srgbClr val="D4A84B"/>
                </a:solidFill>
                <a:latin typeface="Calibri"/>
              </a:rPr>
              <a:t>gradient à travers D</a:t>
            </a:r>
          </a:p>
        </p:txBody>
      </p:sp>
      <p:sp>
        <p:nvSpPr>
          <p:cNvPr id="33" name="TextBox 32"/>
          <p:cNvSpPr txBox="1"/>
          <p:nvPr/>
        </p:nvSpPr>
        <p:spPr>
          <a:xfrm>
            <a:off x="8074152" y="2286000"/>
            <a:ext cx="1828800" cy="411480"/>
          </a:xfrm>
          <a:prstGeom prst="rect">
            <a:avLst/>
          </a:prstGeom>
          <a:noFill/>
        </p:spPr>
        <p:txBody>
          <a:bodyPr wrap="square" lIns="0" rIns="0" tIns="0" bIns="0" anchor="ctr">
            <a:spAutoFit/>
          </a:bodyPr>
          <a:lstStyle/>
          <a:p>
            <a:pPr algn="ctr">
              <a:spcAft>
                <a:spcPts val="400"/>
              </a:spcAft>
            </a:pPr>
            <a:r>
              <a:rPr sz="1400" b="0">
                <a:solidFill>
                  <a:srgbClr val="A39A90"/>
                </a:solidFill>
                <a:latin typeface="Calibri"/>
              </a:rPr>
              <a:t>−log D(G(z))</a:t>
            </a:r>
          </a:p>
        </p:txBody>
      </p:sp>
      <p:sp>
        <p:nvSpPr>
          <p:cNvPr id="34" name="Rounded Rectangle 33"/>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36" name="TextBox 35"/>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G et D apprennent ensemble</a:t>
            </a:r>
          </a:p>
        </p:txBody>
      </p:sp>
      <p:sp>
        <p:nvSpPr>
          <p:cNvPr id="37" name="TextBox 36"/>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On alterne : l'autre réseau est figé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Q7</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Fidélité et diversité</a:t>
            </a:r>
          </a:p>
        </p:txBody>
      </p:sp>
      <p:sp>
        <p:nvSpPr>
          <p:cNvPr id="4" name="Rounded Rectangle 3"/>
          <p:cNvSpPr/>
          <p:nvPr/>
        </p:nvSpPr>
        <p:spPr>
          <a:xfrm>
            <a:off x="548640" y="1645920"/>
            <a:ext cx="676656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45920" y="1920240"/>
            <a:ext cx="3108960" cy="3108960"/>
          </a:xfrm>
          <a:prstGeom prst="ellipse">
            <a:avLst/>
          </a:prstGeom>
          <a:noFill/>
          <a:ln w="28575">
            <a:solidFill>
              <a:srgbClr val="A39A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383280" y="2377440"/>
            <a:ext cx="2194560" cy="2194560"/>
          </a:xfrm>
          <a:prstGeom prst="ellipse">
            <a:avLst/>
          </a:prstGeom>
          <a:noFill/>
          <a:ln w="28575">
            <a:solidFill>
              <a:srgbClr val="D4A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783080"/>
            <a:ext cx="2194560" cy="411480"/>
          </a:xfrm>
          <a:prstGeom prst="rect">
            <a:avLst/>
          </a:prstGeom>
          <a:noFill/>
        </p:spPr>
        <p:txBody>
          <a:bodyPr wrap="square" lIns="0" rIns="0" tIns="0" bIns="0" anchor="ctr">
            <a:spAutoFit/>
          </a:bodyPr>
          <a:lstStyle/>
          <a:p>
            <a:pPr algn="ctr">
              <a:spcAft>
                <a:spcPts val="400"/>
              </a:spcAft>
            </a:pPr>
            <a:r>
              <a:rPr sz="1700" b="1">
                <a:solidFill>
                  <a:srgbClr val="A39A90"/>
                </a:solidFill>
                <a:latin typeface="Calibri"/>
              </a:rPr>
              <a:t>vraies</a:t>
            </a:r>
          </a:p>
        </p:txBody>
      </p:sp>
      <p:sp>
        <p:nvSpPr>
          <p:cNvPr id="8" name="TextBox 7"/>
          <p:cNvSpPr txBox="1"/>
          <p:nvPr/>
        </p:nvSpPr>
        <p:spPr>
          <a:xfrm>
            <a:off x="4663440" y="1783080"/>
            <a:ext cx="2194560" cy="411480"/>
          </a:xfrm>
          <a:prstGeom prst="rect">
            <a:avLst/>
          </a:prstGeom>
          <a:noFill/>
        </p:spPr>
        <p:txBody>
          <a:bodyPr wrap="square" lIns="0" rIns="0" tIns="0" bIns="0" anchor="ctr">
            <a:spAutoFit/>
          </a:bodyPr>
          <a:lstStyle/>
          <a:p>
            <a:pPr algn="ctr">
              <a:spcAft>
                <a:spcPts val="400"/>
              </a:spcAft>
            </a:pPr>
            <a:r>
              <a:rPr sz="1700" b="1">
                <a:solidFill>
                  <a:srgbClr val="D4A84B"/>
                </a:solidFill>
                <a:latin typeface="Calibri"/>
              </a:rPr>
              <a:t>générées</a:t>
            </a:r>
          </a:p>
        </p:txBody>
      </p:sp>
      <p:cxnSp>
        <p:nvCxnSpPr>
          <p:cNvPr id="9" name="Connector 8"/>
          <p:cNvCxnSpPr/>
          <p:nvPr/>
        </p:nvCxnSpPr>
        <p:spPr>
          <a:xfrm>
            <a:off x="3200400" y="3474720"/>
            <a:ext cx="1280160" cy="0"/>
          </a:xfrm>
          <a:prstGeom prst="line">
            <a:avLst/>
          </a:prstGeom>
          <a:ln w="38100">
            <a:solidFill>
              <a:srgbClr val="C0505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63240" y="3520440"/>
            <a:ext cx="1554480" cy="411480"/>
          </a:xfrm>
          <a:prstGeom prst="rect">
            <a:avLst/>
          </a:prstGeom>
          <a:noFill/>
        </p:spPr>
        <p:txBody>
          <a:bodyPr wrap="square" lIns="0" rIns="0" tIns="0" bIns="0" anchor="ctr">
            <a:spAutoFit/>
          </a:bodyPr>
          <a:lstStyle/>
          <a:p>
            <a:pPr algn="ctr">
              <a:spcAft>
                <a:spcPts val="400"/>
              </a:spcAft>
            </a:pPr>
            <a:r>
              <a:rPr sz="1700" b="1">
                <a:solidFill>
                  <a:srgbClr val="C0505C"/>
                </a:solidFill>
                <a:latin typeface="Calibri"/>
              </a:rPr>
              <a:t>FID</a:t>
            </a:r>
          </a:p>
        </p:txBody>
      </p:sp>
      <p:sp>
        <p:nvSpPr>
          <p:cNvPr id="11" name="Rounded Rectangle 10"/>
          <p:cNvSpPr/>
          <p:nvPr/>
        </p:nvSpPr>
        <p:spPr>
          <a:xfrm>
            <a:off x="7589520" y="1645920"/>
            <a:ext cx="1828800" cy="59436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Précision</a:t>
            </a:r>
          </a:p>
        </p:txBody>
      </p:sp>
      <p:sp>
        <p:nvSpPr>
          <p:cNvPr id="12" name="TextBox 11"/>
          <p:cNvSpPr txBox="1"/>
          <p:nvPr/>
        </p:nvSpPr>
        <p:spPr>
          <a:xfrm>
            <a:off x="9555480" y="1737360"/>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réalisme</a:t>
            </a:r>
          </a:p>
        </p:txBody>
      </p:sp>
      <p:sp>
        <p:nvSpPr>
          <p:cNvPr id="13" name="Rounded Rectangle 12"/>
          <p:cNvSpPr/>
          <p:nvPr/>
        </p:nvSpPr>
        <p:spPr>
          <a:xfrm>
            <a:off x="7589520" y="2395728"/>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Rappel</a:t>
            </a:r>
          </a:p>
        </p:txBody>
      </p:sp>
      <p:sp>
        <p:nvSpPr>
          <p:cNvPr id="14" name="TextBox 13"/>
          <p:cNvSpPr txBox="1"/>
          <p:nvPr/>
        </p:nvSpPr>
        <p:spPr>
          <a:xfrm>
            <a:off x="9555480" y="2487168"/>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variété</a:t>
            </a:r>
          </a:p>
        </p:txBody>
      </p:sp>
      <p:sp>
        <p:nvSpPr>
          <p:cNvPr id="15" name="Rounded Rectangle 14"/>
          <p:cNvSpPr/>
          <p:nvPr/>
        </p:nvSpPr>
        <p:spPr>
          <a:xfrm>
            <a:off x="7589520" y="3145536"/>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FID · KID</a:t>
            </a:r>
          </a:p>
        </p:txBody>
      </p:sp>
      <p:sp>
        <p:nvSpPr>
          <p:cNvPr id="16" name="TextBox 15"/>
          <p:cNvSpPr txBox="1"/>
          <p:nvPr/>
        </p:nvSpPr>
        <p:spPr>
          <a:xfrm>
            <a:off x="9555480" y="3236976"/>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distance</a:t>
            </a:r>
          </a:p>
        </p:txBody>
      </p:sp>
      <p:sp>
        <p:nvSpPr>
          <p:cNvPr id="17" name="Rounded Rectangle 16"/>
          <p:cNvSpPr/>
          <p:nvPr/>
        </p:nvSpPr>
        <p:spPr>
          <a:xfrm>
            <a:off x="7589520" y="3895344"/>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Œil</a:t>
            </a:r>
          </a:p>
        </p:txBody>
      </p:sp>
      <p:sp>
        <p:nvSpPr>
          <p:cNvPr id="18" name="TextBox 17"/>
          <p:cNvSpPr txBox="1"/>
          <p:nvPr/>
        </p:nvSpPr>
        <p:spPr>
          <a:xfrm>
            <a:off x="9555480" y="3986784"/>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artefacts</a:t>
            </a:r>
          </a:p>
        </p:txBody>
      </p:sp>
      <p:sp>
        <p:nvSpPr>
          <p:cNvPr id="19" name="Rounded Rectangle 18"/>
          <p:cNvSpPr/>
          <p:nvPr/>
        </p:nvSpPr>
        <p:spPr>
          <a:xfrm>
            <a:off x="7589520" y="4645152"/>
            <a:ext cx="182880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Voisins</a:t>
            </a:r>
          </a:p>
        </p:txBody>
      </p:sp>
      <p:sp>
        <p:nvSpPr>
          <p:cNvPr id="20" name="TextBox 19"/>
          <p:cNvSpPr txBox="1"/>
          <p:nvPr/>
        </p:nvSpPr>
        <p:spPr>
          <a:xfrm>
            <a:off x="9555480" y="4736592"/>
            <a:ext cx="2103120" cy="411480"/>
          </a:xfrm>
          <a:prstGeom prst="rect">
            <a:avLst/>
          </a:prstGeom>
          <a:noFill/>
        </p:spPr>
        <p:txBody>
          <a:bodyPr wrap="square" lIns="0" rIns="0" tIns="0" bIns="0" anchor="ctr">
            <a:spAutoFit/>
          </a:bodyPr>
          <a:lstStyle/>
          <a:p>
            <a:pPr algn="l">
              <a:spcAft>
                <a:spcPts val="400"/>
              </a:spcAft>
            </a:pPr>
            <a:r>
              <a:rPr sz="1600" b="0">
                <a:solidFill>
                  <a:srgbClr val="A39A90"/>
                </a:solidFill>
                <a:latin typeface="Calibri"/>
              </a:rPr>
              <a:t>mémorisation</a:t>
            </a:r>
          </a:p>
        </p:txBody>
      </p:sp>
      <p:sp>
        <p:nvSpPr>
          <p:cNvPr id="21" name="Rounded Rectangle 20"/>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23" name="TextBox 22"/>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Perte basse = bonnes images</a:t>
            </a:r>
          </a:p>
        </p:txBody>
      </p:sp>
      <p:sp>
        <p:nvSpPr>
          <p:cNvPr id="24" name="TextBox 23"/>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Croiser métriques et inspection visuelle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Q8</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Combien d'images ?</a:t>
            </a:r>
          </a:p>
        </p:txBody>
      </p:sp>
      <p:graphicFrame>
        <p:nvGraphicFramePr>
          <p:cNvPr id="4" name="Chart 3"/>
          <p:cNvGraphicFramePr>
            <a:graphicFrameLocks noGrp="1"/>
          </p:cNvGraphicFramePr>
          <p:nvPr/>
        </p:nvGraphicFramePr>
        <p:xfrm>
          <a:off x="548640" y="1554480"/>
          <a:ext cx="7863840" cy="3840480"/>
        </p:xfrm>
        <a:graphic>
          <a:graphicData uri="http://schemas.openxmlformats.org/drawingml/2006/chart">
            <c:chart xmlns:c="http://schemas.openxmlformats.org/drawingml/2006/chart" r:id="rId3"/>
          </a:graphicData>
        </a:graphic>
      </p:graphicFrame>
      <p:sp>
        <p:nvSpPr>
          <p:cNvPr id="5" name="TextBox 4"/>
          <p:cNvSpPr txBox="1"/>
          <p:nvPr/>
        </p:nvSpPr>
        <p:spPr>
          <a:xfrm>
            <a:off x="8595360" y="2194560"/>
            <a:ext cx="3017520" cy="868680"/>
          </a:xfrm>
          <a:prstGeom prst="rect">
            <a:avLst/>
          </a:prstGeom>
          <a:noFill/>
        </p:spPr>
        <p:txBody>
          <a:bodyPr wrap="square" lIns="0" rIns="0" tIns="0" bIns="0" anchor="t">
            <a:spAutoFit/>
          </a:bodyPr>
          <a:lstStyle/>
          <a:p>
            <a:pPr algn="ctr">
              <a:spcAft>
                <a:spcPts val="400"/>
              </a:spcAft>
            </a:pPr>
            <a:r>
              <a:rPr sz="4800" b="1">
                <a:solidFill>
                  <a:srgbClr val="D4A84B"/>
                </a:solidFill>
                <a:latin typeface="Cambria"/>
              </a:rPr>
              <a:t>~8 000</a:t>
            </a:r>
          </a:p>
        </p:txBody>
      </p:sp>
      <p:sp>
        <p:nvSpPr>
          <p:cNvPr id="6" name="TextBox 5"/>
          <p:cNvSpPr txBox="1"/>
          <p:nvPr/>
        </p:nvSpPr>
        <p:spPr>
          <a:xfrm>
            <a:off x="8595360" y="3108960"/>
            <a:ext cx="30175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nos peintures</a:t>
            </a:r>
          </a:p>
        </p:txBody>
      </p:sp>
      <p:sp>
        <p:nvSpPr>
          <p:cNvPr id="7" name="Rounded Rectangle 6"/>
          <p:cNvSpPr/>
          <p:nvPr/>
        </p:nvSpPr>
        <p:spPr>
          <a:xfrm>
            <a:off x="8778240" y="4023360"/>
            <a:ext cx="26517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échelle log</a:t>
            </a:r>
          </a:p>
        </p:txBody>
      </p:sp>
      <p:sp>
        <p:nvSpPr>
          <p:cNvPr id="8" name="Rounded Rectangle 7"/>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10" name="TextBox 9"/>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Il faut des millions d'images</a:t>
            </a:r>
          </a:p>
        </p:txBody>
      </p:sp>
      <p:sp>
        <p:nvSpPr>
          <p:cNvPr id="11" name="TextBox 10"/>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Ça dépend de la résolution et de la diversité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Q9</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équilibre, pas un minimum</a:t>
            </a:r>
          </a:p>
        </p:txBody>
      </p:sp>
      <p:sp>
        <p:nvSpPr>
          <p:cNvPr id="4" name="Rounded Rectangle 3"/>
          <p:cNvSpPr/>
          <p:nvPr/>
        </p:nvSpPr>
        <p:spPr>
          <a:xfrm>
            <a:off x="548640" y="1645920"/>
            <a:ext cx="352044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3520440" cy="411480"/>
          </a:xfrm>
          <a:prstGeom prst="rect">
            <a:avLst/>
          </a:prstGeom>
          <a:noFill/>
        </p:spPr>
        <p:txBody>
          <a:bodyPr wrap="square" lIns="0" rIns="0" tIns="0" bIns="0" anchor="ctr">
            <a:spAutoFit/>
          </a:bodyPr>
          <a:lstStyle/>
          <a:p>
            <a:pPr algn="ctr">
              <a:spcAft>
                <a:spcPts val="400"/>
              </a:spcAft>
            </a:pPr>
            <a:r>
              <a:rPr sz="2200" b="1">
                <a:solidFill>
                  <a:srgbClr val="C0505C"/>
                </a:solidFill>
                <a:latin typeface="Calibri"/>
              </a:rPr>
              <a:t>D trop fort</a:t>
            </a:r>
          </a:p>
        </p:txBody>
      </p:sp>
      <p:sp>
        <p:nvSpPr>
          <p:cNvPr id="6" name="Rounded Rectangle 5"/>
          <p:cNvSpPr/>
          <p:nvPr/>
        </p:nvSpPr>
        <p:spPr>
          <a:xfrm>
            <a:off x="4334256" y="1645920"/>
            <a:ext cx="352044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34256" y="1783080"/>
            <a:ext cx="3520440" cy="411480"/>
          </a:xfrm>
          <a:prstGeom prst="rect">
            <a:avLst/>
          </a:prstGeom>
          <a:noFill/>
        </p:spPr>
        <p:txBody>
          <a:bodyPr wrap="square" lIns="0" rIns="0" tIns="0" bIns="0" anchor="ctr">
            <a:spAutoFit/>
          </a:bodyPr>
          <a:lstStyle/>
          <a:p>
            <a:pPr algn="ctr">
              <a:spcAft>
                <a:spcPts val="400"/>
              </a:spcAft>
            </a:pPr>
            <a:r>
              <a:rPr sz="2200" b="1">
                <a:solidFill>
                  <a:srgbClr val="D4A84B"/>
                </a:solidFill>
                <a:latin typeface="Calibri"/>
              </a:rPr>
              <a:t>Équilibre</a:t>
            </a:r>
          </a:p>
        </p:txBody>
      </p:sp>
      <p:sp>
        <p:nvSpPr>
          <p:cNvPr id="8" name="Rounded Rectangle 7"/>
          <p:cNvSpPr/>
          <p:nvPr/>
        </p:nvSpPr>
        <p:spPr>
          <a:xfrm>
            <a:off x="8119872" y="1645920"/>
            <a:ext cx="3520440"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19872" y="1783080"/>
            <a:ext cx="3520440" cy="411480"/>
          </a:xfrm>
          <a:prstGeom prst="rect">
            <a:avLst/>
          </a:prstGeom>
          <a:noFill/>
        </p:spPr>
        <p:txBody>
          <a:bodyPr wrap="square" lIns="0" rIns="0" tIns="0" bIns="0" anchor="ctr">
            <a:spAutoFit/>
          </a:bodyPr>
          <a:lstStyle/>
          <a:p>
            <a:pPr algn="ctr">
              <a:spcAft>
                <a:spcPts val="400"/>
              </a:spcAft>
            </a:pPr>
            <a:r>
              <a:rPr sz="2200" b="1">
                <a:solidFill>
                  <a:srgbClr val="C0505C"/>
                </a:solidFill>
                <a:latin typeface="Calibri"/>
              </a:rPr>
              <a:t>Mode collapse</a:t>
            </a:r>
          </a:p>
        </p:txBody>
      </p:sp>
      <p:sp>
        <p:nvSpPr>
          <p:cNvPr id="10" name="Rounded Rectangle 9"/>
          <p:cNvSpPr/>
          <p:nvPr/>
        </p:nvSpPr>
        <p:spPr>
          <a:xfrm>
            <a:off x="914400" y="3017520"/>
            <a:ext cx="822960" cy="68580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17520"/>
            <a:ext cx="822960" cy="685800"/>
          </a:xfrm>
          <a:prstGeom prst="rect">
            <a:avLst/>
          </a:prstGeom>
          <a:noFill/>
        </p:spPr>
        <p:txBody>
          <a:bodyPr wrap="square" lIns="0" rIns="0" tIns="0" bIns="0" anchor="ctr">
            <a:spAutoFit/>
          </a:bodyPr>
          <a:lstStyle/>
          <a:p>
            <a:pPr algn="ctr">
              <a:spcAft>
                <a:spcPts val="0"/>
              </a:spcAft>
            </a:pPr>
            <a:r>
              <a:rPr sz="1800" b="1">
                <a:solidFill>
                  <a:srgbClr val="F2EDE6"/>
                </a:solidFill>
                <a:latin typeface="Calibri"/>
              </a:rPr>
              <a:t>G</a:t>
            </a:r>
          </a:p>
        </p:txBody>
      </p:sp>
      <p:sp>
        <p:nvSpPr>
          <p:cNvPr id="12" name="Rounded Rectangle 11"/>
          <p:cNvSpPr/>
          <p:nvPr/>
        </p:nvSpPr>
        <p:spPr>
          <a:xfrm>
            <a:off x="2377440" y="2606040"/>
            <a:ext cx="1371600" cy="150876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77440" y="2606040"/>
            <a:ext cx="1371600" cy="1508760"/>
          </a:xfrm>
          <a:prstGeom prst="rect">
            <a:avLst/>
          </a:prstGeom>
          <a:noFill/>
        </p:spPr>
        <p:txBody>
          <a:bodyPr wrap="square" lIns="0" rIns="0" tIns="0" bIns="0" anchor="ctr">
            <a:spAutoFit/>
          </a:bodyPr>
          <a:lstStyle/>
          <a:p>
            <a:pPr algn="ctr">
              <a:spcAft>
                <a:spcPts val="0"/>
              </a:spcAft>
            </a:pPr>
            <a:r>
              <a:rPr sz="3000" b="1">
                <a:solidFill>
                  <a:srgbClr val="F2EDE6"/>
                </a:solidFill>
                <a:latin typeface="Calibri"/>
              </a:rPr>
              <a:t>D</a:t>
            </a:r>
          </a:p>
        </p:txBody>
      </p:sp>
      <p:cxnSp>
        <p:nvCxnSpPr>
          <p:cNvPr id="14" name="Connector 13"/>
          <p:cNvCxnSpPr/>
          <p:nvPr/>
        </p:nvCxnSpPr>
        <p:spPr>
          <a:xfrm flipH="1">
            <a:off x="1737360" y="3364992"/>
            <a:ext cx="640080" cy="0"/>
          </a:xfrm>
          <a:prstGeom prst="line">
            <a:avLst/>
          </a:prstGeom>
          <a:ln w="12700">
            <a:solidFill>
              <a:srgbClr val="D4A84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4434840"/>
            <a:ext cx="3520440" cy="411480"/>
          </a:xfrm>
          <a:prstGeom prst="rect">
            <a:avLst/>
          </a:prstGeom>
          <a:noFill/>
        </p:spPr>
        <p:txBody>
          <a:bodyPr wrap="square" lIns="0" rIns="0" tIns="0" bIns="0" anchor="ctr">
            <a:spAutoFit/>
          </a:bodyPr>
          <a:lstStyle/>
          <a:p>
            <a:pPr algn="ctr">
              <a:spcAft>
                <a:spcPts val="400"/>
              </a:spcAft>
            </a:pPr>
            <a:r>
              <a:rPr sz="1800" b="1">
                <a:solidFill>
                  <a:srgbClr val="D4A84B"/>
                </a:solidFill>
                <a:latin typeface="Calibri"/>
              </a:rPr>
              <a:t>gradient ≈ 0</a:t>
            </a:r>
          </a:p>
        </p:txBody>
      </p:sp>
      <p:sp>
        <p:nvSpPr>
          <p:cNvPr id="16" name="TextBox 15"/>
          <p:cNvSpPr txBox="1"/>
          <p:nvPr/>
        </p:nvSpPr>
        <p:spPr>
          <a:xfrm>
            <a:off x="4334256" y="2651760"/>
            <a:ext cx="352044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D = 0,5</a:t>
            </a:r>
          </a:p>
        </p:txBody>
      </p:sp>
      <p:sp>
        <p:nvSpPr>
          <p:cNvPr id="17" name="TextBox 16"/>
          <p:cNvSpPr txBox="1"/>
          <p:nvPr/>
        </p:nvSpPr>
        <p:spPr>
          <a:xfrm>
            <a:off x="4334256" y="3566160"/>
            <a:ext cx="35204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partout</a:t>
            </a:r>
          </a:p>
        </p:txBody>
      </p:sp>
      <p:sp>
        <p:nvSpPr>
          <p:cNvPr id="18" name="Oval 17"/>
          <p:cNvSpPr/>
          <p:nvPr/>
        </p:nvSpPr>
        <p:spPr>
          <a:xfrm>
            <a:off x="8558784" y="2514600"/>
            <a:ext cx="219456" cy="219456"/>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805672" y="2624328"/>
            <a:ext cx="1463040" cy="923544"/>
          </a:xfrm>
          <a:prstGeom prst="line">
            <a:avLst/>
          </a:prstGeom>
          <a:ln w="22225">
            <a:solidFill>
              <a:srgbClr val="6E66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558784" y="2971800"/>
            <a:ext cx="219456" cy="219456"/>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8805672" y="3081528"/>
            <a:ext cx="1463040" cy="466344"/>
          </a:xfrm>
          <a:prstGeom prst="line">
            <a:avLst/>
          </a:prstGeom>
          <a:ln w="22225">
            <a:solidFill>
              <a:srgbClr val="6E66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8558784" y="3429000"/>
            <a:ext cx="219456" cy="219456"/>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8805672" y="3538728"/>
            <a:ext cx="1463040" cy="9144"/>
          </a:xfrm>
          <a:prstGeom prst="line">
            <a:avLst/>
          </a:prstGeom>
          <a:ln w="22225">
            <a:solidFill>
              <a:srgbClr val="6E66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8558784" y="3886200"/>
            <a:ext cx="219456" cy="219456"/>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8805672" y="3547872"/>
            <a:ext cx="1463040" cy="448056"/>
          </a:xfrm>
          <a:prstGeom prst="line">
            <a:avLst/>
          </a:prstGeom>
          <a:ln w="22225">
            <a:solidFill>
              <a:srgbClr val="6E665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8558784" y="4343400"/>
            <a:ext cx="219456" cy="219456"/>
          </a:xfrm>
          <a:prstGeom prst="ellipse">
            <a:avLst/>
          </a:prstGeom>
          <a:solidFill>
            <a:srgbClr val="A39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8805672" y="3547872"/>
            <a:ext cx="1463040" cy="905256"/>
          </a:xfrm>
          <a:prstGeom prst="line">
            <a:avLst/>
          </a:prstGeom>
          <a:ln w="22225">
            <a:solidFill>
              <a:srgbClr val="6E665E"/>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28" name="Picture 27" descr="00188.jpg"/>
          <p:cNvPicPr>
            <a:picLocks noChangeAspect="1"/>
          </p:cNvPicPr>
          <p:nvPr/>
        </p:nvPicPr>
        <p:blipFill>
          <a:blip r:embed="rId3"/>
          <a:stretch>
            <a:fillRect/>
          </a:stretch>
        </p:blipFill>
        <p:spPr>
          <a:xfrm>
            <a:off x="10360152" y="3017520"/>
            <a:ext cx="1051560" cy="1051560"/>
          </a:xfrm>
          <a:prstGeom prst="rect">
            <a:avLst/>
          </a:prstGeom>
        </p:spPr>
      </p:pic>
      <p:sp>
        <p:nvSpPr>
          <p:cNvPr id="29" name="TextBox 28"/>
          <p:cNvSpPr txBox="1"/>
          <p:nvPr/>
        </p:nvSpPr>
        <p:spPr>
          <a:xfrm>
            <a:off x="8119872" y="4434840"/>
            <a:ext cx="3520440" cy="411480"/>
          </a:xfrm>
          <a:prstGeom prst="rect">
            <a:avLst/>
          </a:prstGeom>
          <a:noFill/>
        </p:spPr>
        <p:txBody>
          <a:bodyPr wrap="square" lIns="0" rIns="0" tIns="0" bIns="0" anchor="ctr">
            <a:spAutoFit/>
          </a:bodyPr>
          <a:lstStyle/>
          <a:p>
            <a:pPr algn="ctr">
              <a:spcAft>
                <a:spcPts val="400"/>
              </a:spcAft>
            </a:pPr>
            <a:r>
              <a:rPr sz="1800" b="1">
                <a:solidFill>
                  <a:srgbClr val="D4A84B"/>
                </a:solidFill>
                <a:latin typeface="Calibri"/>
              </a:rPr>
              <a:t>5 bruits → 1 image</a:t>
            </a:r>
          </a:p>
        </p:txBody>
      </p:sp>
      <p:sp>
        <p:nvSpPr>
          <p:cNvPr id="30" name="Rounded Rectangle 29"/>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32" name="TextBox 31"/>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La perte de G baisse : il progresse</a:t>
            </a:r>
          </a:p>
        </p:txBody>
      </p:sp>
      <p:sp>
        <p:nvSpPr>
          <p:cNvPr id="33" name="TextBox 32"/>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Les pertes oscillent : regarder les images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Q10–Q11</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Dix ans de variantes</a:t>
            </a:r>
          </a:p>
        </p:txBody>
      </p:sp>
      <p:cxnSp>
        <p:nvCxnSpPr>
          <p:cNvPr id="4" name="Connector 3"/>
          <p:cNvCxnSpPr/>
          <p:nvPr/>
        </p:nvCxnSpPr>
        <p:spPr>
          <a:xfrm>
            <a:off x="548640" y="3291840"/>
            <a:ext cx="11094415" cy="0"/>
          </a:xfrm>
          <a:prstGeom prst="line">
            <a:avLst/>
          </a:prstGeom>
          <a:ln w="38100">
            <a:solidFill>
              <a:srgbClr val="6E665E"/>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475201"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2014</a:t>
            </a:r>
          </a:p>
        </p:txBody>
      </p:sp>
      <p:sp>
        <p:nvSpPr>
          <p:cNvPr id="7" name="TextBox 6"/>
          <p:cNvSpPr txBox="1"/>
          <p:nvPr/>
        </p:nvSpPr>
        <p:spPr>
          <a:xfrm>
            <a:off x="548640"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GAN · cGAN</a:t>
            </a:r>
          </a:p>
        </p:txBody>
      </p:sp>
      <p:sp>
        <p:nvSpPr>
          <p:cNvPr id="8" name="TextBox 7"/>
          <p:cNvSpPr txBox="1"/>
          <p:nvPr/>
        </p:nvSpPr>
        <p:spPr>
          <a:xfrm>
            <a:off x="548640"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par classe</a:t>
            </a:r>
          </a:p>
        </p:txBody>
      </p:sp>
      <p:sp>
        <p:nvSpPr>
          <p:cNvPr id="9" name="Oval 8"/>
          <p:cNvSpPr/>
          <p:nvPr/>
        </p:nvSpPr>
        <p:spPr>
          <a:xfrm>
            <a:off x="3694084" y="3108960"/>
            <a:ext cx="365760" cy="365760"/>
          </a:xfrm>
          <a:prstGeom prst="ellipse">
            <a:avLst/>
          </a:prstGeom>
          <a:solidFill>
            <a:srgbClr val="D4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67523"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2015</a:t>
            </a:r>
          </a:p>
        </p:txBody>
      </p:sp>
      <p:sp>
        <p:nvSpPr>
          <p:cNvPr id="11" name="TextBox 10"/>
          <p:cNvSpPr txBox="1"/>
          <p:nvPr/>
        </p:nvSpPr>
        <p:spPr>
          <a:xfrm>
            <a:off x="2767523"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DCGAN</a:t>
            </a:r>
          </a:p>
        </p:txBody>
      </p:sp>
      <p:sp>
        <p:nvSpPr>
          <p:cNvPr id="12" name="TextBox 11"/>
          <p:cNvSpPr txBox="1"/>
          <p:nvPr/>
        </p:nvSpPr>
        <p:spPr>
          <a:xfrm>
            <a:off x="2767523"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images</a:t>
            </a:r>
          </a:p>
        </p:txBody>
      </p:sp>
      <p:sp>
        <p:nvSpPr>
          <p:cNvPr id="13" name="Oval 12"/>
          <p:cNvSpPr/>
          <p:nvPr/>
        </p:nvSpPr>
        <p:spPr>
          <a:xfrm>
            <a:off x="5912967"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86406"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2016</a:t>
            </a:r>
          </a:p>
        </p:txBody>
      </p:sp>
      <p:sp>
        <p:nvSpPr>
          <p:cNvPr id="15" name="TextBox 14"/>
          <p:cNvSpPr txBox="1"/>
          <p:nvPr/>
        </p:nvSpPr>
        <p:spPr>
          <a:xfrm>
            <a:off x="4986406"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Pix2Pix · SRGAN</a:t>
            </a:r>
          </a:p>
        </p:txBody>
      </p:sp>
      <p:sp>
        <p:nvSpPr>
          <p:cNvPr id="16" name="TextBox 15"/>
          <p:cNvSpPr txBox="1"/>
          <p:nvPr/>
        </p:nvSpPr>
        <p:spPr>
          <a:xfrm>
            <a:off x="4986406"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croquis → photo</a:t>
            </a:r>
          </a:p>
        </p:txBody>
      </p:sp>
      <p:sp>
        <p:nvSpPr>
          <p:cNvPr id="17" name="Oval 16"/>
          <p:cNvSpPr/>
          <p:nvPr/>
        </p:nvSpPr>
        <p:spPr>
          <a:xfrm>
            <a:off x="8131850"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5289"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2017</a:t>
            </a:r>
          </a:p>
        </p:txBody>
      </p:sp>
      <p:sp>
        <p:nvSpPr>
          <p:cNvPr id="19" name="TextBox 18"/>
          <p:cNvSpPr txBox="1"/>
          <p:nvPr/>
        </p:nvSpPr>
        <p:spPr>
          <a:xfrm>
            <a:off x="7205289"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CycleGAN · WGAN-GP</a:t>
            </a:r>
          </a:p>
        </p:txBody>
      </p:sp>
      <p:sp>
        <p:nvSpPr>
          <p:cNvPr id="20" name="TextBox 19"/>
          <p:cNvSpPr txBox="1"/>
          <p:nvPr/>
        </p:nvSpPr>
        <p:spPr>
          <a:xfrm>
            <a:off x="7205289"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photo → Monet</a:t>
            </a:r>
          </a:p>
        </p:txBody>
      </p:sp>
      <p:sp>
        <p:nvSpPr>
          <p:cNvPr id="21" name="Oval 20"/>
          <p:cNvSpPr/>
          <p:nvPr/>
        </p:nvSpPr>
        <p:spPr>
          <a:xfrm>
            <a:off x="10350733" y="3108960"/>
            <a:ext cx="365760" cy="36576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24172" y="2514600"/>
            <a:ext cx="2218883" cy="457200"/>
          </a:xfrm>
          <a:prstGeom prst="rect">
            <a:avLst/>
          </a:prstGeom>
          <a:noFill/>
        </p:spPr>
        <p:txBody>
          <a:bodyPr wrap="square" lIns="0" rIns="0" tIns="0" bIns="0" anchor="ctr">
            <a:spAutoFit/>
          </a:bodyPr>
          <a:lstStyle/>
          <a:p>
            <a:pPr algn="ctr">
              <a:spcAft>
                <a:spcPts val="400"/>
              </a:spcAft>
            </a:pPr>
            <a:r>
              <a:rPr sz="2400" b="1">
                <a:solidFill>
                  <a:srgbClr val="D4A84B"/>
                </a:solidFill>
                <a:latin typeface="Calibri"/>
              </a:rPr>
              <a:t>2018</a:t>
            </a:r>
          </a:p>
        </p:txBody>
      </p:sp>
      <p:sp>
        <p:nvSpPr>
          <p:cNvPr id="23" name="TextBox 22"/>
          <p:cNvSpPr txBox="1"/>
          <p:nvPr/>
        </p:nvSpPr>
        <p:spPr>
          <a:xfrm>
            <a:off x="9424172" y="3657600"/>
            <a:ext cx="2218883" cy="457200"/>
          </a:xfrm>
          <a:prstGeom prst="rect">
            <a:avLst/>
          </a:prstGeom>
          <a:noFill/>
        </p:spPr>
        <p:txBody>
          <a:bodyPr wrap="square" lIns="0" rIns="0" tIns="0" bIns="0" anchor="ctr">
            <a:spAutoFit/>
          </a:bodyPr>
          <a:lstStyle/>
          <a:p>
            <a:pPr algn="ctr">
              <a:spcAft>
                <a:spcPts val="400"/>
              </a:spcAft>
            </a:pPr>
            <a:r>
              <a:rPr sz="1700" b="1">
                <a:solidFill>
                  <a:srgbClr val="F2EDE6"/>
                </a:solidFill>
                <a:latin typeface="Calibri"/>
              </a:rPr>
              <a:t>StyleGAN</a:t>
            </a:r>
          </a:p>
        </p:txBody>
      </p:sp>
      <p:sp>
        <p:nvSpPr>
          <p:cNvPr id="24" name="TextBox 23"/>
          <p:cNvSpPr txBox="1"/>
          <p:nvPr/>
        </p:nvSpPr>
        <p:spPr>
          <a:xfrm>
            <a:off x="9424172" y="4114800"/>
            <a:ext cx="2218883"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visages</a:t>
            </a:r>
          </a:p>
        </p:txBody>
      </p:sp>
      <p:sp>
        <p:nvSpPr>
          <p:cNvPr id="25" name="Rounded Rectangle 24"/>
          <p:cNvSpPr/>
          <p:nvPr/>
        </p:nvSpPr>
        <p:spPr>
          <a:xfrm>
            <a:off x="548640" y="1691640"/>
            <a:ext cx="31089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nettes · rapides</a:t>
            </a:r>
          </a:p>
        </p:txBody>
      </p:sp>
      <p:sp>
        <p:nvSpPr>
          <p:cNvPr id="26" name="Rounded Rectangle 25"/>
          <p:cNvSpPr/>
          <p:nvPr/>
        </p:nvSpPr>
        <p:spPr>
          <a:xfrm>
            <a:off x="3840480" y="1691640"/>
            <a:ext cx="3108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instables · collapse</a:t>
            </a:r>
          </a:p>
        </p:txBody>
      </p:sp>
      <p:sp>
        <p:nvSpPr>
          <p:cNvPr id="27" name="Rounded Rectangle 26"/>
          <p:cNvSpPr/>
          <p:nvPr/>
        </p:nvSpPr>
        <p:spPr>
          <a:xfrm>
            <a:off x="548640" y="4846320"/>
            <a:ext cx="31089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D4A84B"/>
                </a:solidFill>
                <a:latin typeface="Calibri"/>
              </a:rPr>
              <a:t>DCGAN = notre baseline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Q12</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CNN, GAN, DCGAN</a:t>
            </a:r>
          </a:p>
        </p:txBody>
      </p:sp>
      <p:sp>
        <p:nvSpPr>
          <p:cNvPr id="4" name="Rounded Rectangle 3"/>
          <p:cNvSpPr/>
          <p:nvPr/>
        </p:nvSpPr>
        <p:spPr>
          <a:xfrm>
            <a:off x="548640" y="1645920"/>
            <a:ext cx="3291840" cy="36118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965960"/>
            <a:ext cx="3291840" cy="82296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CNN</a:t>
            </a:r>
          </a:p>
        </p:txBody>
      </p:sp>
      <p:sp>
        <p:nvSpPr>
          <p:cNvPr id="6" name="Rounded Rectangle 5"/>
          <p:cNvSpPr/>
          <p:nvPr/>
        </p:nvSpPr>
        <p:spPr>
          <a:xfrm>
            <a:off x="914400" y="3154680"/>
            <a:ext cx="256032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architecture</a:t>
            </a:r>
          </a:p>
        </p:txBody>
      </p:sp>
      <p:sp>
        <p:nvSpPr>
          <p:cNvPr id="7" name="Rounded Rectangle 6"/>
          <p:cNvSpPr/>
          <p:nvPr/>
        </p:nvSpPr>
        <p:spPr>
          <a:xfrm>
            <a:off x="914400" y="3931920"/>
            <a:ext cx="256032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classer</a:t>
            </a:r>
          </a:p>
        </p:txBody>
      </p:sp>
      <p:sp>
        <p:nvSpPr>
          <p:cNvPr id="8" name="TextBox 7"/>
          <p:cNvSpPr txBox="1"/>
          <p:nvPr/>
        </p:nvSpPr>
        <p:spPr>
          <a:xfrm>
            <a:off x="3931920" y="3108960"/>
            <a:ext cx="411480" cy="731520"/>
          </a:xfrm>
          <a:prstGeom prst="rect">
            <a:avLst/>
          </a:prstGeom>
          <a:noFill/>
        </p:spPr>
        <p:txBody>
          <a:bodyPr wrap="square" lIns="0" rIns="0" tIns="0" bIns="0" anchor="ctr">
            <a:spAutoFit/>
          </a:bodyPr>
          <a:lstStyle/>
          <a:p>
            <a:pPr algn="ctr">
              <a:spcAft>
                <a:spcPts val="400"/>
              </a:spcAft>
            </a:pPr>
            <a:r>
              <a:rPr sz="4000" b="1">
                <a:solidFill>
                  <a:srgbClr val="A39A90"/>
                </a:solidFill>
                <a:latin typeface="Calibri"/>
              </a:rPr>
              <a:t>+</a:t>
            </a:r>
          </a:p>
        </p:txBody>
      </p:sp>
      <p:sp>
        <p:nvSpPr>
          <p:cNvPr id="9" name="Rounded Rectangle 8"/>
          <p:cNvSpPr/>
          <p:nvPr/>
        </p:nvSpPr>
        <p:spPr>
          <a:xfrm>
            <a:off x="4434840" y="1645920"/>
            <a:ext cx="3291840" cy="36118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34840" y="1965960"/>
            <a:ext cx="3291840" cy="82296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GAN</a:t>
            </a:r>
          </a:p>
        </p:txBody>
      </p:sp>
      <p:sp>
        <p:nvSpPr>
          <p:cNvPr id="11" name="Rounded Rectangle 10"/>
          <p:cNvSpPr/>
          <p:nvPr/>
        </p:nvSpPr>
        <p:spPr>
          <a:xfrm>
            <a:off x="4800600" y="3154680"/>
            <a:ext cx="256032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méthode</a:t>
            </a:r>
          </a:p>
        </p:txBody>
      </p:sp>
      <p:sp>
        <p:nvSpPr>
          <p:cNvPr id="12" name="Rounded Rectangle 11"/>
          <p:cNvSpPr/>
          <p:nvPr/>
        </p:nvSpPr>
        <p:spPr>
          <a:xfrm>
            <a:off x="4800600" y="3931920"/>
            <a:ext cx="256032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générer</a:t>
            </a:r>
          </a:p>
        </p:txBody>
      </p:sp>
      <p:sp>
        <p:nvSpPr>
          <p:cNvPr id="13" name="TextBox 12"/>
          <p:cNvSpPr txBox="1"/>
          <p:nvPr/>
        </p:nvSpPr>
        <p:spPr>
          <a:xfrm>
            <a:off x="7818120" y="3108960"/>
            <a:ext cx="411480" cy="731520"/>
          </a:xfrm>
          <a:prstGeom prst="rect">
            <a:avLst/>
          </a:prstGeom>
          <a:noFill/>
        </p:spPr>
        <p:txBody>
          <a:bodyPr wrap="square" lIns="0" rIns="0" tIns="0" bIns="0" anchor="ctr">
            <a:spAutoFit/>
          </a:bodyPr>
          <a:lstStyle/>
          <a:p>
            <a:pPr algn="ctr">
              <a:spcAft>
                <a:spcPts val="400"/>
              </a:spcAft>
            </a:pPr>
            <a:r>
              <a:rPr sz="4000" b="1">
                <a:solidFill>
                  <a:srgbClr val="A39A90"/>
                </a:solidFill>
                <a:latin typeface="Calibri"/>
              </a:rPr>
              <a:t>=</a:t>
            </a:r>
          </a:p>
        </p:txBody>
      </p:sp>
      <p:sp>
        <p:nvSpPr>
          <p:cNvPr id="14" name="Rounded Rectangle 13"/>
          <p:cNvSpPr/>
          <p:nvPr/>
        </p:nvSpPr>
        <p:spPr>
          <a:xfrm>
            <a:off x="8321040" y="1645920"/>
            <a:ext cx="3291840" cy="361188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965960"/>
            <a:ext cx="3291840" cy="822960"/>
          </a:xfrm>
          <a:prstGeom prst="rect">
            <a:avLst/>
          </a:prstGeom>
          <a:noFill/>
        </p:spPr>
        <p:txBody>
          <a:bodyPr wrap="square" lIns="0" rIns="0" tIns="0" bIns="0" anchor="t">
            <a:spAutoFit/>
          </a:bodyPr>
          <a:lstStyle/>
          <a:p>
            <a:pPr algn="ctr">
              <a:spcAft>
                <a:spcPts val="400"/>
              </a:spcAft>
            </a:pPr>
            <a:r>
              <a:rPr sz="4000" b="1">
                <a:solidFill>
                  <a:srgbClr val="F2EDE6"/>
                </a:solidFill>
                <a:latin typeface="Cambria"/>
              </a:rPr>
              <a:t>DCGAN</a:t>
            </a:r>
          </a:p>
        </p:txBody>
      </p:sp>
      <p:sp>
        <p:nvSpPr>
          <p:cNvPr id="16" name="Rounded Rectangle 15"/>
          <p:cNvSpPr/>
          <p:nvPr/>
        </p:nvSpPr>
        <p:spPr>
          <a:xfrm>
            <a:off x="8686800" y="3154680"/>
            <a:ext cx="2560320" cy="502920"/>
          </a:xfrm>
          <a:prstGeom prst="roundRect">
            <a:avLst>
              <a:gd name="adj" fmla="val 50000"/>
            </a:avLst>
          </a:prstGeom>
          <a:solidFill>
            <a:srgbClr val="14121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GAN + convolutions</a:t>
            </a:r>
          </a:p>
        </p:txBody>
      </p:sp>
      <p:sp>
        <p:nvSpPr>
          <p:cNvPr id="17" name="Rounded Rectangle 16"/>
          <p:cNvSpPr/>
          <p:nvPr/>
        </p:nvSpPr>
        <p:spPr>
          <a:xfrm>
            <a:off x="8686800" y="3931920"/>
            <a:ext cx="2560320" cy="502920"/>
          </a:xfrm>
          <a:prstGeom prst="roundRect">
            <a:avLst>
              <a:gd name="adj" fmla="val 50000"/>
            </a:avLst>
          </a:prstGeom>
          <a:solidFill>
            <a:srgbClr val="141210"/>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images 64×64</a:t>
            </a:r>
          </a:p>
        </p:txBody>
      </p:sp>
      <p:sp>
        <p:nvSpPr>
          <p:cNvPr id="18" name="Rounded Rectangle 17"/>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20" name="TextBox 19"/>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Un GAN est un type de CNN</a:t>
            </a:r>
          </a:p>
        </p:txBody>
      </p:sp>
      <p:sp>
        <p:nvSpPr>
          <p:cNvPr id="21" name="TextBox 20"/>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Architecture ≠ méthode : le DCGAN combine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Q13</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Les familles de modèles génératifs</a:t>
            </a:r>
          </a:p>
        </p:txBody>
      </p:sp>
      <p:sp>
        <p:nvSpPr>
          <p:cNvPr id="4" name="Rounded Rectangle 3"/>
          <p:cNvSpPr/>
          <p:nvPr/>
        </p:nvSpPr>
        <p:spPr>
          <a:xfrm>
            <a:off x="4270248" y="1600200"/>
            <a:ext cx="3657600" cy="73152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70248" y="1600200"/>
            <a:ext cx="3657600" cy="731520"/>
          </a:xfrm>
          <a:prstGeom prst="rect">
            <a:avLst/>
          </a:prstGeom>
          <a:noFill/>
        </p:spPr>
        <p:txBody>
          <a:bodyPr wrap="square" lIns="0" rIns="0" tIns="0" bIns="0" anchor="ctr">
            <a:spAutoFit/>
          </a:bodyPr>
          <a:lstStyle/>
          <a:p>
            <a:pPr algn="ctr">
              <a:spcAft>
                <a:spcPts val="0"/>
              </a:spcAft>
            </a:pPr>
            <a:r>
              <a:rPr sz="2000" b="1">
                <a:solidFill>
                  <a:srgbClr val="F2EDE6"/>
                </a:solidFill>
                <a:latin typeface="Calibri"/>
              </a:rPr>
              <a:t>Modèles génératifs</a:t>
            </a:r>
          </a:p>
        </p:txBody>
      </p:sp>
      <p:cxnSp>
        <p:nvCxnSpPr>
          <p:cNvPr id="6" name="Connector 5"/>
          <p:cNvCxnSpPr/>
          <p:nvPr/>
        </p:nvCxnSpPr>
        <p:spPr>
          <a:xfrm flipH="1">
            <a:off x="1783080" y="2331720"/>
            <a:ext cx="4315968" cy="685800"/>
          </a:xfrm>
          <a:prstGeom prst="line">
            <a:avLst/>
          </a:prstGeom>
          <a:ln w="25400">
            <a:solidFill>
              <a:srgbClr val="6E665E"/>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48640" y="3017520"/>
            <a:ext cx="2468880" cy="114300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017520"/>
            <a:ext cx="2468880" cy="1143000"/>
          </a:xfrm>
          <a:prstGeom prst="rect">
            <a:avLst/>
          </a:prstGeom>
          <a:noFill/>
        </p:spPr>
        <p:txBody>
          <a:bodyPr wrap="square" lIns="0" rIns="0" tIns="0" bIns="0" anchor="ctr">
            <a:spAutoFit/>
          </a:bodyPr>
          <a:lstStyle/>
          <a:p>
            <a:pPr algn="ctr">
              <a:spcAft>
                <a:spcPts val="0"/>
              </a:spcAft>
            </a:pPr>
            <a:r>
              <a:rPr sz="2200" b="1">
                <a:solidFill>
                  <a:srgbClr val="F2EDE6"/>
                </a:solidFill>
                <a:latin typeface="Calibri"/>
              </a:rPr>
              <a:t>GAN</a:t>
            </a:r>
          </a:p>
        </p:txBody>
      </p:sp>
      <p:sp>
        <p:nvSpPr>
          <p:cNvPr id="9" name="TextBox 8"/>
          <p:cNvSpPr txBox="1"/>
          <p:nvPr/>
        </p:nvSpPr>
        <p:spPr>
          <a:xfrm>
            <a:off x="548640" y="4251960"/>
            <a:ext cx="2468880" cy="411480"/>
          </a:xfrm>
          <a:prstGeom prst="rect">
            <a:avLst/>
          </a:prstGeom>
          <a:noFill/>
        </p:spPr>
        <p:txBody>
          <a:bodyPr wrap="square" lIns="0" rIns="0" tIns="0" bIns="0" anchor="ctr">
            <a:spAutoFit/>
          </a:bodyPr>
          <a:lstStyle/>
          <a:p>
            <a:pPr algn="ctr">
              <a:spcAft>
                <a:spcPts val="400"/>
              </a:spcAft>
            </a:pPr>
            <a:r>
              <a:rPr sz="1600" b="0">
                <a:solidFill>
                  <a:srgbClr val="A39A90"/>
                </a:solidFill>
                <a:latin typeface="Calibri"/>
              </a:rPr>
              <a:t>notre projet</a:t>
            </a:r>
          </a:p>
        </p:txBody>
      </p:sp>
      <p:cxnSp>
        <p:nvCxnSpPr>
          <p:cNvPr id="10" name="Connector 9"/>
          <p:cNvCxnSpPr/>
          <p:nvPr/>
        </p:nvCxnSpPr>
        <p:spPr>
          <a:xfrm flipH="1">
            <a:off x="4626864" y="2331720"/>
            <a:ext cx="1472184" cy="685800"/>
          </a:xfrm>
          <a:prstGeom prst="line">
            <a:avLst/>
          </a:prstGeom>
          <a:ln w="25400">
            <a:solidFill>
              <a:srgbClr val="6E665E"/>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92424" y="3017520"/>
            <a:ext cx="2468880" cy="11430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92424" y="3017520"/>
            <a:ext cx="2468880" cy="1143000"/>
          </a:xfrm>
          <a:prstGeom prst="rect">
            <a:avLst/>
          </a:prstGeom>
          <a:noFill/>
        </p:spPr>
        <p:txBody>
          <a:bodyPr wrap="square" lIns="0" rIns="0" tIns="0" bIns="0" anchor="ctr">
            <a:spAutoFit/>
          </a:bodyPr>
          <a:lstStyle/>
          <a:p>
            <a:pPr algn="ctr">
              <a:spcAft>
                <a:spcPts val="0"/>
              </a:spcAft>
            </a:pPr>
            <a:r>
              <a:rPr sz="2200" b="1">
                <a:solidFill>
                  <a:srgbClr val="F2EDE6"/>
                </a:solidFill>
                <a:latin typeface="Calibri"/>
              </a:rPr>
              <a:t>VAE</a:t>
            </a:r>
          </a:p>
        </p:txBody>
      </p:sp>
      <p:sp>
        <p:nvSpPr>
          <p:cNvPr id="13" name="TextBox 12"/>
          <p:cNvSpPr txBox="1"/>
          <p:nvPr/>
        </p:nvSpPr>
        <p:spPr>
          <a:xfrm>
            <a:off x="3392424" y="4251960"/>
            <a:ext cx="2468880" cy="411480"/>
          </a:xfrm>
          <a:prstGeom prst="rect">
            <a:avLst/>
          </a:prstGeom>
          <a:noFill/>
        </p:spPr>
        <p:txBody>
          <a:bodyPr wrap="square" lIns="0" rIns="0" tIns="0" bIns="0" anchor="ctr">
            <a:spAutoFit/>
          </a:bodyPr>
          <a:lstStyle/>
          <a:p>
            <a:pPr algn="ctr">
              <a:spcAft>
                <a:spcPts val="400"/>
              </a:spcAft>
            </a:pPr>
            <a:r>
              <a:rPr sz="1600" b="0">
                <a:solidFill>
                  <a:srgbClr val="A39A90"/>
                </a:solidFill>
                <a:latin typeface="Calibri"/>
              </a:rPr>
              <a:t>densité explicite</a:t>
            </a:r>
          </a:p>
        </p:txBody>
      </p:sp>
      <p:cxnSp>
        <p:nvCxnSpPr>
          <p:cNvPr id="14" name="Connector 13"/>
          <p:cNvCxnSpPr/>
          <p:nvPr/>
        </p:nvCxnSpPr>
        <p:spPr>
          <a:xfrm>
            <a:off x="6099048" y="2331720"/>
            <a:ext cx="1371600" cy="685800"/>
          </a:xfrm>
          <a:prstGeom prst="line">
            <a:avLst/>
          </a:prstGeom>
          <a:ln w="25400">
            <a:solidFill>
              <a:srgbClr val="6E665E"/>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36208" y="3017520"/>
            <a:ext cx="2468880" cy="114300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3017520"/>
            <a:ext cx="2468880" cy="1143000"/>
          </a:xfrm>
          <a:prstGeom prst="rect">
            <a:avLst/>
          </a:prstGeom>
          <a:noFill/>
        </p:spPr>
        <p:txBody>
          <a:bodyPr wrap="square" lIns="0" rIns="0" tIns="0" bIns="0" anchor="ctr">
            <a:spAutoFit/>
          </a:bodyPr>
          <a:lstStyle/>
          <a:p>
            <a:pPr algn="ctr">
              <a:spcAft>
                <a:spcPts val="0"/>
              </a:spcAft>
            </a:pPr>
            <a:r>
              <a:rPr sz="2200" b="1">
                <a:solidFill>
                  <a:srgbClr val="F2EDE6"/>
                </a:solidFill>
                <a:latin typeface="Calibri"/>
              </a:rPr>
              <a:t>Diffusion</a:t>
            </a:r>
          </a:p>
        </p:txBody>
      </p:sp>
      <p:sp>
        <p:nvSpPr>
          <p:cNvPr id="17" name="TextBox 16"/>
          <p:cNvSpPr txBox="1"/>
          <p:nvPr/>
        </p:nvSpPr>
        <p:spPr>
          <a:xfrm>
            <a:off x="6236208" y="4251960"/>
            <a:ext cx="2468880" cy="411480"/>
          </a:xfrm>
          <a:prstGeom prst="rect">
            <a:avLst/>
          </a:prstGeom>
          <a:noFill/>
        </p:spPr>
        <p:txBody>
          <a:bodyPr wrap="square" lIns="0" rIns="0" tIns="0" bIns="0" anchor="ctr">
            <a:spAutoFit/>
          </a:bodyPr>
          <a:lstStyle/>
          <a:p>
            <a:pPr algn="ctr">
              <a:spcAft>
                <a:spcPts val="400"/>
              </a:spcAft>
            </a:pPr>
            <a:r>
              <a:rPr sz="1600" b="0">
                <a:solidFill>
                  <a:srgbClr val="A39A90"/>
                </a:solidFill>
                <a:latin typeface="Calibri"/>
              </a:rPr>
              <a:t>DALL-E 2</a:t>
            </a:r>
          </a:p>
        </p:txBody>
      </p:sp>
      <p:cxnSp>
        <p:nvCxnSpPr>
          <p:cNvPr id="18" name="Connector 17"/>
          <p:cNvCxnSpPr/>
          <p:nvPr/>
        </p:nvCxnSpPr>
        <p:spPr>
          <a:xfrm>
            <a:off x="6099048" y="2331720"/>
            <a:ext cx="4215384" cy="685800"/>
          </a:xfrm>
          <a:prstGeom prst="line">
            <a:avLst/>
          </a:prstGeom>
          <a:ln w="25400">
            <a:solidFill>
              <a:srgbClr val="6E665E"/>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079992" y="3017520"/>
            <a:ext cx="2468880" cy="1143000"/>
          </a:xfrm>
          <a:prstGeom prst="roundRect">
            <a:avLst>
              <a:gd name="adj" fmla="val 6000"/>
            </a:avLst>
          </a:prstGeom>
          <a:solidFill>
            <a:srgbClr val="D4A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79992" y="3017520"/>
            <a:ext cx="2468880" cy="1143000"/>
          </a:xfrm>
          <a:prstGeom prst="rect">
            <a:avLst/>
          </a:prstGeom>
          <a:noFill/>
        </p:spPr>
        <p:txBody>
          <a:bodyPr wrap="square" lIns="0" rIns="0" tIns="0" bIns="0" anchor="ctr">
            <a:spAutoFit/>
          </a:bodyPr>
          <a:lstStyle/>
          <a:p>
            <a:pPr algn="ctr">
              <a:spcAft>
                <a:spcPts val="0"/>
              </a:spcAft>
            </a:pPr>
            <a:r>
              <a:rPr sz="2200" b="1">
                <a:solidFill>
                  <a:srgbClr val="141210"/>
                </a:solidFill>
                <a:latin typeface="Calibri"/>
              </a:rPr>
              <a:t>Transformer</a:t>
            </a:r>
          </a:p>
        </p:txBody>
      </p:sp>
      <p:sp>
        <p:nvSpPr>
          <p:cNvPr id="21" name="TextBox 20"/>
          <p:cNvSpPr txBox="1"/>
          <p:nvPr/>
        </p:nvSpPr>
        <p:spPr>
          <a:xfrm>
            <a:off x="9079992" y="4251960"/>
            <a:ext cx="2468880" cy="411480"/>
          </a:xfrm>
          <a:prstGeom prst="rect">
            <a:avLst/>
          </a:prstGeom>
          <a:noFill/>
        </p:spPr>
        <p:txBody>
          <a:bodyPr wrap="square" lIns="0" rIns="0" tIns="0" bIns="0" anchor="ctr">
            <a:spAutoFit/>
          </a:bodyPr>
          <a:lstStyle/>
          <a:p>
            <a:pPr algn="ctr">
              <a:spcAft>
                <a:spcPts val="400"/>
              </a:spcAft>
            </a:pPr>
            <a:r>
              <a:rPr sz="1600" b="1">
                <a:solidFill>
                  <a:srgbClr val="D4A84B"/>
                </a:solidFill>
                <a:latin typeface="Calibri"/>
              </a:rPr>
              <a:t>GPT → ChatGPT</a:t>
            </a:r>
          </a:p>
        </p:txBody>
      </p:sp>
      <p:sp>
        <p:nvSpPr>
          <p:cNvPr id="22" name="TextBox 21"/>
          <p:cNvSpPr txBox="1"/>
          <p:nvPr/>
        </p:nvSpPr>
        <p:spPr>
          <a:xfrm>
            <a:off x="9079992" y="4709160"/>
            <a:ext cx="2468880" cy="411480"/>
          </a:xfrm>
          <a:prstGeom prst="rect">
            <a:avLst/>
          </a:prstGeom>
          <a:noFill/>
        </p:spPr>
        <p:txBody>
          <a:bodyPr wrap="square" lIns="0" rIns="0" tIns="0" bIns="0" anchor="ctr">
            <a:spAutoFit/>
          </a:bodyPr>
          <a:lstStyle/>
          <a:p>
            <a:pPr algn="ctr">
              <a:spcAft>
                <a:spcPts val="400"/>
              </a:spcAft>
            </a:pPr>
            <a:r>
              <a:rPr sz="1500" b="0">
                <a:solidFill>
                  <a:srgbClr val="A39A90"/>
                </a:solidFill>
                <a:latin typeface="Calibri"/>
              </a:rPr>
              <a:t>OpenAI</a:t>
            </a:r>
          </a:p>
        </p:txBody>
      </p:sp>
      <p:sp>
        <p:nvSpPr>
          <p:cNvPr id="23" name="Rounded Rectangle 22"/>
          <p:cNvSpPr/>
          <p:nvPr/>
        </p:nvSpPr>
        <p:spPr>
          <a:xfrm>
            <a:off x="548640" y="5532120"/>
            <a:ext cx="11091672" cy="77724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5687568"/>
            <a:ext cx="1600200" cy="45720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DÉCOUVERTE</a:t>
            </a:r>
          </a:p>
        </p:txBody>
      </p:sp>
      <p:sp>
        <p:nvSpPr>
          <p:cNvPr id="25" name="TextBox 24"/>
          <p:cNvSpPr txBox="1"/>
          <p:nvPr/>
        </p:nvSpPr>
        <p:spPr>
          <a:xfrm>
            <a:off x="2560320" y="5532120"/>
            <a:ext cx="4206240" cy="777240"/>
          </a:xfrm>
          <a:prstGeom prst="rect">
            <a:avLst/>
          </a:prstGeom>
          <a:noFill/>
        </p:spPr>
        <p:txBody>
          <a:bodyPr wrap="square" lIns="0" rIns="0" tIns="0" bIns="0" anchor="ctr">
            <a:spAutoFit/>
          </a:bodyPr>
          <a:lstStyle/>
          <a:p>
            <a:pPr algn="l">
              <a:spcAft>
                <a:spcPts val="400"/>
              </a:spcAft>
            </a:pPr>
            <a:r>
              <a:rPr sz="1600" b="1">
                <a:solidFill>
                  <a:srgbClr val="A39A90"/>
                </a:solidFill>
                <a:latin typeface="Calibri"/>
              </a:rPr>
              <a:t>Intuition : </a:t>
            </a:r>
            <a:r>
              <a:rPr sz="1600" b="1">
                <a:solidFill>
                  <a:srgbClr val="A39A90"/>
                </a:solidFill>
                <a:latin typeface="Calibri"/>
              </a:rPr>
              <a:t>ChatGPT est un GAN</a:t>
            </a:r>
          </a:p>
        </p:txBody>
      </p:sp>
      <p:sp>
        <p:nvSpPr>
          <p:cNvPr id="26" name="TextBox 25"/>
          <p:cNvSpPr txBox="1"/>
          <p:nvPr/>
        </p:nvSpPr>
        <p:spPr>
          <a:xfrm>
            <a:off x="6858000" y="5532120"/>
            <a:ext cx="4663440" cy="777240"/>
          </a:xfrm>
          <a:prstGeom prst="rect">
            <a:avLst/>
          </a:prstGeom>
          <a:noFill/>
        </p:spPr>
        <p:txBody>
          <a:bodyPr wrap="square" lIns="0" rIns="0" tIns="0" bIns="0" anchor="ctr">
            <a:spAutoFit/>
          </a:bodyPr>
          <a:lstStyle/>
          <a:p>
            <a:pPr algn="l">
              <a:spcAft>
                <a:spcPts val="400"/>
              </a:spcAft>
            </a:pPr>
            <a:r>
              <a:rPr sz="1700" b="1">
                <a:solidFill>
                  <a:srgbClr val="D4A84B"/>
                </a:solidFill>
                <a:latin typeface="Calibri"/>
              </a:rPr>
              <a:t>→ </a:t>
            </a:r>
            <a:r>
              <a:rPr sz="1700" b="1">
                <a:solidFill>
                  <a:srgbClr val="F2EDE6"/>
                </a:solidFill>
                <a:latin typeface="Calibri"/>
              </a:rPr>
              <a:t>C'est un transformer (GPT, OpenAI)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Q14–Q15</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Risques et intérêt</a:t>
            </a:r>
          </a:p>
        </p:txBody>
      </p:sp>
      <p:sp>
        <p:nvSpPr>
          <p:cNvPr id="4" name="TextBox 3"/>
          <p:cNvSpPr txBox="1"/>
          <p:nvPr/>
        </p:nvSpPr>
        <p:spPr>
          <a:xfrm>
            <a:off x="548640" y="1645920"/>
            <a:ext cx="548640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Q14 · Dangers</a:t>
            </a:r>
          </a:p>
        </p:txBody>
      </p:sp>
      <p:sp>
        <p:nvSpPr>
          <p:cNvPr id="5" name="Rounded Rectangle 4"/>
          <p:cNvSpPr/>
          <p:nvPr/>
        </p:nvSpPr>
        <p:spPr>
          <a:xfrm>
            <a:off x="548640" y="2286000"/>
            <a:ext cx="2560320" cy="64008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Deepfakes</a:t>
            </a:r>
          </a:p>
        </p:txBody>
      </p:sp>
      <p:sp>
        <p:nvSpPr>
          <p:cNvPr id="6" name="Rounded Rectangle 5"/>
          <p:cNvSpPr/>
          <p:nvPr/>
        </p:nvSpPr>
        <p:spPr>
          <a:xfrm>
            <a:off x="3291840" y="2286000"/>
            <a:ext cx="2560320" cy="64008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Désinformation</a:t>
            </a:r>
          </a:p>
        </p:txBody>
      </p:sp>
      <p:sp>
        <p:nvSpPr>
          <p:cNvPr id="7" name="Rounded Rectangle 6"/>
          <p:cNvSpPr/>
          <p:nvPr/>
        </p:nvSpPr>
        <p:spPr>
          <a:xfrm>
            <a:off x="548640" y="3154680"/>
            <a:ext cx="256032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Biais</a:t>
            </a:r>
          </a:p>
        </p:txBody>
      </p:sp>
      <p:sp>
        <p:nvSpPr>
          <p:cNvPr id="8" name="Rounded Rectangle 7"/>
          <p:cNvSpPr/>
          <p:nvPr/>
        </p:nvSpPr>
        <p:spPr>
          <a:xfrm>
            <a:off x="3291840" y="3154680"/>
            <a:ext cx="256032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Droits d'auteur</a:t>
            </a:r>
          </a:p>
        </p:txBody>
      </p:sp>
      <p:sp>
        <p:nvSpPr>
          <p:cNvPr id="9" name="Rounded Rectangle 8"/>
          <p:cNvSpPr/>
          <p:nvPr/>
        </p:nvSpPr>
        <p:spPr>
          <a:xfrm>
            <a:off x="548640" y="4023360"/>
            <a:ext cx="256032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Vie privée</a:t>
            </a:r>
          </a:p>
        </p:txBody>
      </p:sp>
      <p:sp>
        <p:nvSpPr>
          <p:cNvPr id="10" name="Rounded Rectangle 9"/>
          <p:cNvSpPr/>
          <p:nvPr/>
        </p:nvSpPr>
        <p:spPr>
          <a:xfrm>
            <a:off x="6400800" y="1645920"/>
            <a:ext cx="5239512" cy="36576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783080"/>
            <a:ext cx="4572000" cy="411480"/>
          </a:xfrm>
          <a:prstGeom prst="rect">
            <a:avLst/>
          </a:prstGeom>
          <a:noFill/>
        </p:spPr>
        <p:txBody>
          <a:bodyPr wrap="square" lIns="0" rIns="0" tIns="0" bIns="0" anchor="ctr">
            <a:spAutoFit/>
          </a:bodyPr>
          <a:lstStyle/>
          <a:p>
            <a:pPr algn="l">
              <a:spcAft>
                <a:spcPts val="400"/>
              </a:spcAft>
            </a:pPr>
            <a:r>
              <a:rPr sz="2200" b="1">
                <a:solidFill>
                  <a:srgbClr val="D4A84B"/>
                </a:solidFill>
                <a:latin typeface="Calibri"/>
              </a:rPr>
              <a:t>Q15 · Pourquoi générer ?</a:t>
            </a:r>
          </a:p>
        </p:txBody>
      </p:sp>
      <p:sp>
        <p:nvSpPr>
          <p:cNvPr id="12" name="Rounded Rectangle 11"/>
          <p:cNvSpPr/>
          <p:nvPr/>
        </p:nvSpPr>
        <p:spPr>
          <a:xfrm>
            <a:off x="6675120" y="2514600"/>
            <a:ext cx="466344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Données rares</a:t>
            </a:r>
          </a:p>
        </p:txBody>
      </p:sp>
      <p:sp>
        <p:nvSpPr>
          <p:cNvPr id="13" name="Rounded Rectangle 12"/>
          <p:cNvSpPr/>
          <p:nvPr/>
        </p:nvSpPr>
        <p:spPr>
          <a:xfrm>
            <a:off x="6675120" y="3291840"/>
            <a:ext cx="466344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Anonymisation</a:t>
            </a:r>
          </a:p>
        </p:txBody>
      </p:sp>
      <p:sp>
        <p:nvSpPr>
          <p:cNvPr id="14" name="Rounded Rectangle 13"/>
          <p:cNvSpPr/>
          <p:nvPr/>
        </p:nvSpPr>
        <p:spPr>
          <a:xfrm>
            <a:off x="6675120" y="4069080"/>
            <a:ext cx="4663440"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Création artistique</a:t>
            </a:r>
          </a:p>
        </p:txBody>
      </p:sp>
      <p:sp>
        <p:nvSpPr>
          <p:cNvPr id="15" name="TextBox 14"/>
          <p:cNvSpPr txBox="1"/>
          <p:nvPr/>
        </p:nvSpPr>
        <p:spPr>
          <a:xfrm>
            <a:off x="6675120" y="4800600"/>
            <a:ext cx="4663440" cy="411480"/>
          </a:xfrm>
          <a:prstGeom prst="rect">
            <a:avLst/>
          </a:prstGeom>
          <a:noFill/>
        </p:spPr>
        <p:txBody>
          <a:bodyPr wrap="square" lIns="0" rIns="0" tIns="0" bIns="0" anchor="ctr">
            <a:spAutoFit/>
          </a:bodyPr>
          <a:lstStyle/>
          <a:p>
            <a:pPr algn="ctr">
              <a:spcAft>
                <a:spcPts val="400"/>
              </a:spcAft>
            </a:pPr>
            <a:r>
              <a:rPr sz="1600" b="0">
                <a:solidFill>
                  <a:srgbClr val="D4A84B"/>
                </a:solidFill>
                <a:latin typeface="Calibri"/>
              </a:rPr>
              <a:t>si le synthétique est signalé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VEILLE · SYNTHÈSE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Ce que notre veille a montré</a:t>
            </a:r>
          </a:p>
        </p:txBody>
      </p:sp>
      <p:sp>
        <p:nvSpPr>
          <p:cNvPr id="4" name="Rounded Rectangle 3"/>
          <p:cNvSpPr/>
          <p:nvPr/>
        </p:nvSpPr>
        <p:spPr>
          <a:xfrm>
            <a:off x="548640" y="1691640"/>
            <a:ext cx="5422392" cy="9144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801368"/>
            <a:ext cx="694944" cy="69494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2EDE6"/>
                </a:solidFill>
                <a:latin typeface="Calibri"/>
              </a:rPr>
              <a:t>Q1</a:t>
            </a:r>
          </a:p>
        </p:txBody>
      </p:sp>
      <p:sp>
        <p:nvSpPr>
          <p:cNvPr id="6" name="TextBox 5"/>
          <p:cNvSpPr txBox="1"/>
          <p:nvPr/>
        </p:nvSpPr>
        <p:spPr>
          <a:xfrm>
            <a:off x="1600200" y="1938528"/>
            <a:ext cx="4206240" cy="411480"/>
          </a:xfrm>
          <a:prstGeom prst="rect">
            <a:avLst/>
          </a:prstGeom>
          <a:noFill/>
        </p:spPr>
        <p:txBody>
          <a:bodyPr wrap="square" lIns="0" rIns="0" tIns="0" bIns="0" anchor="ctr">
            <a:spAutoFit/>
          </a:bodyPr>
          <a:lstStyle/>
          <a:p>
            <a:pPr algn="l">
              <a:spcAft>
                <a:spcPts val="400"/>
              </a:spcAft>
            </a:pPr>
            <a:r>
              <a:rPr sz="1900" b="1">
                <a:solidFill>
                  <a:srgbClr val="F2EDE6"/>
                </a:solidFill>
                <a:latin typeface="Calibri"/>
              </a:rPr>
              <a:t>GAN = créer, pas classer</a:t>
            </a:r>
          </a:p>
        </p:txBody>
      </p:sp>
      <p:sp>
        <p:nvSpPr>
          <p:cNvPr id="7" name="Rounded Rectangle 6"/>
          <p:cNvSpPr/>
          <p:nvPr/>
        </p:nvSpPr>
        <p:spPr>
          <a:xfrm>
            <a:off x="6217920" y="1691640"/>
            <a:ext cx="5422392" cy="9144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0" y="1801368"/>
            <a:ext cx="694944" cy="69494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2EDE6"/>
                </a:solidFill>
                <a:latin typeface="Calibri"/>
              </a:rPr>
              <a:t>Q3</a:t>
            </a:r>
          </a:p>
        </p:txBody>
      </p:sp>
      <p:sp>
        <p:nvSpPr>
          <p:cNvPr id="9" name="TextBox 8"/>
          <p:cNvSpPr txBox="1"/>
          <p:nvPr/>
        </p:nvSpPr>
        <p:spPr>
          <a:xfrm>
            <a:off x="7269480" y="1938528"/>
            <a:ext cx="4206240" cy="411480"/>
          </a:xfrm>
          <a:prstGeom prst="rect">
            <a:avLst/>
          </a:prstGeom>
          <a:noFill/>
        </p:spPr>
        <p:txBody>
          <a:bodyPr wrap="square" lIns="0" rIns="0" tIns="0" bIns="0" anchor="ctr">
            <a:spAutoFit/>
          </a:bodyPr>
          <a:lstStyle/>
          <a:p>
            <a:pPr algn="l">
              <a:spcAft>
                <a:spcPts val="400"/>
              </a:spcAft>
            </a:pPr>
            <a:r>
              <a:rPr sz="1900" b="1">
                <a:solidFill>
                  <a:srgbClr val="F2EDE6"/>
                </a:solidFill>
                <a:latin typeface="Calibri"/>
              </a:rPr>
              <a:t>D discriminant, GAN génératif</a:t>
            </a:r>
          </a:p>
        </p:txBody>
      </p:sp>
      <p:sp>
        <p:nvSpPr>
          <p:cNvPr id="10" name="Rounded Rectangle 9"/>
          <p:cNvSpPr/>
          <p:nvPr/>
        </p:nvSpPr>
        <p:spPr>
          <a:xfrm>
            <a:off x="548640" y="2788920"/>
            <a:ext cx="5422392" cy="9144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31520" y="2898648"/>
            <a:ext cx="694944" cy="69494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2EDE6"/>
                </a:solidFill>
                <a:latin typeface="Calibri"/>
              </a:rPr>
              <a:t>Q5</a:t>
            </a:r>
          </a:p>
        </p:txBody>
      </p:sp>
      <p:sp>
        <p:nvSpPr>
          <p:cNvPr id="12" name="TextBox 11"/>
          <p:cNvSpPr txBox="1"/>
          <p:nvPr/>
        </p:nvSpPr>
        <p:spPr>
          <a:xfrm>
            <a:off x="1600200" y="3035808"/>
            <a:ext cx="4206240" cy="411480"/>
          </a:xfrm>
          <a:prstGeom prst="rect">
            <a:avLst/>
          </a:prstGeom>
          <a:noFill/>
        </p:spPr>
        <p:txBody>
          <a:bodyPr wrap="square" lIns="0" rIns="0" tIns="0" bIns="0" anchor="ctr">
            <a:spAutoFit/>
          </a:bodyPr>
          <a:lstStyle/>
          <a:p>
            <a:pPr algn="l">
              <a:spcAft>
                <a:spcPts val="400"/>
              </a:spcAft>
            </a:pPr>
            <a:r>
              <a:rPr sz="1900" b="1">
                <a:solidFill>
                  <a:srgbClr val="F2EDE6"/>
                </a:solidFill>
                <a:latin typeface="Calibri"/>
              </a:rPr>
              <a:t>Pas de p(x) calculable</a:t>
            </a:r>
          </a:p>
        </p:txBody>
      </p:sp>
      <p:sp>
        <p:nvSpPr>
          <p:cNvPr id="13" name="Rounded Rectangle 12"/>
          <p:cNvSpPr/>
          <p:nvPr/>
        </p:nvSpPr>
        <p:spPr>
          <a:xfrm>
            <a:off x="6217920" y="2788920"/>
            <a:ext cx="5422392" cy="9144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0" y="2898648"/>
            <a:ext cx="694944" cy="69494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2EDE6"/>
                </a:solidFill>
                <a:latin typeface="Calibri"/>
              </a:rPr>
              <a:t>Q6</a:t>
            </a:r>
          </a:p>
        </p:txBody>
      </p:sp>
      <p:sp>
        <p:nvSpPr>
          <p:cNvPr id="15" name="TextBox 14"/>
          <p:cNvSpPr txBox="1"/>
          <p:nvPr/>
        </p:nvSpPr>
        <p:spPr>
          <a:xfrm>
            <a:off x="7269480" y="3035808"/>
            <a:ext cx="4206240" cy="411480"/>
          </a:xfrm>
          <a:prstGeom prst="rect">
            <a:avLst/>
          </a:prstGeom>
          <a:noFill/>
        </p:spPr>
        <p:txBody>
          <a:bodyPr wrap="square" lIns="0" rIns="0" tIns="0" bIns="0" anchor="ctr">
            <a:spAutoFit/>
          </a:bodyPr>
          <a:lstStyle/>
          <a:p>
            <a:pPr algn="l">
              <a:spcAft>
                <a:spcPts val="400"/>
              </a:spcAft>
            </a:pPr>
            <a:r>
              <a:rPr sz="1900" b="1">
                <a:solidFill>
                  <a:srgbClr val="F2EDE6"/>
                </a:solidFill>
                <a:latin typeface="Calibri"/>
              </a:rPr>
              <a:t>On alterne G et D</a:t>
            </a:r>
          </a:p>
        </p:txBody>
      </p:sp>
      <p:sp>
        <p:nvSpPr>
          <p:cNvPr id="16" name="Rounded Rectangle 15"/>
          <p:cNvSpPr/>
          <p:nvPr/>
        </p:nvSpPr>
        <p:spPr>
          <a:xfrm>
            <a:off x="548640" y="3886200"/>
            <a:ext cx="5422392" cy="9144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995928"/>
            <a:ext cx="694944" cy="69494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2EDE6"/>
                </a:solidFill>
                <a:latin typeface="Calibri"/>
              </a:rPr>
              <a:t>Q7·9</a:t>
            </a:r>
          </a:p>
        </p:txBody>
      </p:sp>
      <p:sp>
        <p:nvSpPr>
          <p:cNvPr id="18" name="TextBox 17"/>
          <p:cNvSpPr txBox="1"/>
          <p:nvPr/>
        </p:nvSpPr>
        <p:spPr>
          <a:xfrm>
            <a:off x="1600200" y="4133088"/>
            <a:ext cx="4206240" cy="411480"/>
          </a:xfrm>
          <a:prstGeom prst="rect">
            <a:avLst/>
          </a:prstGeom>
          <a:noFill/>
        </p:spPr>
        <p:txBody>
          <a:bodyPr wrap="square" lIns="0" rIns="0" tIns="0" bIns="0" anchor="ctr">
            <a:spAutoFit/>
          </a:bodyPr>
          <a:lstStyle/>
          <a:p>
            <a:pPr algn="l">
              <a:spcAft>
                <a:spcPts val="400"/>
              </a:spcAft>
            </a:pPr>
            <a:r>
              <a:rPr sz="1900" b="1">
                <a:solidFill>
                  <a:srgbClr val="F2EDE6"/>
                </a:solidFill>
                <a:latin typeface="Calibri"/>
              </a:rPr>
              <a:t>Perte basse ≠ belles images</a:t>
            </a:r>
          </a:p>
        </p:txBody>
      </p:sp>
      <p:sp>
        <p:nvSpPr>
          <p:cNvPr id="19" name="Rounded Rectangle 18"/>
          <p:cNvSpPr/>
          <p:nvPr/>
        </p:nvSpPr>
        <p:spPr>
          <a:xfrm>
            <a:off x="6217920" y="3886200"/>
            <a:ext cx="5422392" cy="9144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400800" y="3995928"/>
            <a:ext cx="694944" cy="69494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2EDE6"/>
                </a:solidFill>
                <a:latin typeface="Calibri"/>
              </a:rPr>
              <a:t>Q12</a:t>
            </a:r>
          </a:p>
        </p:txBody>
      </p:sp>
      <p:sp>
        <p:nvSpPr>
          <p:cNvPr id="21" name="TextBox 20"/>
          <p:cNvSpPr txBox="1"/>
          <p:nvPr/>
        </p:nvSpPr>
        <p:spPr>
          <a:xfrm>
            <a:off x="7269480" y="4133088"/>
            <a:ext cx="4206240" cy="411480"/>
          </a:xfrm>
          <a:prstGeom prst="rect">
            <a:avLst/>
          </a:prstGeom>
          <a:noFill/>
        </p:spPr>
        <p:txBody>
          <a:bodyPr wrap="square" lIns="0" rIns="0" tIns="0" bIns="0" anchor="ctr">
            <a:spAutoFit/>
          </a:bodyPr>
          <a:lstStyle/>
          <a:p>
            <a:pPr algn="l">
              <a:spcAft>
                <a:spcPts val="400"/>
              </a:spcAft>
            </a:pPr>
            <a:r>
              <a:rPr sz="1900" b="1">
                <a:solidFill>
                  <a:srgbClr val="F2EDE6"/>
                </a:solidFill>
                <a:latin typeface="Calibri"/>
              </a:rPr>
              <a:t>Architecture ≠ méthode</a:t>
            </a:r>
          </a:p>
        </p:txBody>
      </p:sp>
      <p:sp>
        <p:nvSpPr>
          <p:cNvPr id="22" name="Rounded Rectangle 21"/>
          <p:cNvSpPr/>
          <p:nvPr/>
        </p:nvSpPr>
        <p:spPr>
          <a:xfrm>
            <a:off x="548640" y="4983480"/>
            <a:ext cx="5422392" cy="9144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31520" y="5093208"/>
            <a:ext cx="694944" cy="694944"/>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2EDE6"/>
                </a:solidFill>
                <a:latin typeface="Calibri"/>
              </a:rPr>
              <a:t>Q13</a:t>
            </a:r>
          </a:p>
        </p:txBody>
      </p:sp>
      <p:sp>
        <p:nvSpPr>
          <p:cNvPr id="24" name="TextBox 23"/>
          <p:cNvSpPr txBox="1"/>
          <p:nvPr/>
        </p:nvSpPr>
        <p:spPr>
          <a:xfrm>
            <a:off x="1600200" y="5230368"/>
            <a:ext cx="4206240" cy="411480"/>
          </a:xfrm>
          <a:prstGeom prst="rect">
            <a:avLst/>
          </a:prstGeom>
          <a:noFill/>
        </p:spPr>
        <p:txBody>
          <a:bodyPr wrap="square" lIns="0" rIns="0" tIns="0" bIns="0" anchor="ctr">
            <a:spAutoFit/>
          </a:bodyPr>
          <a:lstStyle/>
          <a:p>
            <a:pPr algn="l">
              <a:spcAft>
                <a:spcPts val="400"/>
              </a:spcAft>
            </a:pPr>
            <a:r>
              <a:rPr sz="1900" b="1">
                <a:solidFill>
                  <a:srgbClr val="F2EDE6"/>
                </a:solidFill>
                <a:latin typeface="Calibri"/>
              </a:rPr>
              <a:t>ChatGPT n'est pas un GAN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2103120"/>
            <a:ext cx="3657600" cy="1280160"/>
          </a:xfrm>
          <a:prstGeom prst="rect">
            <a:avLst/>
          </a:prstGeom>
          <a:noFill/>
        </p:spPr>
        <p:txBody>
          <a:bodyPr wrap="square" lIns="0" rIns="0" tIns="0" bIns="0" anchor="t">
            <a:spAutoFit/>
          </a:bodyPr>
          <a:lstStyle/>
          <a:p>
            <a:pPr algn="l">
              <a:spcAft>
                <a:spcPts val="400"/>
              </a:spcAft>
            </a:pPr>
            <a:r>
              <a:rPr sz="11000" b="1">
                <a:solidFill>
                  <a:srgbClr val="D4A84B"/>
                </a:solidFill>
                <a:latin typeface="Cambria"/>
              </a:rPr>
              <a:t>02</a:t>
            </a:r>
          </a:p>
        </p:txBody>
      </p:sp>
      <p:sp>
        <p:nvSpPr>
          <p:cNvPr id="3" name="TextBox 2"/>
          <p:cNvSpPr txBox="1"/>
          <p:nvPr/>
        </p:nvSpPr>
        <p:spPr>
          <a:xfrm>
            <a:off x="548640" y="3566160"/>
            <a:ext cx="5943600" cy="822960"/>
          </a:xfrm>
          <a:prstGeom prst="rect">
            <a:avLst/>
          </a:prstGeom>
          <a:noFill/>
        </p:spPr>
        <p:txBody>
          <a:bodyPr wrap="square" lIns="0" rIns="0" tIns="0" bIns="0" anchor="t">
            <a:spAutoFit/>
          </a:bodyPr>
          <a:lstStyle/>
          <a:p>
            <a:pPr algn="l">
              <a:spcAft>
                <a:spcPts val="400"/>
              </a:spcAft>
            </a:pPr>
            <a:r>
              <a:rPr sz="4400" b="1">
                <a:solidFill>
                  <a:srgbClr val="F2EDE6"/>
                </a:solidFill>
                <a:latin typeface="Cambria"/>
              </a:rPr>
              <a:t>Catalogue</a:t>
            </a:r>
          </a:p>
        </p:txBody>
      </p:sp>
      <p:sp>
        <p:nvSpPr>
          <p:cNvPr id="4" name="Rounded Rectangle 3"/>
          <p:cNvSpPr/>
          <p:nvPr/>
        </p:nvSpPr>
        <p:spPr>
          <a:xfrm>
            <a:off x="548640"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52 867 œuvres</a:t>
            </a:r>
          </a:p>
        </p:txBody>
      </p:sp>
      <p:sp>
        <p:nvSpPr>
          <p:cNvPr id="5" name="Rounded Rectangle 4"/>
          <p:cNvSpPr/>
          <p:nvPr/>
        </p:nvSpPr>
        <p:spPr>
          <a:xfrm>
            <a:off x="2423159"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Métadonnées</a:t>
            </a:r>
          </a:p>
        </p:txBody>
      </p:sp>
      <p:sp>
        <p:nvSpPr>
          <p:cNvPr id="6" name="Rounded Rectangle 5"/>
          <p:cNvSpPr/>
          <p:nvPr/>
        </p:nvSpPr>
        <p:spPr>
          <a:xfrm>
            <a:off x="4297678"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Sans images</a:t>
            </a:r>
          </a:p>
        </p:txBody>
      </p:sp>
      <p:pic>
        <p:nvPicPr>
          <p:cNvPr id="7" name="Picture 6" descr="00251.jpg"/>
          <p:cNvPicPr>
            <a:picLocks noChangeAspect="1"/>
          </p:cNvPicPr>
          <p:nvPr/>
        </p:nvPicPr>
        <p:blipFill>
          <a:blip r:embed="rId3"/>
          <a:stretch>
            <a:fillRect/>
          </a:stretch>
        </p:blipFill>
        <p:spPr>
          <a:xfrm>
            <a:off x="7269480" y="1280160"/>
            <a:ext cx="1325880" cy="1325880"/>
          </a:xfrm>
          <a:prstGeom prst="rect">
            <a:avLst/>
          </a:prstGeom>
        </p:spPr>
      </p:pic>
      <p:pic>
        <p:nvPicPr>
          <p:cNvPr id="8" name="Picture 7" descr="01266.jpg"/>
          <p:cNvPicPr>
            <a:picLocks noChangeAspect="1"/>
          </p:cNvPicPr>
          <p:nvPr/>
        </p:nvPicPr>
        <p:blipFill>
          <a:blip r:embed="rId4"/>
          <a:stretch>
            <a:fillRect/>
          </a:stretch>
        </p:blipFill>
        <p:spPr>
          <a:xfrm>
            <a:off x="8686800" y="1280160"/>
            <a:ext cx="1325880" cy="1325880"/>
          </a:xfrm>
          <a:prstGeom prst="rect">
            <a:avLst/>
          </a:prstGeom>
        </p:spPr>
      </p:pic>
      <p:pic>
        <p:nvPicPr>
          <p:cNvPr id="9" name="Picture 8" descr="00664.jpg"/>
          <p:cNvPicPr>
            <a:picLocks noChangeAspect="1"/>
          </p:cNvPicPr>
          <p:nvPr/>
        </p:nvPicPr>
        <p:blipFill>
          <a:blip r:embed="rId5"/>
          <a:stretch>
            <a:fillRect/>
          </a:stretch>
        </p:blipFill>
        <p:spPr>
          <a:xfrm>
            <a:off x="10104120" y="1280160"/>
            <a:ext cx="1325880" cy="1325880"/>
          </a:xfrm>
          <a:prstGeom prst="rect">
            <a:avLst/>
          </a:prstGeom>
        </p:spPr>
      </p:pic>
      <p:pic>
        <p:nvPicPr>
          <p:cNvPr id="10" name="Picture 9" descr="01999.jpg"/>
          <p:cNvPicPr>
            <a:picLocks noChangeAspect="1"/>
          </p:cNvPicPr>
          <p:nvPr/>
        </p:nvPicPr>
        <p:blipFill>
          <a:blip r:embed="rId6"/>
          <a:stretch>
            <a:fillRect/>
          </a:stretch>
        </p:blipFill>
        <p:spPr>
          <a:xfrm>
            <a:off x="7269480" y="2697480"/>
            <a:ext cx="1325880" cy="1325880"/>
          </a:xfrm>
          <a:prstGeom prst="rect">
            <a:avLst/>
          </a:prstGeom>
        </p:spPr>
      </p:pic>
      <p:pic>
        <p:nvPicPr>
          <p:cNvPr id="11" name="Picture 10" descr="01623.jpg"/>
          <p:cNvPicPr>
            <a:picLocks noChangeAspect="1"/>
          </p:cNvPicPr>
          <p:nvPr/>
        </p:nvPicPr>
        <p:blipFill>
          <a:blip r:embed="rId7"/>
          <a:stretch>
            <a:fillRect/>
          </a:stretch>
        </p:blipFill>
        <p:spPr>
          <a:xfrm>
            <a:off x="8686800" y="2697480"/>
            <a:ext cx="1325880" cy="1325880"/>
          </a:xfrm>
          <a:prstGeom prst="rect">
            <a:avLst/>
          </a:prstGeom>
        </p:spPr>
      </p:pic>
      <p:pic>
        <p:nvPicPr>
          <p:cNvPr id="12" name="Picture 11" descr="02091.jpg"/>
          <p:cNvPicPr>
            <a:picLocks noChangeAspect="1"/>
          </p:cNvPicPr>
          <p:nvPr/>
        </p:nvPicPr>
        <p:blipFill>
          <a:blip r:embed="rId8"/>
          <a:stretch>
            <a:fillRect/>
          </a:stretch>
        </p:blipFill>
        <p:spPr>
          <a:xfrm>
            <a:off x="10104120" y="2697480"/>
            <a:ext cx="1325880" cy="1325880"/>
          </a:xfrm>
          <a:prstGeom prst="rect">
            <a:avLst/>
          </a:prstGeom>
        </p:spPr>
      </p:pic>
      <p:pic>
        <p:nvPicPr>
          <p:cNvPr id="13" name="Picture 12" descr="01838.jpg"/>
          <p:cNvPicPr>
            <a:picLocks noChangeAspect="1"/>
          </p:cNvPicPr>
          <p:nvPr/>
        </p:nvPicPr>
        <p:blipFill>
          <a:blip r:embed="rId9"/>
          <a:stretch>
            <a:fillRect/>
          </a:stretch>
        </p:blipFill>
        <p:spPr>
          <a:xfrm>
            <a:off x="7269480" y="4114800"/>
            <a:ext cx="1325880" cy="1325880"/>
          </a:xfrm>
          <a:prstGeom prst="rect">
            <a:avLst/>
          </a:prstGeom>
        </p:spPr>
      </p:pic>
      <p:pic>
        <p:nvPicPr>
          <p:cNvPr id="14" name="Picture 13" descr="01027.jpg"/>
          <p:cNvPicPr>
            <a:picLocks noChangeAspect="1"/>
          </p:cNvPicPr>
          <p:nvPr/>
        </p:nvPicPr>
        <p:blipFill>
          <a:blip r:embed="rId10"/>
          <a:stretch>
            <a:fillRect/>
          </a:stretch>
        </p:blipFill>
        <p:spPr>
          <a:xfrm>
            <a:off x="8686800" y="4114800"/>
            <a:ext cx="1325880" cy="1325880"/>
          </a:xfrm>
          <a:prstGeom prst="rect">
            <a:avLst/>
          </a:prstGeom>
        </p:spPr>
      </p:pic>
      <p:pic>
        <p:nvPicPr>
          <p:cNvPr id="15" name="Picture 14" descr="01090.jpg"/>
          <p:cNvPicPr>
            <a:picLocks noChangeAspect="1"/>
          </p:cNvPicPr>
          <p:nvPr/>
        </p:nvPicPr>
        <p:blipFill>
          <a:blip r:embed="rId11"/>
          <a:stretch>
            <a:fillRect/>
          </a:stretch>
        </p:blipFill>
        <p:spPr>
          <a:xfrm>
            <a:off x="10104120" y="4114800"/>
            <a:ext cx="1325880" cy="13258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CATALOGUE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Les chiffres clés</a:t>
            </a:r>
          </a:p>
        </p:txBody>
      </p:sp>
      <p:sp>
        <p:nvSpPr>
          <p:cNvPr id="4" name="Rounded Rectangle 3"/>
          <p:cNvSpPr/>
          <p:nvPr/>
        </p:nvSpPr>
        <p:spPr>
          <a:xfrm>
            <a:off x="548640" y="169164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2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52 867</a:t>
            </a:r>
          </a:p>
        </p:txBody>
      </p:sp>
      <p:sp>
        <p:nvSpPr>
          <p:cNvPr id="6" name="TextBox 5"/>
          <p:cNvSpPr txBox="1"/>
          <p:nvPr/>
        </p:nvSpPr>
        <p:spPr>
          <a:xfrm>
            <a:off x="548640" y="278892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œuvres</a:t>
            </a:r>
          </a:p>
        </p:txBody>
      </p:sp>
      <p:sp>
        <p:nvSpPr>
          <p:cNvPr id="7" name="Rounded Rectangle 6"/>
          <p:cNvSpPr/>
          <p:nvPr/>
        </p:nvSpPr>
        <p:spPr>
          <a:xfrm>
            <a:off x="3246120" y="169164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46120" y="187452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32 438</a:t>
            </a:r>
          </a:p>
        </p:txBody>
      </p:sp>
      <p:sp>
        <p:nvSpPr>
          <p:cNvPr id="9" name="TextBox 8"/>
          <p:cNvSpPr txBox="1"/>
          <p:nvPr/>
        </p:nvSpPr>
        <p:spPr>
          <a:xfrm>
            <a:off x="3246120" y="278892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peintures</a:t>
            </a:r>
          </a:p>
        </p:txBody>
      </p:sp>
      <p:sp>
        <p:nvSpPr>
          <p:cNvPr id="10" name="Rounded Rectangle 9"/>
          <p:cNvSpPr/>
          <p:nvPr/>
        </p:nvSpPr>
        <p:spPr>
          <a:xfrm>
            <a:off x="548640" y="347472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5760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3 663</a:t>
            </a:r>
          </a:p>
        </p:txBody>
      </p:sp>
      <p:sp>
        <p:nvSpPr>
          <p:cNvPr id="12" name="TextBox 11"/>
          <p:cNvSpPr txBox="1"/>
          <p:nvPr/>
        </p:nvSpPr>
        <p:spPr>
          <a:xfrm>
            <a:off x="548640" y="457200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artistes</a:t>
            </a:r>
          </a:p>
        </p:txBody>
      </p:sp>
      <p:sp>
        <p:nvSpPr>
          <p:cNvPr id="13" name="Rounded Rectangle 12"/>
          <p:cNvSpPr/>
          <p:nvPr/>
        </p:nvSpPr>
        <p:spPr>
          <a:xfrm>
            <a:off x="3246120" y="3474720"/>
            <a:ext cx="2560320" cy="16002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3657600"/>
            <a:ext cx="2560320" cy="868680"/>
          </a:xfrm>
          <a:prstGeom prst="rect">
            <a:avLst/>
          </a:prstGeom>
          <a:noFill/>
        </p:spPr>
        <p:txBody>
          <a:bodyPr wrap="square" lIns="0" rIns="0" tIns="0" bIns="0" anchor="t">
            <a:spAutoFit/>
          </a:bodyPr>
          <a:lstStyle/>
          <a:p>
            <a:pPr algn="ctr">
              <a:spcAft>
                <a:spcPts val="400"/>
              </a:spcAft>
            </a:pPr>
            <a:r>
              <a:rPr sz="4000" b="1">
                <a:solidFill>
                  <a:srgbClr val="D4A84B"/>
                </a:solidFill>
                <a:latin typeface="Cambria"/>
              </a:rPr>
              <a:t>88 %</a:t>
            </a:r>
          </a:p>
        </p:txBody>
      </p:sp>
      <p:sp>
        <p:nvSpPr>
          <p:cNvPr id="15" name="TextBox 14"/>
          <p:cNvSpPr txBox="1"/>
          <p:nvPr/>
        </p:nvSpPr>
        <p:spPr>
          <a:xfrm>
            <a:off x="3246120" y="4572000"/>
            <a:ext cx="256032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datées</a:t>
            </a:r>
          </a:p>
        </p:txBody>
      </p:sp>
      <p:pic>
        <p:nvPicPr>
          <p:cNvPr id="16" name="Picture 15" descr="01_forms.png"/>
          <p:cNvPicPr>
            <a:picLocks noChangeAspect="1"/>
          </p:cNvPicPr>
          <p:nvPr/>
        </p:nvPicPr>
        <p:blipFill>
          <a:blip r:embed="rId3"/>
          <a:stretch>
            <a:fillRect/>
          </a:stretch>
        </p:blipFill>
        <p:spPr>
          <a:xfrm>
            <a:off x="6035040" y="1600200"/>
            <a:ext cx="5577840" cy="3701450"/>
          </a:xfrm>
          <a:prstGeom prst="rect">
            <a:avLst/>
          </a:prstGeom>
        </p:spPr>
      </p:pic>
      <p:sp>
        <p:nvSpPr>
          <p:cNvPr id="17" name="TextBox 16"/>
          <p:cNvSpPr txBox="1"/>
          <p:nvPr/>
        </p:nvSpPr>
        <p:spPr>
          <a:xfrm>
            <a:off x="6035040" y="5347370"/>
            <a:ext cx="55778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Formes d'art du catalogue · notebook 01_eda</a:t>
            </a:r>
          </a:p>
        </p:txBody>
      </p:sp>
      <p:sp>
        <p:nvSpPr>
          <p:cNvPr id="18" name="Rounded Rectangle 17"/>
          <p:cNvSpPr/>
          <p:nvPr/>
        </p:nvSpPr>
        <p:spPr>
          <a:xfrm>
            <a:off x="548640" y="5440680"/>
            <a:ext cx="16916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URL unique</a:t>
            </a:r>
          </a:p>
        </p:txBody>
      </p:sp>
      <p:sp>
        <p:nvSpPr>
          <p:cNvPr id="19" name="Rounded Rectangle 18"/>
          <p:cNvSpPr/>
          <p:nvPr/>
        </p:nvSpPr>
        <p:spPr>
          <a:xfrm>
            <a:off x="2350008" y="5440680"/>
            <a:ext cx="16916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Texte libre</a:t>
            </a:r>
          </a:p>
        </p:txBody>
      </p:sp>
      <p:sp>
        <p:nvSpPr>
          <p:cNvPr id="20" name="Rounded Rectangle 19"/>
          <p:cNvSpPr/>
          <p:nvPr/>
        </p:nvSpPr>
        <p:spPr>
          <a:xfrm>
            <a:off x="4151376" y="5440680"/>
            <a:ext cx="16916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Inconnu = « -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CATALOGUE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Déséquilibre des genres</a:t>
            </a:r>
          </a:p>
        </p:txBody>
      </p:sp>
      <p:pic>
        <p:nvPicPr>
          <p:cNvPr id="4" name="Picture 3" descr="02_types.png"/>
          <p:cNvPicPr>
            <a:picLocks noChangeAspect="1"/>
          </p:cNvPicPr>
          <p:nvPr/>
        </p:nvPicPr>
        <p:blipFill>
          <a:blip r:embed="rId3"/>
          <a:stretch>
            <a:fillRect/>
          </a:stretch>
        </p:blipFill>
        <p:spPr>
          <a:xfrm>
            <a:off x="606287" y="1600200"/>
            <a:ext cx="7474226" cy="4297680"/>
          </a:xfrm>
          <a:prstGeom prst="rect">
            <a:avLst/>
          </a:prstGeom>
        </p:spPr>
      </p:pic>
      <p:sp>
        <p:nvSpPr>
          <p:cNvPr id="5" name="TextBox 4"/>
          <p:cNvSpPr txBox="1"/>
          <p:nvPr/>
        </p:nvSpPr>
        <p:spPr>
          <a:xfrm>
            <a:off x="606287" y="5943600"/>
            <a:ext cx="7474226"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Graphique du notebook 01_eda</a:t>
            </a:r>
          </a:p>
        </p:txBody>
      </p:sp>
      <p:sp>
        <p:nvSpPr>
          <p:cNvPr id="6" name="TextBox 5"/>
          <p:cNvSpPr txBox="1"/>
          <p:nvPr/>
        </p:nvSpPr>
        <p:spPr>
          <a:xfrm>
            <a:off x="8412480" y="2194560"/>
            <a:ext cx="3200400" cy="868680"/>
          </a:xfrm>
          <a:prstGeom prst="rect">
            <a:avLst/>
          </a:prstGeom>
          <a:noFill/>
        </p:spPr>
        <p:txBody>
          <a:bodyPr wrap="square" lIns="0" rIns="0" tIns="0" bIns="0" anchor="t">
            <a:spAutoFit/>
          </a:bodyPr>
          <a:lstStyle/>
          <a:p>
            <a:pPr algn="ctr">
              <a:spcAft>
                <a:spcPts val="400"/>
              </a:spcAft>
            </a:pPr>
            <a:r>
              <a:rPr sz="6000" b="1">
                <a:solidFill>
                  <a:srgbClr val="C0505C"/>
                </a:solidFill>
                <a:latin typeface="Cambria"/>
              </a:rPr>
              <a:t>42 %</a:t>
            </a:r>
          </a:p>
        </p:txBody>
      </p:sp>
      <p:sp>
        <p:nvSpPr>
          <p:cNvPr id="7" name="TextBox 6"/>
          <p:cNvSpPr txBox="1"/>
          <p:nvPr/>
        </p:nvSpPr>
        <p:spPr>
          <a:xfrm>
            <a:off x="8412480" y="3108960"/>
            <a:ext cx="320040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religieux</a:t>
            </a:r>
          </a:p>
        </p:txBody>
      </p:sp>
      <p:sp>
        <p:nvSpPr>
          <p:cNvPr id="8" name="Rounded Rectangle 7"/>
          <p:cNvSpPr/>
          <p:nvPr/>
        </p:nvSpPr>
        <p:spPr>
          <a:xfrm>
            <a:off x="8686800" y="4206240"/>
            <a:ext cx="26517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quotas par genre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CATALOGUE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Écoles et artistes</a:t>
            </a:r>
          </a:p>
        </p:txBody>
      </p:sp>
      <p:pic>
        <p:nvPicPr>
          <p:cNvPr id="4" name="Picture 3" descr="03_schools_artists.png"/>
          <p:cNvPicPr>
            <a:picLocks noChangeAspect="1"/>
          </p:cNvPicPr>
          <p:nvPr/>
        </p:nvPicPr>
        <p:blipFill>
          <a:blip r:embed="rId3"/>
          <a:stretch>
            <a:fillRect/>
          </a:stretch>
        </p:blipFill>
        <p:spPr>
          <a:xfrm>
            <a:off x="1834726" y="1600200"/>
            <a:ext cx="8492068" cy="3931920"/>
          </a:xfrm>
          <a:prstGeom prst="rect">
            <a:avLst/>
          </a:prstGeom>
        </p:spPr>
      </p:pic>
      <p:sp>
        <p:nvSpPr>
          <p:cNvPr id="5" name="TextBox 4"/>
          <p:cNvSpPr txBox="1"/>
          <p:nvPr/>
        </p:nvSpPr>
        <p:spPr>
          <a:xfrm>
            <a:off x="1834726" y="5577840"/>
            <a:ext cx="8492068"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Graphiques du notebook 01_eda</a:t>
            </a:r>
          </a:p>
        </p:txBody>
      </p:sp>
      <p:sp>
        <p:nvSpPr>
          <p:cNvPr id="6" name="Rounded Rectangle 5"/>
          <p:cNvSpPr/>
          <p:nvPr/>
        </p:nvSpPr>
        <p:spPr>
          <a:xfrm>
            <a:off x="548640" y="5989320"/>
            <a:ext cx="3108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Italie : 42 %</a:t>
            </a:r>
          </a:p>
        </p:txBody>
      </p:sp>
      <p:sp>
        <p:nvSpPr>
          <p:cNvPr id="7" name="Rounded Rectangle 6"/>
          <p:cNvSpPr/>
          <p:nvPr/>
        </p:nvSpPr>
        <p:spPr>
          <a:xfrm>
            <a:off x="3840480" y="5989320"/>
            <a:ext cx="347472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30 peintures max / artiste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CATALOGUE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Le genre suit l'époque</a:t>
            </a:r>
          </a:p>
        </p:txBody>
      </p:sp>
      <p:pic>
        <p:nvPicPr>
          <p:cNvPr id="4" name="Picture 3" descr="05_years.png"/>
          <p:cNvPicPr>
            <a:picLocks noChangeAspect="1"/>
          </p:cNvPicPr>
          <p:nvPr/>
        </p:nvPicPr>
        <p:blipFill>
          <a:blip r:embed="rId3"/>
          <a:stretch>
            <a:fillRect/>
          </a:stretch>
        </p:blipFill>
        <p:spPr>
          <a:xfrm>
            <a:off x="548640" y="1600200"/>
            <a:ext cx="5394960" cy="2719214"/>
          </a:xfrm>
          <a:prstGeom prst="rect">
            <a:avLst/>
          </a:prstGeom>
        </p:spPr>
      </p:pic>
      <p:sp>
        <p:nvSpPr>
          <p:cNvPr id="5" name="TextBox 4"/>
          <p:cNvSpPr txBox="1"/>
          <p:nvPr/>
        </p:nvSpPr>
        <p:spPr>
          <a:xfrm>
            <a:off x="548640" y="4365134"/>
            <a:ext cx="539496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Années de création · 01_eda</a:t>
            </a:r>
          </a:p>
        </p:txBody>
      </p:sp>
      <p:pic>
        <p:nvPicPr>
          <p:cNvPr id="6" name="Picture 5" descr="07_type_by_century.png"/>
          <p:cNvPicPr>
            <a:picLocks noChangeAspect="1"/>
          </p:cNvPicPr>
          <p:nvPr/>
        </p:nvPicPr>
        <p:blipFill>
          <a:blip r:embed="rId4"/>
          <a:stretch>
            <a:fillRect/>
          </a:stretch>
        </p:blipFill>
        <p:spPr>
          <a:xfrm>
            <a:off x="6172200" y="1600200"/>
            <a:ext cx="5440680" cy="3463673"/>
          </a:xfrm>
          <a:prstGeom prst="rect">
            <a:avLst/>
          </a:prstGeom>
        </p:spPr>
      </p:pic>
      <p:sp>
        <p:nvSpPr>
          <p:cNvPr id="7" name="TextBox 6"/>
          <p:cNvSpPr txBox="1"/>
          <p:nvPr/>
        </p:nvSpPr>
        <p:spPr>
          <a:xfrm>
            <a:off x="6172200" y="5109593"/>
            <a:ext cx="544068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Genre par siècle · 01_eda</a:t>
            </a:r>
          </a:p>
        </p:txBody>
      </p:sp>
      <p:sp>
        <p:nvSpPr>
          <p:cNvPr id="8" name="Rounded Rectangle 7"/>
          <p:cNvSpPr/>
          <p:nvPr/>
        </p:nvSpPr>
        <p:spPr>
          <a:xfrm>
            <a:off x="548640" y="5989320"/>
            <a:ext cx="32918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3 pics : 1500 · 1650 · 1880</a:t>
            </a:r>
          </a:p>
        </p:txBody>
      </p:sp>
      <p:sp>
        <p:nvSpPr>
          <p:cNvPr id="9" name="Rounded Rectangle 8"/>
          <p:cNvSpPr/>
          <p:nvPr/>
        </p:nvSpPr>
        <p:spPr>
          <a:xfrm>
            <a:off x="6172200" y="5989320"/>
            <a:ext cx="347472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religieux : 99 % → 3 %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CATALOGUE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Techniques et formats</a:t>
            </a:r>
          </a:p>
        </p:txBody>
      </p:sp>
      <p:pic>
        <p:nvPicPr>
          <p:cNvPr id="4" name="Picture 3" descr="06_techniques_ratios.png"/>
          <p:cNvPicPr>
            <a:picLocks noChangeAspect="1"/>
          </p:cNvPicPr>
          <p:nvPr/>
        </p:nvPicPr>
        <p:blipFill>
          <a:blip r:embed="rId3"/>
          <a:stretch>
            <a:fillRect/>
          </a:stretch>
        </p:blipFill>
        <p:spPr>
          <a:xfrm>
            <a:off x="548640" y="1600200"/>
            <a:ext cx="11064240" cy="3259897"/>
          </a:xfrm>
          <a:prstGeom prst="rect">
            <a:avLst/>
          </a:prstGeom>
        </p:spPr>
      </p:pic>
      <p:sp>
        <p:nvSpPr>
          <p:cNvPr id="5" name="TextBox 4"/>
          <p:cNvSpPr txBox="1"/>
          <p:nvPr/>
        </p:nvSpPr>
        <p:spPr>
          <a:xfrm>
            <a:off x="548640" y="4905817"/>
            <a:ext cx="11064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Graphiques du notebook 01_eda</a:t>
            </a:r>
          </a:p>
        </p:txBody>
      </p:sp>
      <p:sp>
        <p:nvSpPr>
          <p:cNvPr id="6" name="Rounded Rectangle 5"/>
          <p:cNvSpPr/>
          <p:nvPr/>
        </p:nvSpPr>
        <p:spPr>
          <a:xfrm>
            <a:off x="548640" y="5989320"/>
            <a:ext cx="3108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Fresques exclues</a:t>
            </a:r>
          </a:p>
        </p:txBody>
      </p:sp>
      <p:sp>
        <p:nvSpPr>
          <p:cNvPr id="7" name="Rounded Rectangle 6"/>
          <p:cNvSpPr/>
          <p:nvPr/>
        </p:nvSpPr>
        <p:spPr>
          <a:xfrm>
            <a:off x="3840480" y="5989320"/>
            <a:ext cx="347472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carré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CATALOGUE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Quatre découvertes dans les données</a:t>
            </a:r>
          </a:p>
        </p:txBody>
      </p:sp>
      <p:sp>
        <p:nvSpPr>
          <p:cNvPr id="4" name="Rounded Rectangle 3"/>
          <p:cNvSpPr/>
          <p:nvPr/>
        </p:nvSpPr>
        <p:spPr>
          <a:xfrm>
            <a:off x="548640"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15 %</a:t>
            </a:r>
          </a:p>
        </p:txBody>
      </p:sp>
      <p:sp>
        <p:nvSpPr>
          <p:cNvPr id="6" name="TextBox 5"/>
          <p:cNvSpPr txBox="1"/>
          <p:nvPr/>
        </p:nvSpPr>
        <p:spPr>
          <a:xfrm>
            <a:off x="548640"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détails</a:t>
            </a:r>
          </a:p>
        </p:txBody>
      </p:sp>
      <p:sp>
        <p:nvSpPr>
          <p:cNvPr id="7" name="Rounded Rectangle 6"/>
          <p:cNvSpPr/>
          <p:nvPr/>
        </p:nvSpPr>
        <p:spPr>
          <a:xfrm>
            <a:off x="868680"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exclus</a:t>
            </a:r>
          </a:p>
        </p:txBody>
      </p:sp>
      <p:sp>
        <p:nvSpPr>
          <p:cNvPr id="8" name="Rounded Rectangle 7"/>
          <p:cNvSpPr/>
          <p:nvPr/>
        </p:nvSpPr>
        <p:spPr>
          <a:xfrm>
            <a:off x="3364992"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14 %</a:t>
            </a:r>
          </a:p>
        </p:txBody>
      </p:sp>
      <p:sp>
        <p:nvSpPr>
          <p:cNvPr id="10" name="TextBox 9"/>
          <p:cNvSpPr txBox="1"/>
          <p:nvPr/>
        </p:nvSpPr>
        <p:spPr>
          <a:xfrm>
            <a:off x="3364992"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fresques</a:t>
            </a:r>
          </a:p>
        </p:txBody>
      </p:sp>
      <p:sp>
        <p:nvSpPr>
          <p:cNvPr id="11" name="Rounded Rectangle 10"/>
          <p:cNvSpPr/>
          <p:nvPr/>
        </p:nvSpPr>
        <p:spPr>
          <a:xfrm>
            <a:off x="3685032"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exclues</a:t>
            </a:r>
          </a:p>
        </p:txBody>
      </p:sp>
      <p:sp>
        <p:nvSpPr>
          <p:cNvPr id="12" name="Rounded Rectangle 11"/>
          <p:cNvSpPr/>
          <p:nvPr/>
        </p:nvSpPr>
        <p:spPr>
          <a:xfrm>
            <a:off x="6181344"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18 %</a:t>
            </a:r>
          </a:p>
        </p:txBody>
      </p:sp>
      <p:sp>
        <p:nvSpPr>
          <p:cNvPr id="14" name="TextBox 13"/>
          <p:cNvSpPr txBox="1"/>
          <p:nvPr/>
        </p:nvSpPr>
        <p:spPr>
          <a:xfrm>
            <a:off x="6181344"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dates incohérentes</a:t>
            </a:r>
          </a:p>
        </p:txBody>
      </p:sp>
      <p:sp>
        <p:nvSpPr>
          <p:cNvPr id="15" name="Rounded Rectangle 14"/>
          <p:cNvSpPr/>
          <p:nvPr/>
        </p:nvSpPr>
        <p:spPr>
          <a:xfrm>
            <a:off x="6501384"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DATE</a:t>
            </a:r>
          </a:p>
        </p:txBody>
      </p:sp>
      <p:sp>
        <p:nvSpPr>
          <p:cNvPr id="16" name="Rounded Rectangle 15"/>
          <p:cNvSpPr/>
          <p:nvPr/>
        </p:nvSpPr>
        <p:spPr>
          <a:xfrm>
            <a:off x="8997696" y="1783080"/>
            <a:ext cx="2606040" cy="4297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7696" y="2286000"/>
            <a:ext cx="2606040" cy="868680"/>
          </a:xfrm>
          <a:prstGeom prst="rect">
            <a:avLst/>
          </a:prstGeom>
          <a:noFill/>
        </p:spPr>
        <p:txBody>
          <a:bodyPr wrap="square" lIns="0" rIns="0" tIns="0" bIns="0" anchor="t">
            <a:spAutoFit/>
          </a:bodyPr>
          <a:lstStyle/>
          <a:p>
            <a:pPr algn="ctr">
              <a:spcAft>
                <a:spcPts val="400"/>
              </a:spcAft>
            </a:pPr>
            <a:r>
              <a:rPr sz="5000" b="1">
                <a:solidFill>
                  <a:srgbClr val="D4A84B"/>
                </a:solidFill>
                <a:latin typeface="Cambria"/>
              </a:rPr>
              <a:t>0,85</a:t>
            </a:r>
          </a:p>
        </p:txBody>
      </p:sp>
      <p:sp>
        <p:nvSpPr>
          <p:cNvPr id="18" name="TextBox 17"/>
          <p:cNvSpPr txBox="1"/>
          <p:nvPr/>
        </p:nvSpPr>
        <p:spPr>
          <a:xfrm>
            <a:off x="8997696" y="3200400"/>
            <a:ext cx="26060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ratio médian</a:t>
            </a:r>
          </a:p>
        </p:txBody>
      </p:sp>
      <p:sp>
        <p:nvSpPr>
          <p:cNvPr id="19" name="Rounded Rectangle 18"/>
          <p:cNvSpPr/>
          <p:nvPr/>
        </p:nvSpPr>
        <p:spPr>
          <a:xfrm>
            <a:off x="9317736" y="4572000"/>
            <a:ext cx="1965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carré central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2103120"/>
            <a:ext cx="3657600" cy="1280160"/>
          </a:xfrm>
          <a:prstGeom prst="rect">
            <a:avLst/>
          </a:prstGeom>
          <a:noFill/>
        </p:spPr>
        <p:txBody>
          <a:bodyPr wrap="square" lIns="0" rIns="0" tIns="0" bIns="0" anchor="t">
            <a:spAutoFit/>
          </a:bodyPr>
          <a:lstStyle/>
          <a:p>
            <a:pPr algn="l">
              <a:spcAft>
                <a:spcPts val="400"/>
              </a:spcAft>
            </a:pPr>
            <a:r>
              <a:rPr sz="11000" b="1">
                <a:solidFill>
                  <a:srgbClr val="D4A84B"/>
                </a:solidFill>
                <a:latin typeface="Cambria"/>
              </a:rPr>
              <a:t>03</a:t>
            </a:r>
          </a:p>
        </p:txBody>
      </p:sp>
      <p:sp>
        <p:nvSpPr>
          <p:cNvPr id="3" name="TextBox 2"/>
          <p:cNvSpPr txBox="1"/>
          <p:nvPr/>
        </p:nvSpPr>
        <p:spPr>
          <a:xfrm>
            <a:off x="548640" y="3566160"/>
            <a:ext cx="5943600" cy="822960"/>
          </a:xfrm>
          <a:prstGeom prst="rect">
            <a:avLst/>
          </a:prstGeom>
          <a:noFill/>
        </p:spPr>
        <p:txBody>
          <a:bodyPr wrap="square" lIns="0" rIns="0" tIns="0" bIns="0" anchor="t">
            <a:spAutoFit/>
          </a:bodyPr>
          <a:lstStyle/>
          <a:p>
            <a:pPr algn="l">
              <a:spcAft>
                <a:spcPts val="400"/>
              </a:spcAft>
            </a:pPr>
            <a:r>
              <a:rPr sz="4400" b="1">
                <a:solidFill>
                  <a:srgbClr val="F2EDE6"/>
                </a:solidFill>
                <a:latin typeface="Cambria"/>
              </a:rPr>
              <a:t>Images</a:t>
            </a:r>
          </a:p>
        </p:txBody>
      </p:sp>
      <p:sp>
        <p:nvSpPr>
          <p:cNvPr id="4" name="Rounded Rectangle 3"/>
          <p:cNvSpPr/>
          <p:nvPr/>
        </p:nvSpPr>
        <p:spPr>
          <a:xfrm>
            <a:off x="548640"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Sélection</a:t>
            </a:r>
          </a:p>
        </p:txBody>
      </p:sp>
      <p:sp>
        <p:nvSpPr>
          <p:cNvPr id="5" name="Rounded Rectangle 4"/>
          <p:cNvSpPr/>
          <p:nvPr/>
        </p:nvSpPr>
        <p:spPr>
          <a:xfrm>
            <a:off x="2423159"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Scraping</a:t>
            </a:r>
          </a:p>
        </p:txBody>
      </p:sp>
      <p:sp>
        <p:nvSpPr>
          <p:cNvPr id="6" name="Rounded Rectangle 5"/>
          <p:cNvSpPr/>
          <p:nvPr/>
        </p:nvSpPr>
        <p:spPr>
          <a:xfrm>
            <a:off x="4297678"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Contrôles</a:t>
            </a:r>
          </a:p>
        </p:txBody>
      </p:sp>
      <p:pic>
        <p:nvPicPr>
          <p:cNvPr id="7" name="Picture 6" descr="01550.jpg"/>
          <p:cNvPicPr>
            <a:picLocks noChangeAspect="1"/>
          </p:cNvPicPr>
          <p:nvPr/>
        </p:nvPicPr>
        <p:blipFill>
          <a:blip r:embed="rId3"/>
          <a:stretch>
            <a:fillRect/>
          </a:stretch>
        </p:blipFill>
        <p:spPr>
          <a:xfrm>
            <a:off x="7269480" y="1280160"/>
            <a:ext cx="1325880" cy="1325880"/>
          </a:xfrm>
          <a:prstGeom prst="rect">
            <a:avLst/>
          </a:prstGeom>
        </p:spPr>
      </p:pic>
      <p:pic>
        <p:nvPicPr>
          <p:cNvPr id="8" name="Picture 7" descr="00038.jpg"/>
          <p:cNvPicPr>
            <a:picLocks noChangeAspect="1"/>
          </p:cNvPicPr>
          <p:nvPr/>
        </p:nvPicPr>
        <p:blipFill>
          <a:blip r:embed="rId4"/>
          <a:stretch>
            <a:fillRect/>
          </a:stretch>
        </p:blipFill>
        <p:spPr>
          <a:xfrm>
            <a:off x="8686800" y="1280160"/>
            <a:ext cx="1325880" cy="1325880"/>
          </a:xfrm>
          <a:prstGeom prst="rect">
            <a:avLst/>
          </a:prstGeom>
        </p:spPr>
      </p:pic>
      <p:pic>
        <p:nvPicPr>
          <p:cNvPr id="9" name="Picture 8" descr="00558.jpg"/>
          <p:cNvPicPr>
            <a:picLocks noChangeAspect="1"/>
          </p:cNvPicPr>
          <p:nvPr/>
        </p:nvPicPr>
        <p:blipFill>
          <a:blip r:embed="rId5"/>
          <a:stretch>
            <a:fillRect/>
          </a:stretch>
        </p:blipFill>
        <p:spPr>
          <a:xfrm>
            <a:off x="10104120" y="1280160"/>
            <a:ext cx="1325880" cy="1325880"/>
          </a:xfrm>
          <a:prstGeom prst="rect">
            <a:avLst/>
          </a:prstGeom>
        </p:spPr>
      </p:pic>
      <p:pic>
        <p:nvPicPr>
          <p:cNvPr id="10" name="Picture 9" descr="01838.jpg"/>
          <p:cNvPicPr>
            <a:picLocks noChangeAspect="1"/>
          </p:cNvPicPr>
          <p:nvPr/>
        </p:nvPicPr>
        <p:blipFill>
          <a:blip r:embed="rId6"/>
          <a:stretch>
            <a:fillRect/>
          </a:stretch>
        </p:blipFill>
        <p:spPr>
          <a:xfrm>
            <a:off x="7269480" y="2697480"/>
            <a:ext cx="1325880" cy="1325880"/>
          </a:xfrm>
          <a:prstGeom prst="rect">
            <a:avLst/>
          </a:prstGeom>
        </p:spPr>
      </p:pic>
      <p:pic>
        <p:nvPicPr>
          <p:cNvPr id="11" name="Picture 10" descr="00919.jpg"/>
          <p:cNvPicPr>
            <a:picLocks noChangeAspect="1"/>
          </p:cNvPicPr>
          <p:nvPr/>
        </p:nvPicPr>
        <p:blipFill>
          <a:blip r:embed="rId7"/>
          <a:stretch>
            <a:fillRect/>
          </a:stretch>
        </p:blipFill>
        <p:spPr>
          <a:xfrm>
            <a:off x="8686800" y="2697480"/>
            <a:ext cx="1325880" cy="1325880"/>
          </a:xfrm>
          <a:prstGeom prst="rect">
            <a:avLst/>
          </a:prstGeom>
        </p:spPr>
      </p:pic>
      <p:pic>
        <p:nvPicPr>
          <p:cNvPr id="12" name="Picture 11" descr="01623.jpg"/>
          <p:cNvPicPr>
            <a:picLocks noChangeAspect="1"/>
          </p:cNvPicPr>
          <p:nvPr/>
        </p:nvPicPr>
        <p:blipFill>
          <a:blip r:embed="rId8"/>
          <a:stretch>
            <a:fillRect/>
          </a:stretch>
        </p:blipFill>
        <p:spPr>
          <a:xfrm>
            <a:off x="10104120" y="2697480"/>
            <a:ext cx="1325880" cy="1325880"/>
          </a:xfrm>
          <a:prstGeom prst="rect">
            <a:avLst/>
          </a:prstGeom>
        </p:spPr>
      </p:pic>
      <p:pic>
        <p:nvPicPr>
          <p:cNvPr id="13" name="Picture 12" descr="01771.jpg"/>
          <p:cNvPicPr>
            <a:picLocks noChangeAspect="1"/>
          </p:cNvPicPr>
          <p:nvPr/>
        </p:nvPicPr>
        <p:blipFill>
          <a:blip r:embed="rId9"/>
          <a:stretch>
            <a:fillRect/>
          </a:stretch>
        </p:blipFill>
        <p:spPr>
          <a:xfrm>
            <a:off x="7269480" y="4114800"/>
            <a:ext cx="1325880" cy="1325880"/>
          </a:xfrm>
          <a:prstGeom prst="rect">
            <a:avLst/>
          </a:prstGeom>
        </p:spPr>
      </p:pic>
      <p:pic>
        <p:nvPicPr>
          <p:cNvPr id="14" name="Picture 13" descr="01995.jpg"/>
          <p:cNvPicPr>
            <a:picLocks noChangeAspect="1"/>
          </p:cNvPicPr>
          <p:nvPr/>
        </p:nvPicPr>
        <p:blipFill>
          <a:blip r:embed="rId10"/>
          <a:stretch>
            <a:fillRect/>
          </a:stretch>
        </p:blipFill>
        <p:spPr>
          <a:xfrm>
            <a:off x="8686800" y="4114800"/>
            <a:ext cx="1325880" cy="1325880"/>
          </a:xfrm>
          <a:prstGeom prst="rect">
            <a:avLst/>
          </a:prstGeom>
        </p:spPr>
      </p:pic>
      <p:pic>
        <p:nvPicPr>
          <p:cNvPr id="15" name="Picture 14" descr="01082.jpg"/>
          <p:cNvPicPr>
            <a:picLocks noChangeAspect="1"/>
          </p:cNvPicPr>
          <p:nvPr/>
        </p:nvPicPr>
        <p:blipFill>
          <a:blip r:embed="rId11"/>
          <a:stretch>
            <a:fillRect/>
          </a:stretch>
        </p:blipFill>
        <p:spPr>
          <a:xfrm>
            <a:off x="10104120" y="4114800"/>
            <a:ext cx="1325880" cy="1325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8 000 peintures équilibrées</a:t>
            </a:r>
          </a:p>
        </p:txBody>
      </p:sp>
      <p:sp>
        <p:nvSpPr>
          <p:cNvPr id="4" name="Rounded Rectangle 3"/>
          <p:cNvSpPr/>
          <p:nvPr/>
        </p:nvSpPr>
        <p:spPr>
          <a:xfrm>
            <a:off x="548640" y="1645920"/>
            <a:ext cx="192024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2000" b="1">
                <a:solidFill>
                  <a:srgbClr val="F2EDE6"/>
                </a:solidFill>
                <a:latin typeface="Calibri"/>
              </a:rPr>
              <a:t>32 438</a:t>
            </a:r>
          </a:p>
        </p:txBody>
      </p:sp>
      <p:sp>
        <p:nvSpPr>
          <p:cNvPr id="5" name="Right Arrow 4"/>
          <p:cNvSpPr/>
          <p:nvPr/>
        </p:nvSpPr>
        <p:spPr>
          <a:xfrm>
            <a:off x="2514600" y="1828800"/>
            <a:ext cx="27432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34640" y="1645920"/>
            <a:ext cx="192024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2000" b="1">
                <a:solidFill>
                  <a:srgbClr val="F2EDE6"/>
                </a:solidFill>
                <a:latin typeface="Calibri"/>
              </a:rPr>
              <a:t>27 451</a:t>
            </a:r>
          </a:p>
        </p:txBody>
      </p:sp>
      <p:sp>
        <p:nvSpPr>
          <p:cNvPr id="7" name="Right Arrow 6"/>
          <p:cNvSpPr/>
          <p:nvPr/>
        </p:nvSpPr>
        <p:spPr>
          <a:xfrm>
            <a:off x="4800600" y="1828800"/>
            <a:ext cx="27432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120640" y="1645920"/>
            <a:ext cx="192024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2000" b="1">
                <a:solidFill>
                  <a:srgbClr val="F2EDE6"/>
                </a:solidFill>
                <a:latin typeface="Calibri"/>
              </a:rPr>
              <a:t>24 379</a:t>
            </a:r>
          </a:p>
        </p:txBody>
      </p:sp>
      <p:sp>
        <p:nvSpPr>
          <p:cNvPr id="9" name="Right Arrow 8"/>
          <p:cNvSpPr/>
          <p:nvPr/>
        </p:nvSpPr>
        <p:spPr>
          <a:xfrm>
            <a:off x="7086600" y="1828800"/>
            <a:ext cx="27432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06640" y="1645920"/>
            <a:ext cx="192024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2000" b="1">
                <a:solidFill>
                  <a:srgbClr val="F2EDE6"/>
                </a:solidFill>
                <a:latin typeface="Calibri"/>
              </a:rPr>
              <a:t>23 228</a:t>
            </a:r>
          </a:p>
        </p:txBody>
      </p:sp>
      <p:sp>
        <p:nvSpPr>
          <p:cNvPr id="11" name="Right Arrow 10"/>
          <p:cNvSpPr/>
          <p:nvPr/>
        </p:nvSpPr>
        <p:spPr>
          <a:xfrm>
            <a:off x="9372600" y="1828800"/>
            <a:ext cx="274320" cy="274320"/>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692640" y="1645920"/>
            <a:ext cx="1920240" cy="64008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2000" b="1">
                <a:solidFill>
                  <a:srgbClr val="F2EDE6"/>
                </a:solidFill>
                <a:latin typeface="Calibri"/>
              </a:rPr>
              <a:t>8 000</a:t>
            </a:r>
          </a:p>
        </p:txBody>
      </p:sp>
      <p:pic>
        <p:nvPicPr>
          <p:cNvPr id="13" name="Picture 12" descr="01_selection_vs_catalogue.png"/>
          <p:cNvPicPr>
            <a:picLocks noChangeAspect="1"/>
          </p:cNvPicPr>
          <p:nvPr/>
        </p:nvPicPr>
        <p:blipFill>
          <a:blip r:embed="rId3"/>
          <a:stretch>
            <a:fillRect/>
          </a:stretch>
        </p:blipFill>
        <p:spPr>
          <a:xfrm>
            <a:off x="778394" y="2560320"/>
            <a:ext cx="10604732" cy="3474719"/>
          </a:xfrm>
          <a:prstGeom prst="rect">
            <a:avLst/>
          </a:prstGeom>
        </p:spPr>
      </p:pic>
      <p:sp>
        <p:nvSpPr>
          <p:cNvPr id="14" name="TextBox 13"/>
          <p:cNvSpPr txBox="1"/>
          <p:nvPr/>
        </p:nvSpPr>
        <p:spPr>
          <a:xfrm>
            <a:off x="778394" y="6080759"/>
            <a:ext cx="10604732"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Catalogue vs sélection · notebook 02_dataset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scraping reprenable</a:t>
            </a:r>
          </a:p>
        </p:txBody>
      </p:sp>
      <p:sp>
        <p:nvSpPr>
          <p:cNvPr id="4" name="Rounded Rectangle 3"/>
          <p:cNvSpPr/>
          <p:nvPr/>
        </p:nvSpPr>
        <p:spPr>
          <a:xfrm>
            <a:off x="548640" y="1645920"/>
            <a:ext cx="6675120" cy="3108960"/>
          </a:xfrm>
          <a:prstGeom prst="roundRect">
            <a:avLst>
              <a:gd name="adj" fmla="val 6000"/>
            </a:avLst>
          </a:prstGeom>
          <a:solidFill>
            <a:srgbClr val="0B0A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6217920" cy="274320"/>
          </a:xfrm>
          <a:prstGeom prst="rect">
            <a:avLst/>
          </a:prstGeom>
          <a:noFill/>
        </p:spPr>
        <p:txBody>
          <a:bodyPr wrap="square" lIns="0" rIns="0" tIns="0" bIns="0" anchor="t">
            <a:spAutoFit/>
          </a:bodyPr>
          <a:lstStyle/>
          <a:p>
            <a:pPr algn="l">
              <a:spcAft>
                <a:spcPts val="400"/>
              </a:spcAft>
            </a:pPr>
            <a:r>
              <a:rPr sz="1200" b="0">
                <a:solidFill>
                  <a:srgbClr val="D4A84B"/>
                </a:solidFill>
                <a:latin typeface="Consolas"/>
              </a:rPr>
              <a:t>data/processed/download.log</a:t>
            </a:r>
          </a:p>
        </p:txBody>
      </p:sp>
      <p:sp>
        <p:nvSpPr>
          <p:cNvPr id="6" name="TextBox 5"/>
          <p:cNvSpPr txBox="1"/>
          <p:nvPr/>
        </p:nvSpPr>
        <p:spPr>
          <a:xfrm>
            <a:off x="777240" y="2148840"/>
            <a:ext cx="6217920" cy="2468880"/>
          </a:xfrm>
          <a:prstGeom prst="rect">
            <a:avLst/>
          </a:prstGeom>
          <a:noFill/>
        </p:spPr>
        <p:txBody>
          <a:bodyPr wrap="square" lIns="0" rIns="0" tIns="0" bIns="0" anchor="t">
            <a:spAutoFit/>
          </a:bodyPr>
          <a:lstStyle/>
          <a:p>
            <a:pPr algn="l">
              <a:spcAft>
                <a:spcPts val="100"/>
              </a:spcAft>
            </a:pPr>
            <a:r>
              <a:rPr sz="900" b="0">
                <a:solidFill>
                  <a:srgbClr val="F2EDE6"/>
                </a:solidFill>
                <a:latin typeface="Consolas"/>
              </a:rPr>
              <a:t>7875/7961 (0.7 img/s) {'processed': 6686, 'failed': 1149, 'pending': 86, 'skipped': 79}</a:t>
            </a:r>
          </a:p>
          <a:p>
            <a:pPr algn="l">
              <a:spcAft>
                <a:spcPts val="100"/>
              </a:spcAft>
            </a:pPr>
            <a:r>
              <a:rPr sz="900" b="0">
                <a:solidFill>
                  <a:srgbClr val="F2EDE6"/>
                </a:solidFill>
                <a:latin typeface="Consolas"/>
              </a:rPr>
              <a:t>7900/7961 (0.7 img/s) {'processed': 6711, 'failed': 1149, 'skipped': 79, 'pending': 61}</a:t>
            </a:r>
          </a:p>
          <a:p>
            <a:pPr algn="l">
              <a:spcAft>
                <a:spcPts val="100"/>
              </a:spcAft>
            </a:pPr>
            <a:r>
              <a:rPr sz="900" b="0">
                <a:solidFill>
                  <a:srgbClr val="F2EDE6"/>
                </a:solidFill>
                <a:latin typeface="Consolas"/>
              </a:rPr>
              <a:t>7925/7961 (0.7 img/s) {'processed': 6733, 'failed': 1151, 'skipped': 80, 'pending': 36}</a:t>
            </a:r>
          </a:p>
          <a:p>
            <a:pPr algn="l">
              <a:spcAft>
                <a:spcPts val="100"/>
              </a:spcAft>
            </a:pPr>
            <a:r>
              <a:rPr sz="900" b="0">
                <a:solidFill>
                  <a:srgbClr val="F2EDE6"/>
                </a:solidFill>
                <a:latin typeface="Consolas"/>
              </a:rPr>
              <a:t>7950/7961 (0.7 img/s) {'processed': 6757, 'failed': 1152, 'skipped': 80, 'pending': 11}</a:t>
            </a:r>
          </a:p>
          <a:p>
            <a:pPr algn="l">
              <a:spcAft>
                <a:spcPts val="100"/>
              </a:spcAft>
            </a:pPr>
            <a:r>
              <a:rPr sz="900" b="0">
                <a:solidFill>
                  <a:srgbClr val="F2EDE6"/>
                </a:solidFill>
                <a:latin typeface="Consolas"/>
              </a:rPr>
              <a:t>Termine : {'processed': 6765, 'failed': 1155, 'skipped': 80}</a:t>
            </a:r>
          </a:p>
          <a:p>
            <a:pPr algn="l">
              <a:spcAft>
                <a:spcPts val="100"/>
              </a:spcAft>
            </a:pPr>
            <a:r>
              <a:rPr sz="900" b="0">
                <a:solidFill>
                  <a:srgbClr val="F2EDE6"/>
                </a:solidFill>
                <a:latin typeface="Consolas"/>
              </a:rPr>
              <a:t>1155 images a traiter (6765 deja traitees)</a:t>
            </a:r>
          </a:p>
          <a:p>
            <a:pPr algn="l">
              <a:spcAft>
                <a:spcPts val="100"/>
              </a:spcAft>
            </a:pPr>
            <a:r>
              <a:rPr sz="900" b="0">
                <a:solidFill>
                  <a:srgbClr val="F2EDE6"/>
                </a:solidFill>
                <a:latin typeface="Consolas"/>
              </a:rPr>
              <a:t>25/1155 (0.1 img/s) {'processed': 6777, 'failed': 1143, 'skipped': 80}</a:t>
            </a:r>
          </a:p>
          <a:p>
            <a:pPr algn="l">
              <a:spcAft>
                <a:spcPts val="100"/>
              </a:spcAft>
            </a:pPr>
            <a:r>
              <a:rPr sz="900" b="0">
                <a:solidFill>
                  <a:srgbClr val="F2EDE6"/>
                </a:solidFill>
                <a:latin typeface="Consolas"/>
              </a:rPr>
              <a:t>50/1155 (0.1 img/s) {'processed': 6779, 'failed': 1141, 'skipped': 80}</a:t>
            </a:r>
          </a:p>
        </p:txBody>
      </p:sp>
      <p:sp>
        <p:nvSpPr>
          <p:cNvPr id="7" name="TextBox 6"/>
          <p:cNvSpPr txBox="1"/>
          <p:nvPr/>
        </p:nvSpPr>
        <p:spPr>
          <a:xfrm>
            <a:off x="7498079" y="1691640"/>
            <a:ext cx="2011680" cy="868680"/>
          </a:xfrm>
          <a:prstGeom prst="rect">
            <a:avLst/>
          </a:prstGeom>
          <a:noFill/>
        </p:spPr>
        <p:txBody>
          <a:bodyPr wrap="square" lIns="0" rIns="0" tIns="0" bIns="0" anchor="t">
            <a:spAutoFit/>
          </a:bodyPr>
          <a:lstStyle/>
          <a:p>
            <a:pPr algn="ctr">
              <a:spcAft>
                <a:spcPts val="400"/>
              </a:spcAft>
            </a:pPr>
            <a:r>
              <a:rPr sz="3600" b="1">
                <a:solidFill>
                  <a:srgbClr val="D4A84B"/>
                </a:solidFill>
                <a:latin typeface="Cambria"/>
              </a:rPr>
              <a:t>6 779</a:t>
            </a:r>
          </a:p>
        </p:txBody>
      </p:sp>
      <p:sp>
        <p:nvSpPr>
          <p:cNvPr id="8" name="TextBox 7"/>
          <p:cNvSpPr txBox="1"/>
          <p:nvPr/>
        </p:nvSpPr>
        <p:spPr>
          <a:xfrm>
            <a:off x="7498079" y="2606040"/>
            <a:ext cx="20116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traitées</a:t>
            </a:r>
          </a:p>
        </p:txBody>
      </p:sp>
      <p:sp>
        <p:nvSpPr>
          <p:cNvPr id="9" name="TextBox 8"/>
          <p:cNvSpPr txBox="1"/>
          <p:nvPr/>
        </p:nvSpPr>
        <p:spPr>
          <a:xfrm>
            <a:off x="9601199" y="1691640"/>
            <a:ext cx="2011680" cy="868680"/>
          </a:xfrm>
          <a:prstGeom prst="rect">
            <a:avLst/>
          </a:prstGeom>
          <a:noFill/>
        </p:spPr>
        <p:txBody>
          <a:bodyPr wrap="square" lIns="0" rIns="0" tIns="0" bIns="0" anchor="t">
            <a:spAutoFit/>
          </a:bodyPr>
          <a:lstStyle/>
          <a:p>
            <a:pPr algn="ctr">
              <a:spcAft>
                <a:spcPts val="400"/>
              </a:spcAft>
            </a:pPr>
            <a:r>
              <a:rPr sz="3600" b="1">
                <a:solidFill>
                  <a:srgbClr val="C0505C"/>
                </a:solidFill>
                <a:latin typeface="Cambria"/>
              </a:rPr>
              <a:t>1 141</a:t>
            </a:r>
          </a:p>
        </p:txBody>
      </p:sp>
      <p:sp>
        <p:nvSpPr>
          <p:cNvPr id="10" name="TextBox 9"/>
          <p:cNvSpPr txBox="1"/>
          <p:nvPr/>
        </p:nvSpPr>
        <p:spPr>
          <a:xfrm>
            <a:off x="9601199" y="2606040"/>
            <a:ext cx="20116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échecs</a:t>
            </a:r>
          </a:p>
        </p:txBody>
      </p:sp>
      <p:sp>
        <p:nvSpPr>
          <p:cNvPr id="11" name="TextBox 10"/>
          <p:cNvSpPr txBox="1"/>
          <p:nvPr/>
        </p:nvSpPr>
        <p:spPr>
          <a:xfrm>
            <a:off x="7498079" y="3291840"/>
            <a:ext cx="2011680" cy="868680"/>
          </a:xfrm>
          <a:prstGeom prst="rect">
            <a:avLst/>
          </a:prstGeom>
          <a:noFill/>
        </p:spPr>
        <p:txBody>
          <a:bodyPr wrap="square" lIns="0" rIns="0" tIns="0" bIns="0" anchor="t">
            <a:spAutoFit/>
          </a:bodyPr>
          <a:lstStyle/>
          <a:p>
            <a:pPr algn="ctr">
              <a:spcAft>
                <a:spcPts val="400"/>
              </a:spcAft>
            </a:pPr>
            <a:r>
              <a:rPr sz="3600" b="1">
                <a:solidFill>
                  <a:srgbClr val="A39A90"/>
                </a:solidFill>
                <a:latin typeface="Cambria"/>
              </a:rPr>
              <a:t>80</a:t>
            </a:r>
          </a:p>
        </p:txBody>
      </p:sp>
      <p:sp>
        <p:nvSpPr>
          <p:cNvPr id="12" name="TextBox 11"/>
          <p:cNvSpPr txBox="1"/>
          <p:nvPr/>
        </p:nvSpPr>
        <p:spPr>
          <a:xfrm>
            <a:off x="7498079" y="4206240"/>
            <a:ext cx="20116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écartées</a:t>
            </a:r>
          </a:p>
        </p:txBody>
      </p:sp>
      <p:sp>
        <p:nvSpPr>
          <p:cNvPr id="13" name="TextBox 12"/>
          <p:cNvSpPr txBox="1"/>
          <p:nvPr/>
        </p:nvSpPr>
        <p:spPr>
          <a:xfrm>
            <a:off x="9601199" y="3291840"/>
            <a:ext cx="2011680" cy="868680"/>
          </a:xfrm>
          <a:prstGeom prst="rect">
            <a:avLst/>
          </a:prstGeom>
          <a:noFill/>
        </p:spPr>
        <p:txBody>
          <a:bodyPr wrap="square" lIns="0" rIns="0" tIns="0" bIns="0" anchor="t">
            <a:spAutoFit/>
          </a:bodyPr>
          <a:lstStyle/>
          <a:p>
            <a:pPr algn="ctr">
              <a:spcAft>
                <a:spcPts val="400"/>
              </a:spcAft>
            </a:pPr>
            <a:r>
              <a:rPr sz="3600" b="1">
                <a:solidFill>
                  <a:srgbClr val="A39A90"/>
                </a:solidFill>
                <a:latin typeface="Cambria"/>
              </a:rPr>
              <a:t>0</a:t>
            </a:r>
          </a:p>
        </p:txBody>
      </p:sp>
      <p:sp>
        <p:nvSpPr>
          <p:cNvPr id="14" name="TextBox 13"/>
          <p:cNvSpPr txBox="1"/>
          <p:nvPr/>
        </p:nvSpPr>
        <p:spPr>
          <a:xfrm>
            <a:off x="9601199" y="4206240"/>
            <a:ext cx="20116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en attente</a:t>
            </a:r>
          </a:p>
        </p:txBody>
      </p:sp>
      <p:sp>
        <p:nvSpPr>
          <p:cNvPr id="15" name="Rounded Rectangle 14"/>
          <p:cNvSpPr/>
          <p:nvPr/>
        </p:nvSpPr>
        <p:spPr>
          <a:xfrm>
            <a:off x="548640" y="5166360"/>
            <a:ext cx="475488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Difficulté : blocage serveur</a:t>
            </a:r>
          </a:p>
        </p:txBody>
      </p:sp>
      <p:sp>
        <p:nvSpPr>
          <p:cNvPr id="16" name="Rounded Rectangle 15"/>
          <p:cNvSpPr/>
          <p:nvPr/>
        </p:nvSpPr>
        <p:spPr>
          <a:xfrm>
            <a:off x="5577840" y="5166360"/>
            <a:ext cx="42062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délai de 45 s par image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Le manifeste, image par image</a:t>
            </a:r>
          </a:p>
        </p:txBody>
      </p:sp>
      <p:sp>
        <p:nvSpPr>
          <p:cNvPr id="4" name="TextBox 3"/>
          <p:cNvSpPr txBox="1"/>
          <p:nvPr/>
        </p:nvSpPr>
        <p:spPr>
          <a:xfrm>
            <a:off x="1417320" y="1645920"/>
            <a:ext cx="2560320" cy="32004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ID</a:t>
            </a:r>
          </a:p>
        </p:txBody>
      </p:sp>
      <p:sp>
        <p:nvSpPr>
          <p:cNvPr id="5" name="TextBox 4"/>
          <p:cNvSpPr txBox="1"/>
          <p:nvPr/>
        </p:nvSpPr>
        <p:spPr>
          <a:xfrm>
            <a:off x="2240280" y="1645920"/>
            <a:ext cx="2560320" cy="32004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ARTISTE</a:t>
            </a:r>
          </a:p>
        </p:txBody>
      </p:sp>
      <p:sp>
        <p:nvSpPr>
          <p:cNvPr id="6" name="TextBox 5"/>
          <p:cNvSpPr txBox="1"/>
          <p:nvPr/>
        </p:nvSpPr>
        <p:spPr>
          <a:xfrm>
            <a:off x="4892040" y="1645920"/>
            <a:ext cx="2560320" cy="32004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TITRE</a:t>
            </a:r>
          </a:p>
        </p:txBody>
      </p:sp>
      <p:sp>
        <p:nvSpPr>
          <p:cNvPr id="7" name="TextBox 6"/>
          <p:cNvSpPr txBox="1"/>
          <p:nvPr/>
        </p:nvSpPr>
        <p:spPr>
          <a:xfrm>
            <a:off x="8092440" y="1645920"/>
            <a:ext cx="2560320" cy="32004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GENRE</a:t>
            </a:r>
          </a:p>
        </p:txBody>
      </p:sp>
      <p:sp>
        <p:nvSpPr>
          <p:cNvPr id="8" name="TextBox 7"/>
          <p:cNvSpPr txBox="1"/>
          <p:nvPr/>
        </p:nvSpPr>
        <p:spPr>
          <a:xfrm>
            <a:off x="9509760" y="1645920"/>
            <a:ext cx="2560320" cy="32004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ENSEMBLE</a:t>
            </a:r>
          </a:p>
        </p:txBody>
      </p:sp>
      <p:sp>
        <p:nvSpPr>
          <p:cNvPr id="9" name="TextBox 8"/>
          <p:cNvSpPr txBox="1"/>
          <p:nvPr/>
        </p:nvSpPr>
        <p:spPr>
          <a:xfrm>
            <a:off x="10515600" y="1645920"/>
            <a:ext cx="2560320" cy="32004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STATUT</a:t>
            </a:r>
          </a:p>
        </p:txBody>
      </p:sp>
      <p:sp>
        <p:nvSpPr>
          <p:cNvPr id="10" name="Rounded Rectangle 9"/>
          <p:cNvSpPr/>
          <p:nvPr/>
        </p:nvSpPr>
        <p:spPr>
          <a:xfrm>
            <a:off x="548640" y="2057400"/>
            <a:ext cx="11091672" cy="713232"/>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0686.jpg"/>
          <p:cNvPicPr>
            <a:picLocks noChangeAspect="1"/>
          </p:cNvPicPr>
          <p:nvPr/>
        </p:nvPicPr>
        <p:blipFill>
          <a:blip r:embed="rId3"/>
          <a:stretch>
            <a:fillRect/>
          </a:stretch>
        </p:blipFill>
        <p:spPr>
          <a:xfrm>
            <a:off x="621792" y="2112264"/>
            <a:ext cx="603504" cy="603504"/>
          </a:xfrm>
          <a:prstGeom prst="rect">
            <a:avLst/>
          </a:prstGeom>
        </p:spPr>
      </p:pic>
      <p:sp>
        <p:nvSpPr>
          <p:cNvPr id="12" name="TextBox 11"/>
          <p:cNvSpPr txBox="1"/>
          <p:nvPr/>
        </p:nvSpPr>
        <p:spPr>
          <a:xfrm>
            <a:off x="1417320" y="2057400"/>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686</a:t>
            </a:r>
          </a:p>
        </p:txBody>
      </p:sp>
      <p:sp>
        <p:nvSpPr>
          <p:cNvPr id="13" name="TextBox 12"/>
          <p:cNvSpPr txBox="1"/>
          <p:nvPr/>
        </p:nvSpPr>
        <p:spPr>
          <a:xfrm>
            <a:off x="2240280" y="2057400"/>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BOL, Ferdinand</a:t>
            </a:r>
          </a:p>
        </p:txBody>
      </p:sp>
      <p:sp>
        <p:nvSpPr>
          <p:cNvPr id="14" name="TextBox 13"/>
          <p:cNvSpPr txBox="1"/>
          <p:nvPr/>
        </p:nvSpPr>
        <p:spPr>
          <a:xfrm>
            <a:off x="4892040" y="2057400"/>
            <a:ext cx="310896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Portrait of a Man</a:t>
            </a:r>
          </a:p>
        </p:txBody>
      </p:sp>
      <p:sp>
        <p:nvSpPr>
          <p:cNvPr id="15" name="TextBox 14"/>
          <p:cNvSpPr txBox="1"/>
          <p:nvPr/>
        </p:nvSpPr>
        <p:spPr>
          <a:xfrm>
            <a:off x="8092440" y="2057400"/>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portrait</a:t>
            </a:r>
          </a:p>
        </p:txBody>
      </p:sp>
      <p:sp>
        <p:nvSpPr>
          <p:cNvPr id="16" name="TextBox 15"/>
          <p:cNvSpPr txBox="1"/>
          <p:nvPr/>
        </p:nvSpPr>
        <p:spPr>
          <a:xfrm>
            <a:off x="9509760" y="2057400"/>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train</a:t>
            </a:r>
          </a:p>
        </p:txBody>
      </p:sp>
      <p:sp>
        <p:nvSpPr>
          <p:cNvPr id="17" name="TextBox 16"/>
          <p:cNvSpPr txBox="1"/>
          <p:nvPr/>
        </p:nvSpPr>
        <p:spPr>
          <a:xfrm>
            <a:off x="10515600" y="2057400"/>
            <a:ext cx="2560320" cy="713232"/>
          </a:xfrm>
          <a:prstGeom prst="rect">
            <a:avLst/>
          </a:prstGeom>
          <a:noFill/>
        </p:spPr>
        <p:txBody>
          <a:bodyPr wrap="square" lIns="0" rIns="0" tIns="0" bIns="0" anchor="ctr">
            <a:spAutoFit/>
          </a:bodyPr>
          <a:lstStyle/>
          <a:p>
            <a:pPr algn="l">
              <a:spcAft>
                <a:spcPts val="400"/>
              </a:spcAft>
            </a:pPr>
            <a:r>
              <a:rPr sz="1400" b="1">
                <a:solidFill>
                  <a:srgbClr val="D4A84B"/>
                </a:solidFill>
                <a:latin typeface="Calibri"/>
              </a:rPr>
              <a:t>processed</a:t>
            </a:r>
          </a:p>
        </p:txBody>
      </p:sp>
      <p:sp>
        <p:nvSpPr>
          <p:cNvPr id="18" name="Rounded Rectangle 17"/>
          <p:cNvSpPr/>
          <p:nvPr/>
        </p:nvSpPr>
        <p:spPr>
          <a:xfrm>
            <a:off x="548640" y="2843784"/>
            <a:ext cx="11091672" cy="713232"/>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00630.jpg"/>
          <p:cNvPicPr>
            <a:picLocks noChangeAspect="1"/>
          </p:cNvPicPr>
          <p:nvPr/>
        </p:nvPicPr>
        <p:blipFill>
          <a:blip r:embed="rId4"/>
          <a:stretch>
            <a:fillRect/>
          </a:stretch>
        </p:blipFill>
        <p:spPr>
          <a:xfrm>
            <a:off x="621792" y="2898648"/>
            <a:ext cx="603504" cy="603504"/>
          </a:xfrm>
          <a:prstGeom prst="rect">
            <a:avLst/>
          </a:prstGeom>
        </p:spPr>
      </p:pic>
      <p:sp>
        <p:nvSpPr>
          <p:cNvPr id="20" name="TextBox 19"/>
          <p:cNvSpPr txBox="1"/>
          <p:nvPr/>
        </p:nvSpPr>
        <p:spPr>
          <a:xfrm>
            <a:off x="1417320" y="2843784"/>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630</a:t>
            </a:r>
          </a:p>
        </p:txBody>
      </p:sp>
      <p:sp>
        <p:nvSpPr>
          <p:cNvPr id="21" name="TextBox 20"/>
          <p:cNvSpPr txBox="1"/>
          <p:nvPr/>
        </p:nvSpPr>
        <p:spPr>
          <a:xfrm>
            <a:off x="2240280" y="2843784"/>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BLOEMEN, Jan Frans van</a:t>
            </a:r>
          </a:p>
        </p:txBody>
      </p:sp>
      <p:sp>
        <p:nvSpPr>
          <p:cNvPr id="22" name="TextBox 21"/>
          <p:cNvSpPr txBox="1"/>
          <p:nvPr/>
        </p:nvSpPr>
        <p:spPr>
          <a:xfrm>
            <a:off x="4892040" y="2843784"/>
            <a:ext cx="310896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Classical Landscape with Figures</a:t>
            </a:r>
          </a:p>
        </p:txBody>
      </p:sp>
      <p:sp>
        <p:nvSpPr>
          <p:cNvPr id="23" name="TextBox 22"/>
          <p:cNvSpPr txBox="1"/>
          <p:nvPr/>
        </p:nvSpPr>
        <p:spPr>
          <a:xfrm>
            <a:off x="8092440" y="2843784"/>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paysage</a:t>
            </a:r>
          </a:p>
        </p:txBody>
      </p:sp>
      <p:sp>
        <p:nvSpPr>
          <p:cNvPr id="24" name="TextBox 23"/>
          <p:cNvSpPr txBox="1"/>
          <p:nvPr/>
        </p:nvSpPr>
        <p:spPr>
          <a:xfrm>
            <a:off x="9509760" y="2843784"/>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eval</a:t>
            </a:r>
          </a:p>
        </p:txBody>
      </p:sp>
      <p:sp>
        <p:nvSpPr>
          <p:cNvPr id="25" name="TextBox 24"/>
          <p:cNvSpPr txBox="1"/>
          <p:nvPr/>
        </p:nvSpPr>
        <p:spPr>
          <a:xfrm>
            <a:off x="10515600" y="2843784"/>
            <a:ext cx="2560320" cy="713232"/>
          </a:xfrm>
          <a:prstGeom prst="rect">
            <a:avLst/>
          </a:prstGeom>
          <a:noFill/>
        </p:spPr>
        <p:txBody>
          <a:bodyPr wrap="square" lIns="0" rIns="0" tIns="0" bIns="0" anchor="ctr">
            <a:spAutoFit/>
          </a:bodyPr>
          <a:lstStyle/>
          <a:p>
            <a:pPr algn="l">
              <a:spcAft>
                <a:spcPts val="400"/>
              </a:spcAft>
            </a:pPr>
            <a:r>
              <a:rPr sz="1400" b="1">
                <a:solidFill>
                  <a:srgbClr val="D4A84B"/>
                </a:solidFill>
                <a:latin typeface="Calibri"/>
              </a:rPr>
              <a:t>processed</a:t>
            </a:r>
          </a:p>
        </p:txBody>
      </p:sp>
      <p:sp>
        <p:nvSpPr>
          <p:cNvPr id="26" name="Rounded Rectangle 25"/>
          <p:cNvSpPr/>
          <p:nvPr/>
        </p:nvSpPr>
        <p:spPr>
          <a:xfrm>
            <a:off x="548640" y="3630168"/>
            <a:ext cx="11091672" cy="713232"/>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00696.jpg"/>
          <p:cNvPicPr>
            <a:picLocks noChangeAspect="1"/>
          </p:cNvPicPr>
          <p:nvPr/>
        </p:nvPicPr>
        <p:blipFill>
          <a:blip r:embed="rId5"/>
          <a:stretch>
            <a:fillRect/>
          </a:stretch>
        </p:blipFill>
        <p:spPr>
          <a:xfrm>
            <a:off x="621792" y="3685032"/>
            <a:ext cx="603504" cy="603504"/>
          </a:xfrm>
          <a:prstGeom prst="rect">
            <a:avLst/>
          </a:prstGeom>
        </p:spPr>
      </p:pic>
      <p:sp>
        <p:nvSpPr>
          <p:cNvPr id="28" name="TextBox 27"/>
          <p:cNvSpPr txBox="1"/>
          <p:nvPr/>
        </p:nvSpPr>
        <p:spPr>
          <a:xfrm>
            <a:off x="1417320" y="3630168"/>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696</a:t>
            </a:r>
          </a:p>
        </p:txBody>
      </p:sp>
      <p:sp>
        <p:nvSpPr>
          <p:cNvPr id="29" name="TextBox 28"/>
          <p:cNvSpPr txBox="1"/>
          <p:nvPr/>
        </p:nvSpPr>
        <p:spPr>
          <a:xfrm>
            <a:off x="2240280" y="3630168"/>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BOLLONGIER, Hans</a:t>
            </a:r>
          </a:p>
        </p:txBody>
      </p:sp>
      <p:sp>
        <p:nvSpPr>
          <p:cNvPr id="30" name="TextBox 29"/>
          <p:cNvSpPr txBox="1"/>
          <p:nvPr/>
        </p:nvSpPr>
        <p:spPr>
          <a:xfrm>
            <a:off x="4892040" y="3630168"/>
            <a:ext cx="310896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Flower Piece</a:t>
            </a:r>
          </a:p>
        </p:txBody>
      </p:sp>
      <p:sp>
        <p:nvSpPr>
          <p:cNvPr id="31" name="TextBox 30"/>
          <p:cNvSpPr txBox="1"/>
          <p:nvPr/>
        </p:nvSpPr>
        <p:spPr>
          <a:xfrm>
            <a:off x="8092440" y="3630168"/>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nature morte</a:t>
            </a:r>
          </a:p>
        </p:txBody>
      </p:sp>
      <p:sp>
        <p:nvSpPr>
          <p:cNvPr id="32" name="TextBox 31"/>
          <p:cNvSpPr txBox="1"/>
          <p:nvPr/>
        </p:nvSpPr>
        <p:spPr>
          <a:xfrm>
            <a:off x="9509760" y="3630168"/>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train</a:t>
            </a:r>
          </a:p>
        </p:txBody>
      </p:sp>
      <p:sp>
        <p:nvSpPr>
          <p:cNvPr id="33" name="TextBox 32"/>
          <p:cNvSpPr txBox="1"/>
          <p:nvPr/>
        </p:nvSpPr>
        <p:spPr>
          <a:xfrm>
            <a:off x="10515600" y="3630168"/>
            <a:ext cx="2560320" cy="713232"/>
          </a:xfrm>
          <a:prstGeom prst="rect">
            <a:avLst/>
          </a:prstGeom>
          <a:noFill/>
        </p:spPr>
        <p:txBody>
          <a:bodyPr wrap="square" lIns="0" rIns="0" tIns="0" bIns="0" anchor="ctr">
            <a:spAutoFit/>
          </a:bodyPr>
          <a:lstStyle/>
          <a:p>
            <a:pPr algn="l">
              <a:spcAft>
                <a:spcPts val="400"/>
              </a:spcAft>
            </a:pPr>
            <a:r>
              <a:rPr sz="1400" b="1">
                <a:solidFill>
                  <a:srgbClr val="D4A84B"/>
                </a:solidFill>
                <a:latin typeface="Calibri"/>
              </a:rPr>
              <a:t>processed</a:t>
            </a:r>
          </a:p>
        </p:txBody>
      </p:sp>
      <p:sp>
        <p:nvSpPr>
          <p:cNvPr id="34" name="Rounded Rectangle 33"/>
          <p:cNvSpPr/>
          <p:nvPr/>
        </p:nvSpPr>
        <p:spPr>
          <a:xfrm>
            <a:off x="548640" y="4416552"/>
            <a:ext cx="11091672" cy="713232"/>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00346.jpg"/>
          <p:cNvPicPr>
            <a:picLocks noChangeAspect="1"/>
          </p:cNvPicPr>
          <p:nvPr/>
        </p:nvPicPr>
        <p:blipFill>
          <a:blip r:embed="rId6"/>
          <a:stretch>
            <a:fillRect/>
          </a:stretch>
        </p:blipFill>
        <p:spPr>
          <a:xfrm>
            <a:off x="621792" y="4471416"/>
            <a:ext cx="603504" cy="603504"/>
          </a:xfrm>
          <a:prstGeom prst="rect">
            <a:avLst/>
          </a:prstGeom>
        </p:spPr>
      </p:pic>
      <p:sp>
        <p:nvSpPr>
          <p:cNvPr id="36" name="TextBox 35"/>
          <p:cNvSpPr txBox="1"/>
          <p:nvPr/>
        </p:nvSpPr>
        <p:spPr>
          <a:xfrm>
            <a:off x="1417320" y="4416552"/>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346</a:t>
            </a:r>
          </a:p>
        </p:txBody>
      </p:sp>
      <p:sp>
        <p:nvSpPr>
          <p:cNvPr id="37" name="TextBox 36"/>
          <p:cNvSpPr txBox="1"/>
          <p:nvPr/>
        </p:nvSpPr>
        <p:spPr>
          <a:xfrm>
            <a:off x="2240280" y="4416552"/>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BASSEN, Bartholomeus van</a:t>
            </a:r>
          </a:p>
        </p:txBody>
      </p:sp>
      <p:sp>
        <p:nvSpPr>
          <p:cNvPr id="38" name="TextBox 37"/>
          <p:cNvSpPr txBox="1"/>
          <p:nvPr/>
        </p:nvSpPr>
        <p:spPr>
          <a:xfrm>
            <a:off x="4892040" y="4416552"/>
            <a:ext cx="310896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Interior of a Gothic Cathedral</a:t>
            </a:r>
          </a:p>
        </p:txBody>
      </p:sp>
      <p:sp>
        <p:nvSpPr>
          <p:cNvPr id="39" name="TextBox 38"/>
          <p:cNvSpPr txBox="1"/>
          <p:nvPr/>
        </p:nvSpPr>
        <p:spPr>
          <a:xfrm>
            <a:off x="8092440" y="4416552"/>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intérieur</a:t>
            </a:r>
          </a:p>
        </p:txBody>
      </p:sp>
      <p:sp>
        <p:nvSpPr>
          <p:cNvPr id="40" name="TextBox 39"/>
          <p:cNvSpPr txBox="1"/>
          <p:nvPr/>
        </p:nvSpPr>
        <p:spPr>
          <a:xfrm>
            <a:off x="9509760" y="4416552"/>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train</a:t>
            </a:r>
          </a:p>
        </p:txBody>
      </p:sp>
      <p:sp>
        <p:nvSpPr>
          <p:cNvPr id="41" name="TextBox 40"/>
          <p:cNvSpPr txBox="1"/>
          <p:nvPr/>
        </p:nvSpPr>
        <p:spPr>
          <a:xfrm>
            <a:off x="10515600" y="4416552"/>
            <a:ext cx="2560320" cy="713232"/>
          </a:xfrm>
          <a:prstGeom prst="rect">
            <a:avLst/>
          </a:prstGeom>
          <a:noFill/>
        </p:spPr>
        <p:txBody>
          <a:bodyPr wrap="square" lIns="0" rIns="0" tIns="0" bIns="0" anchor="ctr">
            <a:spAutoFit/>
          </a:bodyPr>
          <a:lstStyle/>
          <a:p>
            <a:pPr algn="l">
              <a:spcAft>
                <a:spcPts val="400"/>
              </a:spcAft>
            </a:pPr>
            <a:r>
              <a:rPr sz="1400" b="1">
                <a:solidFill>
                  <a:srgbClr val="D4A84B"/>
                </a:solidFill>
                <a:latin typeface="Calibri"/>
              </a:rPr>
              <a:t>processed</a:t>
            </a:r>
          </a:p>
        </p:txBody>
      </p:sp>
      <p:sp>
        <p:nvSpPr>
          <p:cNvPr id="42" name="Rounded Rectangle 41"/>
          <p:cNvSpPr/>
          <p:nvPr/>
        </p:nvSpPr>
        <p:spPr>
          <a:xfrm>
            <a:off x="548640" y="5202936"/>
            <a:ext cx="11091672" cy="713232"/>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00919.jpg"/>
          <p:cNvPicPr>
            <a:picLocks noChangeAspect="1"/>
          </p:cNvPicPr>
          <p:nvPr/>
        </p:nvPicPr>
        <p:blipFill>
          <a:blip r:embed="rId7"/>
          <a:stretch>
            <a:fillRect/>
          </a:stretch>
        </p:blipFill>
        <p:spPr>
          <a:xfrm>
            <a:off x="621792" y="5257800"/>
            <a:ext cx="603504" cy="603504"/>
          </a:xfrm>
          <a:prstGeom prst="rect">
            <a:avLst/>
          </a:prstGeom>
        </p:spPr>
      </p:pic>
      <p:sp>
        <p:nvSpPr>
          <p:cNvPr id="44" name="TextBox 43"/>
          <p:cNvSpPr txBox="1"/>
          <p:nvPr/>
        </p:nvSpPr>
        <p:spPr>
          <a:xfrm>
            <a:off x="1417320" y="5202936"/>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919</a:t>
            </a:r>
          </a:p>
        </p:txBody>
      </p:sp>
      <p:sp>
        <p:nvSpPr>
          <p:cNvPr id="45" name="TextBox 44"/>
          <p:cNvSpPr txBox="1"/>
          <p:nvPr/>
        </p:nvSpPr>
        <p:spPr>
          <a:xfrm>
            <a:off x="2240280" y="5202936"/>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BREKELENKAM, Quiringh van</a:t>
            </a:r>
          </a:p>
        </p:txBody>
      </p:sp>
      <p:sp>
        <p:nvSpPr>
          <p:cNvPr id="46" name="TextBox 45"/>
          <p:cNvSpPr txBox="1"/>
          <p:nvPr/>
        </p:nvSpPr>
        <p:spPr>
          <a:xfrm>
            <a:off x="4892040" y="5202936"/>
            <a:ext cx="310896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Interior of a Tailor's Shop</a:t>
            </a:r>
          </a:p>
        </p:txBody>
      </p:sp>
      <p:sp>
        <p:nvSpPr>
          <p:cNvPr id="47" name="TextBox 46"/>
          <p:cNvSpPr txBox="1"/>
          <p:nvPr/>
        </p:nvSpPr>
        <p:spPr>
          <a:xfrm>
            <a:off x="8092440" y="5202936"/>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scène de genre</a:t>
            </a:r>
          </a:p>
        </p:txBody>
      </p:sp>
      <p:sp>
        <p:nvSpPr>
          <p:cNvPr id="48" name="TextBox 47"/>
          <p:cNvSpPr txBox="1"/>
          <p:nvPr/>
        </p:nvSpPr>
        <p:spPr>
          <a:xfrm>
            <a:off x="9509760" y="5202936"/>
            <a:ext cx="2560320" cy="713232"/>
          </a:xfrm>
          <a:prstGeom prst="rect">
            <a:avLst/>
          </a:prstGeom>
          <a:noFill/>
        </p:spPr>
        <p:txBody>
          <a:bodyPr wrap="square" lIns="0" rIns="0" tIns="0" bIns="0" anchor="ctr">
            <a:spAutoFit/>
          </a:bodyPr>
          <a:lstStyle/>
          <a:p>
            <a:pPr algn="l">
              <a:spcAft>
                <a:spcPts val="400"/>
              </a:spcAft>
            </a:pPr>
            <a:r>
              <a:rPr sz="1400" b="0">
                <a:solidFill>
                  <a:srgbClr val="F2EDE6"/>
                </a:solidFill>
                <a:latin typeface="Calibri"/>
              </a:rPr>
              <a:t>train</a:t>
            </a:r>
          </a:p>
        </p:txBody>
      </p:sp>
      <p:sp>
        <p:nvSpPr>
          <p:cNvPr id="49" name="TextBox 48"/>
          <p:cNvSpPr txBox="1"/>
          <p:nvPr/>
        </p:nvSpPr>
        <p:spPr>
          <a:xfrm>
            <a:off x="10515600" y="5202936"/>
            <a:ext cx="2560320" cy="713232"/>
          </a:xfrm>
          <a:prstGeom prst="rect">
            <a:avLst/>
          </a:prstGeom>
          <a:noFill/>
        </p:spPr>
        <p:txBody>
          <a:bodyPr wrap="square" lIns="0" rIns="0" tIns="0" bIns="0" anchor="ctr">
            <a:spAutoFit/>
          </a:bodyPr>
          <a:lstStyle/>
          <a:p>
            <a:pPr algn="l">
              <a:spcAft>
                <a:spcPts val="400"/>
              </a:spcAft>
            </a:pPr>
            <a:r>
              <a:rPr sz="1400" b="1">
                <a:solidFill>
                  <a:srgbClr val="D4A84B"/>
                </a:solidFill>
                <a:latin typeface="Calibri"/>
              </a:rPr>
              <a:t>processed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Les images d'origine</a:t>
            </a:r>
          </a:p>
        </p:txBody>
      </p:sp>
      <p:pic>
        <p:nvPicPr>
          <p:cNvPr id="4" name="Picture 3" descr="02_original_sizes.png"/>
          <p:cNvPicPr>
            <a:picLocks noChangeAspect="1"/>
          </p:cNvPicPr>
          <p:nvPr/>
        </p:nvPicPr>
        <p:blipFill>
          <a:blip r:embed="rId3"/>
          <a:stretch>
            <a:fillRect/>
          </a:stretch>
        </p:blipFill>
        <p:spPr>
          <a:xfrm>
            <a:off x="548640" y="1600200"/>
            <a:ext cx="11064240" cy="3497529"/>
          </a:xfrm>
          <a:prstGeom prst="rect">
            <a:avLst/>
          </a:prstGeom>
        </p:spPr>
      </p:pic>
      <p:sp>
        <p:nvSpPr>
          <p:cNvPr id="5" name="TextBox 4"/>
          <p:cNvSpPr txBox="1"/>
          <p:nvPr/>
        </p:nvSpPr>
        <p:spPr>
          <a:xfrm>
            <a:off x="548640" y="5143449"/>
            <a:ext cx="11064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Graphiques du notebook 02_dataset</a:t>
            </a:r>
          </a:p>
        </p:txBody>
      </p:sp>
      <p:sp>
        <p:nvSpPr>
          <p:cNvPr id="6" name="Rounded Rectangle 5"/>
          <p:cNvSpPr/>
          <p:nvPr/>
        </p:nvSpPr>
        <p:spPr>
          <a:xfrm>
            <a:off x="548640" y="5989320"/>
            <a:ext cx="32918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médiane : 850 px</a:t>
            </a:r>
          </a:p>
        </p:txBody>
      </p:sp>
      <p:sp>
        <p:nvSpPr>
          <p:cNvPr id="7" name="Rounded Rectangle 6"/>
          <p:cNvSpPr/>
          <p:nvPr/>
        </p:nvSpPr>
        <p:spPr>
          <a:xfrm>
            <a:off x="4023360" y="5989320"/>
            <a:ext cx="384048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ratio conforme : 94 %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 · Q5</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Ce que montrent les images</a:t>
            </a:r>
          </a:p>
        </p:txBody>
      </p:sp>
      <p:sp>
        <p:nvSpPr>
          <p:cNvPr id="4" name="TextBox 3"/>
          <p:cNvSpPr txBox="1"/>
          <p:nvPr/>
        </p:nvSpPr>
        <p:spPr>
          <a:xfrm>
            <a:off x="548640" y="1600200"/>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portrait</a:t>
            </a:r>
          </a:p>
        </p:txBody>
      </p:sp>
      <p:pic>
        <p:nvPicPr>
          <p:cNvPr id="5" name="Picture 4" descr="01253.jpg"/>
          <p:cNvPicPr>
            <a:picLocks noChangeAspect="1"/>
          </p:cNvPicPr>
          <p:nvPr/>
        </p:nvPicPr>
        <p:blipFill>
          <a:blip r:embed="rId3"/>
          <a:stretch>
            <a:fillRect/>
          </a:stretch>
        </p:blipFill>
        <p:spPr>
          <a:xfrm>
            <a:off x="2011680" y="1600200"/>
            <a:ext cx="868680" cy="868680"/>
          </a:xfrm>
          <a:prstGeom prst="rect">
            <a:avLst/>
          </a:prstGeom>
        </p:spPr>
      </p:pic>
      <p:pic>
        <p:nvPicPr>
          <p:cNvPr id="6" name="Picture 5" descr="01909.jpg"/>
          <p:cNvPicPr>
            <a:picLocks noChangeAspect="1"/>
          </p:cNvPicPr>
          <p:nvPr/>
        </p:nvPicPr>
        <p:blipFill>
          <a:blip r:embed="rId4"/>
          <a:stretch>
            <a:fillRect/>
          </a:stretch>
        </p:blipFill>
        <p:spPr>
          <a:xfrm>
            <a:off x="2953512" y="1600200"/>
            <a:ext cx="868680" cy="868680"/>
          </a:xfrm>
          <a:prstGeom prst="rect">
            <a:avLst/>
          </a:prstGeom>
        </p:spPr>
      </p:pic>
      <p:pic>
        <p:nvPicPr>
          <p:cNvPr id="7" name="Picture 6" descr="00286.jpg"/>
          <p:cNvPicPr>
            <a:picLocks noChangeAspect="1"/>
          </p:cNvPicPr>
          <p:nvPr/>
        </p:nvPicPr>
        <p:blipFill>
          <a:blip r:embed="rId5"/>
          <a:stretch>
            <a:fillRect/>
          </a:stretch>
        </p:blipFill>
        <p:spPr>
          <a:xfrm>
            <a:off x="3895344" y="1600200"/>
            <a:ext cx="868680" cy="868680"/>
          </a:xfrm>
          <a:prstGeom prst="rect">
            <a:avLst/>
          </a:prstGeom>
        </p:spPr>
      </p:pic>
      <p:pic>
        <p:nvPicPr>
          <p:cNvPr id="8" name="Picture 7" descr="01664.jpg"/>
          <p:cNvPicPr>
            <a:picLocks noChangeAspect="1"/>
          </p:cNvPicPr>
          <p:nvPr/>
        </p:nvPicPr>
        <p:blipFill>
          <a:blip r:embed="rId6"/>
          <a:stretch>
            <a:fillRect/>
          </a:stretch>
        </p:blipFill>
        <p:spPr>
          <a:xfrm>
            <a:off x="4837176" y="1600200"/>
            <a:ext cx="868680" cy="868680"/>
          </a:xfrm>
          <a:prstGeom prst="rect">
            <a:avLst/>
          </a:prstGeom>
        </p:spPr>
      </p:pic>
      <p:pic>
        <p:nvPicPr>
          <p:cNvPr id="9" name="Picture 8" descr="01903.jpg"/>
          <p:cNvPicPr>
            <a:picLocks noChangeAspect="1"/>
          </p:cNvPicPr>
          <p:nvPr/>
        </p:nvPicPr>
        <p:blipFill>
          <a:blip r:embed="rId7"/>
          <a:stretch>
            <a:fillRect/>
          </a:stretch>
        </p:blipFill>
        <p:spPr>
          <a:xfrm>
            <a:off x="5779008" y="1600200"/>
            <a:ext cx="868680" cy="868680"/>
          </a:xfrm>
          <a:prstGeom prst="rect">
            <a:avLst/>
          </a:prstGeom>
        </p:spPr>
      </p:pic>
      <p:pic>
        <p:nvPicPr>
          <p:cNvPr id="10" name="Picture 9" descr="00686.jpg"/>
          <p:cNvPicPr>
            <a:picLocks noChangeAspect="1"/>
          </p:cNvPicPr>
          <p:nvPr/>
        </p:nvPicPr>
        <p:blipFill>
          <a:blip r:embed="rId8"/>
          <a:stretch>
            <a:fillRect/>
          </a:stretch>
        </p:blipFill>
        <p:spPr>
          <a:xfrm>
            <a:off x="6720840" y="1600200"/>
            <a:ext cx="868680" cy="868680"/>
          </a:xfrm>
          <a:prstGeom prst="rect">
            <a:avLst/>
          </a:prstGeom>
        </p:spPr>
      </p:pic>
      <p:sp>
        <p:nvSpPr>
          <p:cNvPr id="11" name="TextBox 10"/>
          <p:cNvSpPr txBox="1"/>
          <p:nvPr/>
        </p:nvSpPr>
        <p:spPr>
          <a:xfrm>
            <a:off x="548640" y="2542032"/>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paysage</a:t>
            </a:r>
          </a:p>
        </p:txBody>
      </p:sp>
      <p:pic>
        <p:nvPicPr>
          <p:cNvPr id="12" name="Picture 11" descr="01082.jpg"/>
          <p:cNvPicPr>
            <a:picLocks noChangeAspect="1"/>
          </p:cNvPicPr>
          <p:nvPr/>
        </p:nvPicPr>
        <p:blipFill>
          <a:blip r:embed="rId9"/>
          <a:stretch>
            <a:fillRect/>
          </a:stretch>
        </p:blipFill>
        <p:spPr>
          <a:xfrm>
            <a:off x="2011680" y="2542032"/>
            <a:ext cx="868680" cy="868680"/>
          </a:xfrm>
          <a:prstGeom prst="rect">
            <a:avLst/>
          </a:prstGeom>
        </p:spPr>
      </p:pic>
      <p:pic>
        <p:nvPicPr>
          <p:cNvPr id="13" name="Picture 12" descr="00445.jpg"/>
          <p:cNvPicPr>
            <a:picLocks noChangeAspect="1"/>
          </p:cNvPicPr>
          <p:nvPr/>
        </p:nvPicPr>
        <p:blipFill>
          <a:blip r:embed="rId10"/>
          <a:stretch>
            <a:fillRect/>
          </a:stretch>
        </p:blipFill>
        <p:spPr>
          <a:xfrm>
            <a:off x="2953512" y="2542032"/>
            <a:ext cx="868680" cy="868680"/>
          </a:xfrm>
          <a:prstGeom prst="rect">
            <a:avLst/>
          </a:prstGeom>
        </p:spPr>
      </p:pic>
      <p:pic>
        <p:nvPicPr>
          <p:cNvPr id="14" name="Picture 13" descr="01033.jpg"/>
          <p:cNvPicPr>
            <a:picLocks noChangeAspect="1"/>
          </p:cNvPicPr>
          <p:nvPr/>
        </p:nvPicPr>
        <p:blipFill>
          <a:blip r:embed="rId11"/>
          <a:stretch>
            <a:fillRect/>
          </a:stretch>
        </p:blipFill>
        <p:spPr>
          <a:xfrm>
            <a:off x="3895344" y="2542032"/>
            <a:ext cx="868680" cy="868680"/>
          </a:xfrm>
          <a:prstGeom prst="rect">
            <a:avLst/>
          </a:prstGeom>
        </p:spPr>
      </p:pic>
      <p:pic>
        <p:nvPicPr>
          <p:cNvPr id="15" name="Picture 14" descr="01545.jpg"/>
          <p:cNvPicPr>
            <a:picLocks noChangeAspect="1"/>
          </p:cNvPicPr>
          <p:nvPr/>
        </p:nvPicPr>
        <p:blipFill>
          <a:blip r:embed="rId12"/>
          <a:stretch>
            <a:fillRect/>
          </a:stretch>
        </p:blipFill>
        <p:spPr>
          <a:xfrm>
            <a:off x="4837176" y="2542032"/>
            <a:ext cx="868680" cy="868680"/>
          </a:xfrm>
          <a:prstGeom prst="rect">
            <a:avLst/>
          </a:prstGeom>
        </p:spPr>
      </p:pic>
      <p:pic>
        <p:nvPicPr>
          <p:cNvPr id="16" name="Picture 15" descr="01096.jpg"/>
          <p:cNvPicPr>
            <a:picLocks noChangeAspect="1"/>
          </p:cNvPicPr>
          <p:nvPr/>
        </p:nvPicPr>
        <p:blipFill>
          <a:blip r:embed="rId13"/>
          <a:stretch>
            <a:fillRect/>
          </a:stretch>
        </p:blipFill>
        <p:spPr>
          <a:xfrm>
            <a:off x="5779008" y="2542032"/>
            <a:ext cx="868680" cy="868680"/>
          </a:xfrm>
          <a:prstGeom prst="rect">
            <a:avLst/>
          </a:prstGeom>
        </p:spPr>
      </p:pic>
      <p:pic>
        <p:nvPicPr>
          <p:cNvPr id="17" name="Picture 16" descr="02088.jpg"/>
          <p:cNvPicPr>
            <a:picLocks noChangeAspect="1"/>
          </p:cNvPicPr>
          <p:nvPr/>
        </p:nvPicPr>
        <p:blipFill>
          <a:blip r:embed="rId14"/>
          <a:stretch>
            <a:fillRect/>
          </a:stretch>
        </p:blipFill>
        <p:spPr>
          <a:xfrm>
            <a:off x="6720840" y="2542032"/>
            <a:ext cx="868680" cy="868680"/>
          </a:xfrm>
          <a:prstGeom prst="rect">
            <a:avLst/>
          </a:prstGeom>
        </p:spPr>
      </p:pic>
      <p:sp>
        <p:nvSpPr>
          <p:cNvPr id="18" name="TextBox 17"/>
          <p:cNvSpPr txBox="1"/>
          <p:nvPr/>
        </p:nvSpPr>
        <p:spPr>
          <a:xfrm>
            <a:off x="548640" y="3483864"/>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nature morte</a:t>
            </a:r>
          </a:p>
        </p:txBody>
      </p:sp>
      <p:pic>
        <p:nvPicPr>
          <p:cNvPr id="19" name="Picture 18" descr="02050.jpg"/>
          <p:cNvPicPr>
            <a:picLocks noChangeAspect="1"/>
          </p:cNvPicPr>
          <p:nvPr/>
        </p:nvPicPr>
        <p:blipFill>
          <a:blip r:embed="rId15"/>
          <a:stretch>
            <a:fillRect/>
          </a:stretch>
        </p:blipFill>
        <p:spPr>
          <a:xfrm>
            <a:off x="2011680" y="3483864"/>
            <a:ext cx="868680" cy="868680"/>
          </a:xfrm>
          <a:prstGeom prst="rect">
            <a:avLst/>
          </a:prstGeom>
        </p:spPr>
      </p:pic>
      <p:pic>
        <p:nvPicPr>
          <p:cNvPr id="20" name="Picture 19" descr="00044.jpg"/>
          <p:cNvPicPr>
            <a:picLocks noChangeAspect="1"/>
          </p:cNvPicPr>
          <p:nvPr/>
        </p:nvPicPr>
        <p:blipFill>
          <a:blip r:embed="rId16"/>
          <a:stretch>
            <a:fillRect/>
          </a:stretch>
        </p:blipFill>
        <p:spPr>
          <a:xfrm>
            <a:off x="2953512" y="3483864"/>
            <a:ext cx="868680" cy="868680"/>
          </a:xfrm>
          <a:prstGeom prst="rect">
            <a:avLst/>
          </a:prstGeom>
        </p:spPr>
      </p:pic>
      <p:pic>
        <p:nvPicPr>
          <p:cNvPr id="21" name="Picture 20" descr="00544.jpg"/>
          <p:cNvPicPr>
            <a:picLocks noChangeAspect="1"/>
          </p:cNvPicPr>
          <p:nvPr/>
        </p:nvPicPr>
        <p:blipFill>
          <a:blip r:embed="rId17"/>
          <a:stretch>
            <a:fillRect/>
          </a:stretch>
        </p:blipFill>
        <p:spPr>
          <a:xfrm>
            <a:off x="3895344" y="3483864"/>
            <a:ext cx="868680" cy="868680"/>
          </a:xfrm>
          <a:prstGeom prst="rect">
            <a:avLst/>
          </a:prstGeom>
        </p:spPr>
      </p:pic>
      <p:pic>
        <p:nvPicPr>
          <p:cNvPr id="22" name="Picture 21" descr="01685.jpg"/>
          <p:cNvPicPr>
            <a:picLocks noChangeAspect="1"/>
          </p:cNvPicPr>
          <p:nvPr/>
        </p:nvPicPr>
        <p:blipFill>
          <a:blip r:embed="rId18"/>
          <a:stretch>
            <a:fillRect/>
          </a:stretch>
        </p:blipFill>
        <p:spPr>
          <a:xfrm>
            <a:off x="4837176" y="3483864"/>
            <a:ext cx="868680" cy="868680"/>
          </a:xfrm>
          <a:prstGeom prst="rect">
            <a:avLst/>
          </a:prstGeom>
        </p:spPr>
      </p:pic>
      <p:pic>
        <p:nvPicPr>
          <p:cNvPr id="23" name="Picture 22" descr="00696.jpg"/>
          <p:cNvPicPr>
            <a:picLocks noChangeAspect="1"/>
          </p:cNvPicPr>
          <p:nvPr/>
        </p:nvPicPr>
        <p:blipFill>
          <a:blip r:embed="rId19"/>
          <a:stretch>
            <a:fillRect/>
          </a:stretch>
        </p:blipFill>
        <p:spPr>
          <a:xfrm>
            <a:off x="5779008" y="3483864"/>
            <a:ext cx="868680" cy="868680"/>
          </a:xfrm>
          <a:prstGeom prst="rect">
            <a:avLst/>
          </a:prstGeom>
        </p:spPr>
      </p:pic>
      <p:pic>
        <p:nvPicPr>
          <p:cNvPr id="24" name="Picture 23" descr="01480.jpg"/>
          <p:cNvPicPr>
            <a:picLocks noChangeAspect="1"/>
          </p:cNvPicPr>
          <p:nvPr/>
        </p:nvPicPr>
        <p:blipFill>
          <a:blip r:embed="rId20"/>
          <a:stretch>
            <a:fillRect/>
          </a:stretch>
        </p:blipFill>
        <p:spPr>
          <a:xfrm>
            <a:off x="6720840" y="3483864"/>
            <a:ext cx="868680" cy="868680"/>
          </a:xfrm>
          <a:prstGeom prst="rect">
            <a:avLst/>
          </a:prstGeom>
        </p:spPr>
      </p:pic>
      <p:sp>
        <p:nvSpPr>
          <p:cNvPr id="25" name="TextBox 24"/>
          <p:cNvSpPr txBox="1"/>
          <p:nvPr/>
        </p:nvSpPr>
        <p:spPr>
          <a:xfrm>
            <a:off x="548640" y="4425696"/>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intérieur</a:t>
            </a:r>
          </a:p>
        </p:txBody>
      </p:sp>
      <p:pic>
        <p:nvPicPr>
          <p:cNvPr id="26" name="Picture 25" descr="01065.jpg"/>
          <p:cNvPicPr>
            <a:picLocks noChangeAspect="1"/>
          </p:cNvPicPr>
          <p:nvPr/>
        </p:nvPicPr>
        <p:blipFill>
          <a:blip r:embed="rId21"/>
          <a:stretch>
            <a:fillRect/>
          </a:stretch>
        </p:blipFill>
        <p:spPr>
          <a:xfrm>
            <a:off x="2011680" y="4425696"/>
            <a:ext cx="868680" cy="868680"/>
          </a:xfrm>
          <a:prstGeom prst="rect">
            <a:avLst/>
          </a:prstGeom>
        </p:spPr>
      </p:pic>
      <p:pic>
        <p:nvPicPr>
          <p:cNvPr id="27" name="Picture 26" descr="00399.jpg"/>
          <p:cNvPicPr>
            <a:picLocks noChangeAspect="1"/>
          </p:cNvPicPr>
          <p:nvPr/>
        </p:nvPicPr>
        <p:blipFill>
          <a:blip r:embed="rId22"/>
          <a:stretch>
            <a:fillRect/>
          </a:stretch>
        </p:blipFill>
        <p:spPr>
          <a:xfrm>
            <a:off x="2953512" y="4425696"/>
            <a:ext cx="868680" cy="868680"/>
          </a:xfrm>
          <a:prstGeom prst="rect">
            <a:avLst/>
          </a:prstGeom>
        </p:spPr>
      </p:pic>
      <p:pic>
        <p:nvPicPr>
          <p:cNvPr id="28" name="Picture 27" descr="00884.jpg"/>
          <p:cNvPicPr>
            <a:picLocks noChangeAspect="1"/>
          </p:cNvPicPr>
          <p:nvPr/>
        </p:nvPicPr>
        <p:blipFill>
          <a:blip r:embed="rId23"/>
          <a:stretch>
            <a:fillRect/>
          </a:stretch>
        </p:blipFill>
        <p:spPr>
          <a:xfrm>
            <a:off x="3895344" y="4425696"/>
            <a:ext cx="868680" cy="868680"/>
          </a:xfrm>
          <a:prstGeom prst="rect">
            <a:avLst/>
          </a:prstGeom>
        </p:spPr>
      </p:pic>
      <p:pic>
        <p:nvPicPr>
          <p:cNvPr id="29" name="Picture 28" descr="00596.jpg"/>
          <p:cNvPicPr>
            <a:picLocks noChangeAspect="1"/>
          </p:cNvPicPr>
          <p:nvPr/>
        </p:nvPicPr>
        <p:blipFill>
          <a:blip r:embed="rId24"/>
          <a:stretch>
            <a:fillRect/>
          </a:stretch>
        </p:blipFill>
        <p:spPr>
          <a:xfrm>
            <a:off x="4837176" y="4425696"/>
            <a:ext cx="868680" cy="868680"/>
          </a:xfrm>
          <a:prstGeom prst="rect">
            <a:avLst/>
          </a:prstGeom>
        </p:spPr>
      </p:pic>
      <p:pic>
        <p:nvPicPr>
          <p:cNvPr id="30" name="Picture 29" descr="01995.jpg"/>
          <p:cNvPicPr>
            <a:picLocks noChangeAspect="1"/>
          </p:cNvPicPr>
          <p:nvPr/>
        </p:nvPicPr>
        <p:blipFill>
          <a:blip r:embed="rId25"/>
          <a:stretch>
            <a:fillRect/>
          </a:stretch>
        </p:blipFill>
        <p:spPr>
          <a:xfrm>
            <a:off x="5779008" y="4425696"/>
            <a:ext cx="868680" cy="868680"/>
          </a:xfrm>
          <a:prstGeom prst="rect">
            <a:avLst/>
          </a:prstGeom>
        </p:spPr>
      </p:pic>
      <p:pic>
        <p:nvPicPr>
          <p:cNvPr id="31" name="Picture 30" descr="01736.jpg"/>
          <p:cNvPicPr>
            <a:picLocks noChangeAspect="1"/>
          </p:cNvPicPr>
          <p:nvPr/>
        </p:nvPicPr>
        <p:blipFill>
          <a:blip r:embed="rId26"/>
          <a:stretch>
            <a:fillRect/>
          </a:stretch>
        </p:blipFill>
        <p:spPr>
          <a:xfrm>
            <a:off x="6720840" y="4425696"/>
            <a:ext cx="868680" cy="868680"/>
          </a:xfrm>
          <a:prstGeom prst="rect">
            <a:avLst/>
          </a:prstGeom>
        </p:spPr>
      </p:pic>
      <p:sp>
        <p:nvSpPr>
          <p:cNvPr id="32" name="TextBox 31"/>
          <p:cNvSpPr txBox="1"/>
          <p:nvPr/>
        </p:nvSpPr>
        <p:spPr>
          <a:xfrm>
            <a:off x="548640" y="5367528"/>
            <a:ext cx="1463040" cy="868680"/>
          </a:xfrm>
          <a:prstGeom prst="rect">
            <a:avLst/>
          </a:prstGeom>
          <a:noFill/>
        </p:spPr>
        <p:txBody>
          <a:bodyPr wrap="square" lIns="0" rIns="0" tIns="0" bIns="0" anchor="ctr">
            <a:spAutoFit/>
          </a:bodyPr>
          <a:lstStyle/>
          <a:p>
            <a:pPr algn="l">
              <a:spcAft>
                <a:spcPts val="400"/>
              </a:spcAft>
            </a:pPr>
            <a:r>
              <a:rPr sz="1400" b="1">
                <a:solidFill>
                  <a:srgbClr val="A39A90"/>
                </a:solidFill>
                <a:latin typeface="Calibri"/>
              </a:rPr>
              <a:t>scène de genre</a:t>
            </a:r>
          </a:p>
        </p:txBody>
      </p:sp>
      <p:pic>
        <p:nvPicPr>
          <p:cNvPr id="33" name="Picture 32" descr="01547.jpg"/>
          <p:cNvPicPr>
            <a:picLocks noChangeAspect="1"/>
          </p:cNvPicPr>
          <p:nvPr/>
        </p:nvPicPr>
        <p:blipFill>
          <a:blip r:embed="rId27"/>
          <a:stretch>
            <a:fillRect/>
          </a:stretch>
        </p:blipFill>
        <p:spPr>
          <a:xfrm>
            <a:off x="2011680" y="5367528"/>
            <a:ext cx="868680" cy="868680"/>
          </a:xfrm>
          <a:prstGeom prst="rect">
            <a:avLst/>
          </a:prstGeom>
        </p:spPr>
      </p:pic>
      <p:pic>
        <p:nvPicPr>
          <p:cNvPr id="34" name="Picture 33" descr="01984.jpg"/>
          <p:cNvPicPr>
            <a:picLocks noChangeAspect="1"/>
          </p:cNvPicPr>
          <p:nvPr/>
        </p:nvPicPr>
        <p:blipFill>
          <a:blip r:embed="rId28"/>
          <a:stretch>
            <a:fillRect/>
          </a:stretch>
        </p:blipFill>
        <p:spPr>
          <a:xfrm>
            <a:off x="2953512" y="5367528"/>
            <a:ext cx="868680" cy="868680"/>
          </a:xfrm>
          <a:prstGeom prst="rect">
            <a:avLst/>
          </a:prstGeom>
        </p:spPr>
      </p:pic>
      <p:pic>
        <p:nvPicPr>
          <p:cNvPr id="35" name="Picture 34" descr="00477.jpg"/>
          <p:cNvPicPr>
            <a:picLocks noChangeAspect="1"/>
          </p:cNvPicPr>
          <p:nvPr/>
        </p:nvPicPr>
        <p:blipFill>
          <a:blip r:embed="rId29"/>
          <a:stretch>
            <a:fillRect/>
          </a:stretch>
        </p:blipFill>
        <p:spPr>
          <a:xfrm>
            <a:off x="3895344" y="5367528"/>
            <a:ext cx="868680" cy="868680"/>
          </a:xfrm>
          <a:prstGeom prst="rect">
            <a:avLst/>
          </a:prstGeom>
        </p:spPr>
      </p:pic>
      <p:pic>
        <p:nvPicPr>
          <p:cNvPr id="36" name="Picture 35" descr="01864.jpg"/>
          <p:cNvPicPr>
            <a:picLocks noChangeAspect="1"/>
          </p:cNvPicPr>
          <p:nvPr/>
        </p:nvPicPr>
        <p:blipFill>
          <a:blip r:embed="rId30"/>
          <a:stretch>
            <a:fillRect/>
          </a:stretch>
        </p:blipFill>
        <p:spPr>
          <a:xfrm>
            <a:off x="4837176" y="5367528"/>
            <a:ext cx="868680" cy="868680"/>
          </a:xfrm>
          <a:prstGeom prst="rect">
            <a:avLst/>
          </a:prstGeom>
        </p:spPr>
      </p:pic>
      <p:pic>
        <p:nvPicPr>
          <p:cNvPr id="37" name="Picture 36" descr="01614.jpg"/>
          <p:cNvPicPr>
            <a:picLocks noChangeAspect="1"/>
          </p:cNvPicPr>
          <p:nvPr/>
        </p:nvPicPr>
        <p:blipFill>
          <a:blip r:embed="rId31"/>
          <a:stretch>
            <a:fillRect/>
          </a:stretch>
        </p:blipFill>
        <p:spPr>
          <a:xfrm>
            <a:off x="5779008" y="5367528"/>
            <a:ext cx="868680" cy="868680"/>
          </a:xfrm>
          <a:prstGeom prst="rect">
            <a:avLst/>
          </a:prstGeom>
        </p:spPr>
      </p:pic>
      <p:pic>
        <p:nvPicPr>
          <p:cNvPr id="38" name="Picture 37" descr="00488.jpg"/>
          <p:cNvPicPr>
            <a:picLocks noChangeAspect="1"/>
          </p:cNvPicPr>
          <p:nvPr/>
        </p:nvPicPr>
        <p:blipFill>
          <a:blip r:embed="rId32"/>
          <a:stretch>
            <a:fillRect/>
          </a:stretch>
        </p:blipFill>
        <p:spPr>
          <a:xfrm>
            <a:off x="6720840" y="5367528"/>
            <a:ext cx="868680" cy="868680"/>
          </a:xfrm>
          <a:prstGeom prst="rect">
            <a:avLst/>
          </a:prstGeom>
        </p:spPr>
      </p:pic>
      <p:sp>
        <p:nvSpPr>
          <p:cNvPr id="39" name="Rounded Rectangle 38"/>
          <p:cNvSpPr/>
          <p:nvPr/>
        </p:nvSpPr>
        <p:spPr>
          <a:xfrm>
            <a:off x="8229600" y="2011680"/>
            <a:ext cx="338328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Tons sombres</a:t>
            </a:r>
          </a:p>
        </p:txBody>
      </p:sp>
      <p:sp>
        <p:nvSpPr>
          <p:cNvPr id="40" name="Rounded Rectangle 39"/>
          <p:cNvSpPr/>
          <p:nvPr/>
        </p:nvSpPr>
        <p:spPr>
          <a:xfrm>
            <a:off x="8229600" y="2926080"/>
            <a:ext cx="338328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Cadres visibles</a:t>
            </a:r>
          </a:p>
        </p:txBody>
      </p:sp>
      <p:sp>
        <p:nvSpPr>
          <p:cNvPr id="41" name="Rounded Rectangle 40"/>
          <p:cNvSpPr/>
          <p:nvPr/>
        </p:nvSpPr>
        <p:spPr>
          <a:xfrm>
            <a:off x="8229600" y="3840480"/>
            <a:ext cx="338328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Sujet centré</a:t>
            </a:r>
          </a:p>
        </p:txBody>
      </p:sp>
      <p:sp>
        <p:nvSpPr>
          <p:cNvPr id="42" name="Rounded Rectangle 41"/>
          <p:cNvSpPr/>
          <p:nvPr/>
        </p:nvSpPr>
        <p:spPr>
          <a:xfrm>
            <a:off x="8229600" y="4754880"/>
            <a:ext cx="3383280"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Haute résolution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Des peintures sombres, très peu de noir et blanc</a:t>
            </a:r>
          </a:p>
        </p:txBody>
      </p:sp>
      <p:pic>
        <p:nvPicPr>
          <p:cNvPr id="4" name="Picture 3" descr="05_color_stats.png"/>
          <p:cNvPicPr>
            <a:picLocks noChangeAspect="1"/>
          </p:cNvPicPr>
          <p:nvPr/>
        </p:nvPicPr>
        <p:blipFill>
          <a:blip r:embed="rId3"/>
          <a:stretch>
            <a:fillRect/>
          </a:stretch>
        </p:blipFill>
        <p:spPr>
          <a:xfrm>
            <a:off x="548640" y="1600200"/>
            <a:ext cx="11064240" cy="3495907"/>
          </a:xfrm>
          <a:prstGeom prst="rect">
            <a:avLst/>
          </a:prstGeom>
        </p:spPr>
      </p:pic>
      <p:sp>
        <p:nvSpPr>
          <p:cNvPr id="5" name="TextBox 4"/>
          <p:cNvSpPr txBox="1"/>
          <p:nvPr/>
        </p:nvSpPr>
        <p:spPr>
          <a:xfrm>
            <a:off x="548640" y="5141827"/>
            <a:ext cx="11064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Graphiques du notebook 02_dataset</a:t>
            </a:r>
          </a:p>
        </p:txBody>
      </p:sp>
      <p:sp>
        <p:nvSpPr>
          <p:cNvPr id="6" name="Rounded Rectangle 5"/>
          <p:cNvSpPr/>
          <p:nvPr/>
        </p:nvSpPr>
        <p:spPr>
          <a:xfrm>
            <a:off x="548640" y="5989320"/>
            <a:ext cx="32918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noir et blanc : 14 image(s)</a:t>
            </a:r>
          </a:p>
        </p:txBody>
      </p:sp>
      <p:sp>
        <p:nvSpPr>
          <p:cNvPr id="7" name="Rounded Rectangle 6"/>
          <p:cNvSpPr/>
          <p:nvPr/>
        </p:nvSpPr>
        <p:spPr>
          <a:xfrm>
            <a:off x="4023360" y="5989320"/>
            <a:ext cx="32918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tons sombres conservés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bug révélé par les visuels</a:t>
            </a:r>
          </a:p>
        </p:txBody>
      </p:sp>
      <p:pic>
        <p:nvPicPr>
          <p:cNvPr id="4" name="Picture 3" descr="07_near_duplicate_check.png"/>
          <p:cNvPicPr>
            <a:picLocks noChangeAspect="1"/>
          </p:cNvPicPr>
          <p:nvPr/>
        </p:nvPicPr>
        <p:blipFill>
          <a:blip r:embed="rId3"/>
          <a:stretch>
            <a:fillRect/>
          </a:stretch>
        </p:blipFill>
        <p:spPr>
          <a:xfrm>
            <a:off x="548640" y="1600200"/>
            <a:ext cx="6949440" cy="3261084"/>
          </a:xfrm>
          <a:prstGeom prst="rect">
            <a:avLst/>
          </a:prstGeom>
        </p:spPr>
      </p:pic>
      <p:sp>
        <p:nvSpPr>
          <p:cNvPr id="5" name="TextBox 4"/>
          <p:cNvSpPr txBox="1"/>
          <p:nvPr/>
        </p:nvSpPr>
        <p:spPr>
          <a:xfrm>
            <a:off x="548640" y="4907004"/>
            <a:ext cx="69494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Contrôle des quasi-doublons · notebook 02_dataset</a:t>
            </a:r>
          </a:p>
        </p:txBody>
      </p:sp>
      <p:sp>
        <p:nvSpPr>
          <p:cNvPr id="6" name="TextBox 5"/>
          <p:cNvSpPr txBox="1"/>
          <p:nvPr/>
        </p:nvSpPr>
        <p:spPr>
          <a:xfrm>
            <a:off x="7772400" y="1783080"/>
            <a:ext cx="3840480" cy="868680"/>
          </a:xfrm>
          <a:prstGeom prst="rect">
            <a:avLst/>
          </a:prstGeom>
          <a:noFill/>
        </p:spPr>
        <p:txBody>
          <a:bodyPr wrap="square" lIns="0" rIns="0" tIns="0" bIns="0" anchor="t">
            <a:spAutoFit/>
          </a:bodyPr>
          <a:lstStyle/>
          <a:p>
            <a:pPr algn="ctr">
              <a:spcAft>
                <a:spcPts val="400"/>
              </a:spcAft>
            </a:pPr>
            <a:r>
              <a:rPr sz="4400" b="1">
                <a:solidFill>
                  <a:srgbClr val="A39A90"/>
                </a:solidFill>
                <a:latin typeface="Cambria"/>
              </a:rPr>
              <a:t>1 615</a:t>
            </a:r>
          </a:p>
        </p:txBody>
      </p:sp>
      <p:sp>
        <p:nvSpPr>
          <p:cNvPr id="7" name="TextBox 6"/>
          <p:cNvSpPr txBox="1"/>
          <p:nvPr/>
        </p:nvSpPr>
        <p:spPr>
          <a:xfrm>
            <a:off x="7772400" y="2697480"/>
            <a:ext cx="38404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paires candidates</a:t>
            </a:r>
          </a:p>
        </p:txBody>
      </p:sp>
      <p:sp>
        <p:nvSpPr>
          <p:cNvPr id="8" name="TextBox 7"/>
          <p:cNvSpPr txBox="1"/>
          <p:nvPr/>
        </p:nvSpPr>
        <p:spPr>
          <a:xfrm>
            <a:off x="7772400" y="3429000"/>
            <a:ext cx="384048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3</a:t>
            </a:r>
          </a:p>
        </p:txBody>
      </p:sp>
      <p:sp>
        <p:nvSpPr>
          <p:cNvPr id="9" name="TextBox 8"/>
          <p:cNvSpPr txBox="1"/>
          <p:nvPr/>
        </p:nvSpPr>
        <p:spPr>
          <a:xfrm>
            <a:off x="7772400" y="4343400"/>
            <a:ext cx="384048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vrai doublon</a:t>
            </a:r>
          </a:p>
        </p:txBody>
      </p:sp>
      <p:sp>
        <p:nvSpPr>
          <p:cNvPr id="10" name="Rounded Rectangle 9"/>
          <p:cNvSpPr/>
          <p:nvPr/>
        </p:nvSpPr>
        <p:spPr>
          <a:xfrm>
            <a:off x="7955279" y="5120640"/>
            <a:ext cx="347472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 confirmation par pixels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Prétraitement</a:t>
            </a:r>
          </a:p>
        </p:txBody>
      </p:sp>
      <p:sp>
        <p:nvSpPr>
          <p:cNvPr id="4" name="Rounded Rectangle 3"/>
          <p:cNvSpPr/>
          <p:nvPr/>
        </p:nvSpPr>
        <p:spPr>
          <a:xfrm>
            <a:off x="548640" y="1737360"/>
            <a:ext cx="3520440" cy="2011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103120"/>
            <a:ext cx="3520440" cy="822960"/>
          </a:xfrm>
          <a:prstGeom prst="rect">
            <a:avLst/>
          </a:prstGeom>
          <a:noFill/>
        </p:spPr>
        <p:txBody>
          <a:bodyPr wrap="square" lIns="0" rIns="0" tIns="0" bIns="0" anchor="t">
            <a:spAutoFit/>
          </a:bodyPr>
          <a:lstStyle/>
          <a:p>
            <a:pPr algn="ctr">
              <a:spcAft>
                <a:spcPts val="400"/>
              </a:spcAft>
            </a:pPr>
            <a:r>
              <a:rPr sz="3800" b="1">
                <a:solidFill>
                  <a:srgbClr val="D4A84B"/>
                </a:solidFill>
                <a:latin typeface="Cambria"/>
              </a:rPr>
              <a:t>Carré</a:t>
            </a:r>
          </a:p>
        </p:txBody>
      </p:sp>
      <p:sp>
        <p:nvSpPr>
          <p:cNvPr id="6" name="TextBox 5"/>
          <p:cNvSpPr txBox="1"/>
          <p:nvPr/>
        </p:nvSpPr>
        <p:spPr>
          <a:xfrm>
            <a:off x="548640" y="2971800"/>
            <a:ext cx="3520440" cy="457200"/>
          </a:xfrm>
          <a:prstGeom prst="rect">
            <a:avLst/>
          </a:prstGeom>
          <a:noFill/>
        </p:spPr>
        <p:txBody>
          <a:bodyPr wrap="square" lIns="0" rIns="0" tIns="0" bIns="0" anchor="t">
            <a:spAutoFit/>
          </a:bodyPr>
          <a:lstStyle/>
          <a:p>
            <a:pPr algn="ctr">
              <a:spcAft>
                <a:spcPts val="400"/>
              </a:spcAft>
            </a:pPr>
            <a:r>
              <a:rPr sz="1700" b="0">
                <a:solidFill>
                  <a:srgbClr val="A39A90"/>
                </a:solidFill>
                <a:latin typeface="Calibri"/>
              </a:rPr>
              <a:t>central</a:t>
            </a:r>
          </a:p>
        </p:txBody>
      </p:sp>
      <p:sp>
        <p:nvSpPr>
          <p:cNvPr id="7" name="Rounded Rectangle 6"/>
          <p:cNvSpPr/>
          <p:nvPr/>
        </p:nvSpPr>
        <p:spPr>
          <a:xfrm>
            <a:off x="4343400" y="1737360"/>
            <a:ext cx="3520440" cy="201168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2103120"/>
            <a:ext cx="3520440" cy="822960"/>
          </a:xfrm>
          <a:prstGeom prst="rect">
            <a:avLst/>
          </a:prstGeom>
          <a:noFill/>
        </p:spPr>
        <p:txBody>
          <a:bodyPr wrap="square" lIns="0" rIns="0" tIns="0" bIns="0" anchor="t">
            <a:spAutoFit/>
          </a:bodyPr>
          <a:lstStyle/>
          <a:p>
            <a:pPr algn="ctr">
              <a:spcAft>
                <a:spcPts val="400"/>
              </a:spcAft>
            </a:pPr>
            <a:r>
              <a:rPr sz="3800" b="1">
                <a:solidFill>
                  <a:srgbClr val="F2EDE6"/>
                </a:solidFill>
                <a:latin typeface="Cambria"/>
              </a:rPr>
              <a:t>64×64</a:t>
            </a:r>
          </a:p>
        </p:txBody>
      </p:sp>
      <p:sp>
        <p:nvSpPr>
          <p:cNvPr id="9" name="TextBox 8"/>
          <p:cNvSpPr txBox="1"/>
          <p:nvPr/>
        </p:nvSpPr>
        <p:spPr>
          <a:xfrm>
            <a:off x="4343400" y="2971800"/>
            <a:ext cx="3520440" cy="457200"/>
          </a:xfrm>
          <a:prstGeom prst="rect">
            <a:avLst/>
          </a:prstGeom>
          <a:noFill/>
        </p:spPr>
        <p:txBody>
          <a:bodyPr wrap="square" lIns="0" rIns="0" tIns="0" bIns="0" anchor="t">
            <a:spAutoFit/>
          </a:bodyPr>
          <a:lstStyle/>
          <a:p>
            <a:pPr algn="ctr">
              <a:spcAft>
                <a:spcPts val="400"/>
              </a:spcAft>
            </a:pPr>
            <a:r>
              <a:rPr sz="1700" b="0">
                <a:solidFill>
                  <a:srgbClr val="F2EDE6"/>
                </a:solidFill>
                <a:latin typeface="Calibri"/>
              </a:rPr>
              <a:t>pixels</a:t>
            </a:r>
          </a:p>
        </p:txBody>
      </p:sp>
      <p:sp>
        <p:nvSpPr>
          <p:cNvPr id="10" name="Rounded Rectangle 9"/>
          <p:cNvSpPr/>
          <p:nvPr/>
        </p:nvSpPr>
        <p:spPr>
          <a:xfrm>
            <a:off x="8138160" y="1737360"/>
            <a:ext cx="3520440" cy="2011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2103120"/>
            <a:ext cx="3520440" cy="822960"/>
          </a:xfrm>
          <a:prstGeom prst="rect">
            <a:avLst/>
          </a:prstGeom>
          <a:noFill/>
        </p:spPr>
        <p:txBody>
          <a:bodyPr wrap="square" lIns="0" rIns="0" tIns="0" bIns="0" anchor="t">
            <a:spAutoFit/>
          </a:bodyPr>
          <a:lstStyle/>
          <a:p>
            <a:pPr algn="ctr">
              <a:spcAft>
                <a:spcPts val="400"/>
              </a:spcAft>
            </a:pPr>
            <a:r>
              <a:rPr sz="3800" b="1">
                <a:solidFill>
                  <a:srgbClr val="D4A84B"/>
                </a:solidFill>
                <a:latin typeface="Cambria"/>
              </a:rPr>
              <a:t>[−1, 1]</a:t>
            </a:r>
          </a:p>
        </p:txBody>
      </p:sp>
      <p:sp>
        <p:nvSpPr>
          <p:cNvPr id="12" name="TextBox 11"/>
          <p:cNvSpPr txBox="1"/>
          <p:nvPr/>
        </p:nvSpPr>
        <p:spPr>
          <a:xfrm>
            <a:off x="8138160" y="2971800"/>
            <a:ext cx="3520440" cy="457200"/>
          </a:xfrm>
          <a:prstGeom prst="rect">
            <a:avLst/>
          </a:prstGeom>
          <a:noFill/>
        </p:spPr>
        <p:txBody>
          <a:bodyPr wrap="square" lIns="0" rIns="0" tIns="0" bIns="0" anchor="t">
            <a:spAutoFit/>
          </a:bodyPr>
          <a:lstStyle/>
          <a:p>
            <a:pPr algn="ctr">
              <a:spcAft>
                <a:spcPts val="400"/>
              </a:spcAft>
            </a:pPr>
            <a:r>
              <a:rPr sz="1700" b="0">
                <a:solidFill>
                  <a:srgbClr val="A39A90"/>
                </a:solidFill>
                <a:latin typeface="Calibri"/>
              </a:rPr>
              <a:t>sortie tanh</a:t>
            </a:r>
          </a:p>
        </p:txBody>
      </p:sp>
      <p:sp>
        <p:nvSpPr>
          <p:cNvPr id="13" name="Rounded Rectangle 12"/>
          <p:cNvSpPr/>
          <p:nvPr/>
        </p:nvSpPr>
        <p:spPr>
          <a:xfrm>
            <a:off x="548640" y="3977640"/>
            <a:ext cx="3520440" cy="2011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343400"/>
            <a:ext cx="3520440" cy="822960"/>
          </a:xfrm>
          <a:prstGeom prst="rect">
            <a:avLst/>
          </a:prstGeom>
          <a:noFill/>
        </p:spPr>
        <p:txBody>
          <a:bodyPr wrap="square" lIns="0" rIns="0" tIns="0" bIns="0" anchor="t">
            <a:spAutoFit/>
          </a:bodyPr>
          <a:lstStyle/>
          <a:p>
            <a:pPr algn="ctr">
              <a:spcAft>
                <a:spcPts val="400"/>
              </a:spcAft>
            </a:pPr>
            <a:r>
              <a:rPr sz="3800" b="1">
                <a:solidFill>
                  <a:srgbClr val="D4A84B"/>
                </a:solidFill>
                <a:latin typeface="Cambria"/>
              </a:rPr>
              <a:t>Sans N&amp;B</a:t>
            </a:r>
          </a:p>
        </p:txBody>
      </p:sp>
      <p:sp>
        <p:nvSpPr>
          <p:cNvPr id="15" name="TextBox 14"/>
          <p:cNvSpPr txBox="1"/>
          <p:nvPr/>
        </p:nvSpPr>
        <p:spPr>
          <a:xfrm>
            <a:off x="548640" y="5212080"/>
            <a:ext cx="3520440" cy="457200"/>
          </a:xfrm>
          <a:prstGeom prst="rect">
            <a:avLst/>
          </a:prstGeom>
          <a:noFill/>
        </p:spPr>
        <p:txBody>
          <a:bodyPr wrap="square" lIns="0" rIns="0" tIns="0" bIns="0" anchor="t">
            <a:spAutoFit/>
          </a:bodyPr>
          <a:lstStyle/>
          <a:p>
            <a:pPr algn="ctr">
              <a:spcAft>
                <a:spcPts val="400"/>
              </a:spcAft>
            </a:pPr>
            <a:r>
              <a:rPr sz="1700" b="0">
                <a:solidFill>
                  <a:srgbClr val="A39A90"/>
                </a:solidFill>
                <a:latin typeface="Calibri"/>
              </a:rPr>
              <a:t>saturation</a:t>
            </a:r>
          </a:p>
        </p:txBody>
      </p:sp>
      <p:sp>
        <p:nvSpPr>
          <p:cNvPr id="16" name="Rounded Rectangle 15"/>
          <p:cNvSpPr/>
          <p:nvPr/>
        </p:nvSpPr>
        <p:spPr>
          <a:xfrm>
            <a:off x="4343400" y="3977640"/>
            <a:ext cx="3520440" cy="2011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4343400"/>
            <a:ext cx="3520440" cy="822960"/>
          </a:xfrm>
          <a:prstGeom prst="rect">
            <a:avLst/>
          </a:prstGeom>
          <a:noFill/>
        </p:spPr>
        <p:txBody>
          <a:bodyPr wrap="square" lIns="0" rIns="0" tIns="0" bIns="0" anchor="t">
            <a:spAutoFit/>
          </a:bodyPr>
          <a:lstStyle/>
          <a:p>
            <a:pPr algn="ctr">
              <a:spcAft>
                <a:spcPts val="400"/>
              </a:spcAft>
            </a:pPr>
            <a:r>
              <a:rPr sz="3800" b="1">
                <a:solidFill>
                  <a:srgbClr val="D4A84B"/>
                </a:solidFill>
                <a:latin typeface="Cambria"/>
              </a:rPr>
              <a:t>Sans doublons</a:t>
            </a:r>
          </a:p>
        </p:txBody>
      </p:sp>
      <p:sp>
        <p:nvSpPr>
          <p:cNvPr id="18" name="TextBox 17"/>
          <p:cNvSpPr txBox="1"/>
          <p:nvPr/>
        </p:nvSpPr>
        <p:spPr>
          <a:xfrm>
            <a:off x="4343400" y="5212080"/>
            <a:ext cx="3520440" cy="457200"/>
          </a:xfrm>
          <a:prstGeom prst="rect">
            <a:avLst/>
          </a:prstGeom>
          <a:noFill/>
        </p:spPr>
        <p:txBody>
          <a:bodyPr wrap="square" lIns="0" rIns="0" tIns="0" bIns="0" anchor="t">
            <a:spAutoFit/>
          </a:bodyPr>
          <a:lstStyle/>
          <a:p>
            <a:pPr algn="ctr">
              <a:spcAft>
                <a:spcPts val="400"/>
              </a:spcAft>
            </a:pPr>
            <a:r>
              <a:rPr sz="1700" b="0">
                <a:solidFill>
                  <a:srgbClr val="A39A90"/>
                </a:solidFill>
                <a:latin typeface="Calibri"/>
              </a:rPr>
              <a:t>pixels confirmés</a:t>
            </a:r>
          </a:p>
        </p:txBody>
      </p:sp>
      <p:sp>
        <p:nvSpPr>
          <p:cNvPr id="19" name="Rounded Rectangle 18"/>
          <p:cNvSpPr/>
          <p:nvPr/>
        </p:nvSpPr>
        <p:spPr>
          <a:xfrm>
            <a:off x="8138160" y="3977640"/>
            <a:ext cx="3520440" cy="201168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4343400"/>
            <a:ext cx="3520440" cy="822960"/>
          </a:xfrm>
          <a:prstGeom prst="rect">
            <a:avLst/>
          </a:prstGeom>
          <a:noFill/>
        </p:spPr>
        <p:txBody>
          <a:bodyPr wrap="square" lIns="0" rIns="0" tIns="0" bIns="0" anchor="t">
            <a:spAutoFit/>
          </a:bodyPr>
          <a:lstStyle/>
          <a:p>
            <a:pPr algn="ctr">
              <a:spcAft>
                <a:spcPts val="400"/>
              </a:spcAft>
            </a:pPr>
            <a:r>
              <a:rPr sz="3800" b="1">
                <a:solidFill>
                  <a:srgbClr val="D4A84B"/>
                </a:solidFill>
                <a:latin typeface="Cambria"/>
              </a:rPr>
              <a:t>Miroir</a:t>
            </a:r>
          </a:p>
        </p:txBody>
      </p:sp>
      <p:sp>
        <p:nvSpPr>
          <p:cNvPr id="21" name="TextBox 20"/>
          <p:cNvSpPr txBox="1"/>
          <p:nvPr/>
        </p:nvSpPr>
        <p:spPr>
          <a:xfrm>
            <a:off x="8138160" y="5212080"/>
            <a:ext cx="3520440" cy="457200"/>
          </a:xfrm>
          <a:prstGeom prst="rect">
            <a:avLst/>
          </a:prstGeom>
          <a:noFill/>
        </p:spPr>
        <p:txBody>
          <a:bodyPr wrap="square" lIns="0" rIns="0" tIns="0" bIns="0" anchor="t">
            <a:spAutoFit/>
          </a:bodyPr>
          <a:lstStyle/>
          <a:p>
            <a:pPr algn="ctr">
              <a:spcAft>
                <a:spcPts val="400"/>
              </a:spcAft>
            </a:pPr>
            <a:r>
              <a:rPr sz="1700" b="0">
                <a:solidFill>
                  <a:srgbClr val="A39A90"/>
                </a:solidFill>
                <a:latin typeface="Calibri"/>
              </a:rPr>
              <a:t>horizontal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code testé</a:t>
            </a:r>
          </a:p>
        </p:txBody>
      </p:sp>
      <p:sp>
        <p:nvSpPr>
          <p:cNvPr id="4" name="Rounded Rectangle 3"/>
          <p:cNvSpPr/>
          <p:nvPr/>
        </p:nvSpPr>
        <p:spPr>
          <a:xfrm>
            <a:off x="548640" y="1645920"/>
            <a:ext cx="6949440" cy="3840480"/>
          </a:xfrm>
          <a:prstGeom prst="roundRect">
            <a:avLst>
              <a:gd name="adj" fmla="val 6000"/>
            </a:avLst>
          </a:prstGeom>
          <a:solidFill>
            <a:srgbClr val="0B0A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6492240" cy="274320"/>
          </a:xfrm>
          <a:prstGeom prst="rect">
            <a:avLst/>
          </a:prstGeom>
          <a:noFill/>
        </p:spPr>
        <p:txBody>
          <a:bodyPr wrap="square" lIns="0" rIns="0" tIns="0" bIns="0" anchor="t">
            <a:spAutoFit/>
          </a:bodyPr>
          <a:lstStyle/>
          <a:p>
            <a:pPr algn="l">
              <a:spcAft>
                <a:spcPts val="400"/>
              </a:spcAft>
            </a:pPr>
            <a:r>
              <a:rPr sz="1200" b="0">
                <a:solidFill>
                  <a:srgbClr val="D4A84B"/>
                </a:solidFill>
                <a:latin typeface="Consolas"/>
              </a:rPr>
              <a:t>python -m pytest</a:t>
            </a:r>
          </a:p>
        </p:txBody>
      </p:sp>
      <p:sp>
        <p:nvSpPr>
          <p:cNvPr id="6" name="TextBox 5"/>
          <p:cNvSpPr txBox="1"/>
          <p:nvPr/>
        </p:nvSpPr>
        <p:spPr>
          <a:xfrm>
            <a:off x="777240" y="2148840"/>
            <a:ext cx="6492240" cy="3200400"/>
          </a:xfrm>
          <a:prstGeom prst="rect">
            <a:avLst/>
          </a:prstGeom>
          <a:noFill/>
        </p:spPr>
        <p:txBody>
          <a:bodyPr wrap="square" lIns="0" rIns="0" tIns="0" bIns="0" anchor="t">
            <a:spAutoFit/>
          </a:bodyPr>
          <a:lstStyle/>
          <a:p>
            <a:pPr algn="l">
              <a:spcAft>
                <a:spcPts val="100"/>
              </a:spcAft>
            </a:pPr>
            <a:r>
              <a:rPr sz="900" b="0">
                <a:solidFill>
                  <a:srgbClr val="9FD39A"/>
                </a:solidFill>
                <a:latin typeface="Consolas"/>
              </a:rPr>
              <a:t>test_pipeline.py::test_dataset_converts_to_rgb_and_skips_corrupted_files PASSED</a:t>
            </a:r>
          </a:p>
          <a:p>
            <a:pPr algn="l">
              <a:spcAft>
                <a:spcPts val="100"/>
              </a:spcAft>
            </a:pPr>
            <a:r>
              <a:rPr sz="900" b="0">
                <a:solidFill>
                  <a:srgbClr val="9FD39A"/>
                </a:solidFill>
                <a:latin typeface="Consolas"/>
              </a:rPr>
              <a:t>test_pipeline.py::test_export_folder_writes_resized_split PASSED  </a:t>
            </a:r>
          </a:p>
          <a:p>
            <a:pPr algn="l">
              <a:spcAft>
                <a:spcPts val="100"/>
              </a:spcAft>
            </a:pPr>
            <a:r>
              <a:rPr sz="900" b="0">
                <a:solidFill>
                  <a:srgbClr val="9FD39A"/>
                </a:solidFill>
                <a:latin typeface="Consolas"/>
              </a:rPr>
              <a:t>test_pipeline.py::test_dcgan_128_shapes PASSED                    </a:t>
            </a:r>
          </a:p>
          <a:p>
            <a:pPr algn="l">
              <a:spcAft>
                <a:spcPts val="100"/>
              </a:spcAft>
            </a:pPr>
            <a:r>
              <a:rPr sz="900" b="0">
                <a:solidFill>
                  <a:srgbClr val="9FD39A"/>
                </a:solidFill>
                <a:latin typeface="Consolas"/>
              </a:rPr>
              <a:t>test_pipeline.py::test_64_architecture_unchanged_for_existing_checkpoints PASSED</a:t>
            </a:r>
          </a:p>
          <a:p>
            <a:pPr algn="l">
              <a:spcAft>
                <a:spcPts val="100"/>
              </a:spcAft>
            </a:pPr>
            <a:r>
              <a:rPr sz="900" b="0">
                <a:solidFill>
                  <a:srgbClr val="9FD39A"/>
                </a:solidFill>
                <a:latin typeface="Consolas"/>
              </a:rPr>
              <a:t>test_pipeline.py::test_train_from_image_folder PASSED             </a:t>
            </a:r>
          </a:p>
          <a:p>
            <a:pPr algn="l">
              <a:spcAft>
                <a:spcPts val="100"/>
              </a:spcAft>
            </a:pPr>
            <a:r>
              <a:rPr sz="900" b="0">
                <a:solidFill>
                  <a:srgbClr val="9FD39A"/>
                </a:solidFill>
                <a:latin typeface="Consolas"/>
              </a:rPr>
              <a:t>test_selection.py::test_balanced_quotas_fills_small_groups_then_shares_the_rest PASSED</a:t>
            </a:r>
          </a:p>
          <a:p>
            <a:pPr algn="l">
              <a:spcAft>
                <a:spcPts val="100"/>
              </a:spcAft>
            </a:pPr>
            <a:r>
              <a:rPr sz="900" b="0">
                <a:solidFill>
                  <a:srgbClr val="9FD39A"/>
                </a:solidFill>
                <a:latin typeface="Consolas"/>
              </a:rPr>
              <a:t>test_selection.py::test_balanced_quotas_distributes_remainder_and_respects_total PASSED</a:t>
            </a:r>
          </a:p>
          <a:p>
            <a:pPr algn="l">
              <a:spcAft>
                <a:spcPts val="100"/>
              </a:spcAft>
            </a:pPr>
            <a:r>
              <a:rPr sz="900" b="0">
                <a:solidFill>
                  <a:srgbClr val="9FD39A"/>
                </a:solidFill>
                <a:latin typeface="Consolas"/>
              </a:rPr>
              <a:t>test_selection.py::test_balanced_quotas_takes_everything_when_short PASSED</a:t>
            </a:r>
          </a:p>
          <a:p>
            <a:pPr algn="l">
              <a:spcAft>
                <a:spcPts val="100"/>
              </a:spcAft>
            </a:pPr>
            <a:r>
              <a:rPr sz="900" b="0">
                <a:solidFill>
                  <a:srgbClr val="9FD39A"/>
                </a:solidFill>
                <a:latin typeface="Consolas"/>
              </a:rPr>
              <a:t>test_selection.py::test_split_is_deterministic PASSED             </a:t>
            </a:r>
          </a:p>
          <a:p>
            <a:pPr algn="l">
              <a:spcAft>
                <a:spcPts val="100"/>
              </a:spcAft>
            </a:pPr>
            <a:r>
              <a:rPr sz="900" b="0">
                <a:solidFill>
                  <a:srgbClr val="9FD39A"/>
                </a:solidFill>
                <a:latin typeface="Consolas"/>
              </a:rPr>
              <a:t>test_selection.py::test_select_paintings_applies_filters_caps_and_quotas PASSED</a:t>
            </a:r>
          </a:p>
          <a:p>
            <a:pPr algn="l">
              <a:spcAft>
                <a:spcPts val="100"/>
              </a:spcAft>
            </a:pPr>
            <a:r>
              <a:rPr sz="900" b="0">
                <a:solidFill>
                  <a:srgbClr val="9FD39A"/>
                </a:solidFill>
                <a:latin typeface="Consolas"/>
              </a:rPr>
              <a:t>test_selection.py::test_select_paintings_is_reproducible PASSED   </a:t>
            </a:r>
          </a:p>
          <a:p>
            <a:pPr algn="l">
              <a:spcAft>
                <a:spcPts val="100"/>
              </a:spcAft>
            </a:pPr>
            <a:r>
              <a:rPr sz="900" b="0">
                <a:solidFill>
                  <a:srgbClr val="9FD39A"/>
                </a:solidFill>
                <a:latin typeface="Consolas"/>
              </a:rPr>
              <a:t>test_selection.py::test_select_paintings_can_restrict_to_one_genre PASSED</a:t>
            </a:r>
          </a:p>
          <a:p>
            <a:pPr algn="l">
              <a:spcAft>
                <a:spcPts val="100"/>
              </a:spcAft>
            </a:pPr>
            <a:r>
              <a:rPr sz="900" b="0">
                <a:solidFill>
                  <a:srgbClr val="9FD39A"/>
                </a:solidFill>
                <a:latin typeface="Consolas"/>
              </a:rPr>
              <a:t>46 passed in 9.53s</a:t>
            </a:r>
          </a:p>
        </p:txBody>
      </p:sp>
      <p:sp>
        <p:nvSpPr>
          <p:cNvPr id="7" name="Rounded Rectangle 6"/>
          <p:cNvSpPr/>
          <p:nvPr/>
        </p:nvSpPr>
        <p:spPr>
          <a:xfrm>
            <a:off x="7863840" y="1737360"/>
            <a:ext cx="3749039"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Métadonnées</a:t>
            </a:r>
          </a:p>
        </p:txBody>
      </p:sp>
      <p:sp>
        <p:nvSpPr>
          <p:cNvPr id="8" name="Rounded Rectangle 7"/>
          <p:cNvSpPr/>
          <p:nvPr/>
        </p:nvSpPr>
        <p:spPr>
          <a:xfrm>
            <a:off x="7863840" y="2606040"/>
            <a:ext cx="3749039"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Sélection</a:t>
            </a:r>
          </a:p>
        </p:txBody>
      </p:sp>
      <p:sp>
        <p:nvSpPr>
          <p:cNvPr id="9" name="Rounded Rectangle 8"/>
          <p:cNvSpPr/>
          <p:nvPr/>
        </p:nvSpPr>
        <p:spPr>
          <a:xfrm>
            <a:off x="7863840" y="3474720"/>
            <a:ext cx="3749039"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Téléchargement</a:t>
            </a:r>
          </a:p>
        </p:txBody>
      </p:sp>
      <p:sp>
        <p:nvSpPr>
          <p:cNvPr id="10" name="Rounded Rectangle 9"/>
          <p:cNvSpPr/>
          <p:nvPr/>
        </p:nvSpPr>
        <p:spPr>
          <a:xfrm>
            <a:off x="7863840" y="4343400"/>
            <a:ext cx="3749039" cy="64008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Contrôles d'images</a:t>
            </a:r>
          </a:p>
        </p:txBody>
      </p:sp>
      <p:sp>
        <p:nvSpPr>
          <p:cNvPr id="11" name="Rounded Rectangle 10"/>
          <p:cNvSpPr/>
          <p:nvPr/>
        </p:nvSpPr>
        <p:spPr>
          <a:xfrm>
            <a:off x="7863840" y="5257800"/>
            <a:ext cx="3749039" cy="64008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800" b="1">
                <a:solidFill>
                  <a:srgbClr val="F2EDE6"/>
                </a:solidFill>
                <a:latin typeface="Calibri"/>
              </a:rPr>
              <a:t>1 bug → 1 test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2103120"/>
            <a:ext cx="3657600" cy="1280160"/>
          </a:xfrm>
          <a:prstGeom prst="rect">
            <a:avLst/>
          </a:prstGeom>
          <a:noFill/>
        </p:spPr>
        <p:txBody>
          <a:bodyPr wrap="square" lIns="0" rIns="0" tIns="0" bIns="0" anchor="t">
            <a:spAutoFit/>
          </a:bodyPr>
          <a:lstStyle/>
          <a:p>
            <a:pPr algn="l">
              <a:spcAft>
                <a:spcPts val="400"/>
              </a:spcAft>
            </a:pPr>
            <a:r>
              <a:rPr sz="11000" b="1">
                <a:solidFill>
                  <a:srgbClr val="D4A84B"/>
                </a:solidFill>
                <a:latin typeface="Cambria"/>
              </a:rPr>
              <a:t>04</a:t>
            </a:r>
          </a:p>
        </p:txBody>
      </p:sp>
      <p:sp>
        <p:nvSpPr>
          <p:cNvPr id="3" name="TextBox 2"/>
          <p:cNvSpPr txBox="1"/>
          <p:nvPr/>
        </p:nvSpPr>
        <p:spPr>
          <a:xfrm>
            <a:off x="548640" y="3566160"/>
            <a:ext cx="5943600" cy="822960"/>
          </a:xfrm>
          <a:prstGeom prst="rect">
            <a:avLst/>
          </a:prstGeom>
          <a:noFill/>
        </p:spPr>
        <p:txBody>
          <a:bodyPr wrap="square" lIns="0" rIns="0" tIns="0" bIns="0" anchor="t">
            <a:spAutoFit/>
          </a:bodyPr>
          <a:lstStyle/>
          <a:p>
            <a:pPr algn="l">
              <a:spcAft>
                <a:spcPts val="400"/>
              </a:spcAft>
            </a:pPr>
            <a:r>
              <a:rPr sz="4400" b="1">
                <a:solidFill>
                  <a:srgbClr val="F2EDE6"/>
                </a:solidFill>
                <a:latin typeface="Cambria"/>
              </a:rPr>
              <a:t>Modèle</a:t>
            </a:r>
          </a:p>
        </p:txBody>
      </p:sp>
      <p:sp>
        <p:nvSpPr>
          <p:cNvPr id="4" name="Rounded Rectangle 3"/>
          <p:cNvSpPr/>
          <p:nvPr/>
        </p:nvSpPr>
        <p:spPr>
          <a:xfrm>
            <a:off x="548640"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DCGAN</a:t>
            </a:r>
          </a:p>
        </p:txBody>
      </p:sp>
      <p:sp>
        <p:nvSpPr>
          <p:cNvPr id="5" name="Rounded Rectangle 4"/>
          <p:cNvSpPr/>
          <p:nvPr/>
        </p:nvSpPr>
        <p:spPr>
          <a:xfrm>
            <a:off x="2423159"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64×64</a:t>
            </a:r>
          </a:p>
        </p:txBody>
      </p:sp>
      <p:sp>
        <p:nvSpPr>
          <p:cNvPr id="6" name="Rounded Rectangle 5"/>
          <p:cNvSpPr/>
          <p:nvPr/>
        </p:nvSpPr>
        <p:spPr>
          <a:xfrm>
            <a:off x="4297678" y="4572000"/>
            <a:ext cx="1737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FID · KID</a:t>
            </a:r>
          </a:p>
        </p:txBody>
      </p:sp>
      <p:pic>
        <p:nvPicPr>
          <p:cNvPr id="7" name="Picture 6" descr="01953.jpg"/>
          <p:cNvPicPr>
            <a:picLocks noChangeAspect="1"/>
          </p:cNvPicPr>
          <p:nvPr/>
        </p:nvPicPr>
        <p:blipFill>
          <a:blip r:embed="rId3"/>
          <a:stretch>
            <a:fillRect/>
          </a:stretch>
        </p:blipFill>
        <p:spPr>
          <a:xfrm>
            <a:off x="7269480" y="1280160"/>
            <a:ext cx="1325880" cy="1325880"/>
          </a:xfrm>
          <a:prstGeom prst="rect">
            <a:avLst/>
          </a:prstGeom>
        </p:spPr>
      </p:pic>
      <p:pic>
        <p:nvPicPr>
          <p:cNvPr id="8" name="Picture 7" descr="02091.jpg"/>
          <p:cNvPicPr>
            <a:picLocks noChangeAspect="1"/>
          </p:cNvPicPr>
          <p:nvPr/>
        </p:nvPicPr>
        <p:blipFill>
          <a:blip r:embed="rId4"/>
          <a:stretch>
            <a:fillRect/>
          </a:stretch>
        </p:blipFill>
        <p:spPr>
          <a:xfrm>
            <a:off x="8686800" y="1280160"/>
            <a:ext cx="1325880" cy="1325880"/>
          </a:xfrm>
          <a:prstGeom prst="rect">
            <a:avLst/>
          </a:prstGeom>
        </p:spPr>
      </p:pic>
      <p:pic>
        <p:nvPicPr>
          <p:cNvPr id="9" name="Picture 8" descr="00729.jpg"/>
          <p:cNvPicPr>
            <a:picLocks noChangeAspect="1"/>
          </p:cNvPicPr>
          <p:nvPr/>
        </p:nvPicPr>
        <p:blipFill>
          <a:blip r:embed="rId5"/>
          <a:stretch>
            <a:fillRect/>
          </a:stretch>
        </p:blipFill>
        <p:spPr>
          <a:xfrm>
            <a:off x="10104120" y="1280160"/>
            <a:ext cx="1325880" cy="1325880"/>
          </a:xfrm>
          <a:prstGeom prst="rect">
            <a:avLst/>
          </a:prstGeom>
        </p:spPr>
      </p:pic>
      <p:pic>
        <p:nvPicPr>
          <p:cNvPr id="10" name="Picture 9" descr="01994.jpg"/>
          <p:cNvPicPr>
            <a:picLocks noChangeAspect="1"/>
          </p:cNvPicPr>
          <p:nvPr/>
        </p:nvPicPr>
        <p:blipFill>
          <a:blip r:embed="rId6"/>
          <a:stretch>
            <a:fillRect/>
          </a:stretch>
        </p:blipFill>
        <p:spPr>
          <a:xfrm>
            <a:off x="7269480" y="2697480"/>
            <a:ext cx="1325880" cy="1325880"/>
          </a:xfrm>
          <a:prstGeom prst="rect">
            <a:avLst/>
          </a:prstGeom>
        </p:spPr>
      </p:pic>
      <p:pic>
        <p:nvPicPr>
          <p:cNvPr id="11" name="Picture 10" descr="02053.jpg"/>
          <p:cNvPicPr>
            <a:picLocks noChangeAspect="1"/>
          </p:cNvPicPr>
          <p:nvPr/>
        </p:nvPicPr>
        <p:blipFill>
          <a:blip r:embed="rId7"/>
          <a:stretch>
            <a:fillRect/>
          </a:stretch>
        </p:blipFill>
        <p:spPr>
          <a:xfrm>
            <a:off x="8686800" y="2697480"/>
            <a:ext cx="1325880" cy="1325880"/>
          </a:xfrm>
          <a:prstGeom prst="rect">
            <a:avLst/>
          </a:prstGeom>
        </p:spPr>
      </p:pic>
      <p:pic>
        <p:nvPicPr>
          <p:cNvPr id="12" name="Picture 11" descr="00642.jpg"/>
          <p:cNvPicPr>
            <a:picLocks noChangeAspect="1"/>
          </p:cNvPicPr>
          <p:nvPr/>
        </p:nvPicPr>
        <p:blipFill>
          <a:blip r:embed="rId8"/>
          <a:stretch>
            <a:fillRect/>
          </a:stretch>
        </p:blipFill>
        <p:spPr>
          <a:xfrm>
            <a:off x="10104120" y="2697480"/>
            <a:ext cx="1325880" cy="1325880"/>
          </a:xfrm>
          <a:prstGeom prst="rect">
            <a:avLst/>
          </a:prstGeom>
        </p:spPr>
      </p:pic>
      <p:pic>
        <p:nvPicPr>
          <p:cNvPr id="13" name="Picture 12" descr="00945.jpg"/>
          <p:cNvPicPr>
            <a:picLocks noChangeAspect="1"/>
          </p:cNvPicPr>
          <p:nvPr/>
        </p:nvPicPr>
        <p:blipFill>
          <a:blip r:embed="rId9"/>
          <a:stretch>
            <a:fillRect/>
          </a:stretch>
        </p:blipFill>
        <p:spPr>
          <a:xfrm>
            <a:off x="7269480" y="4114800"/>
            <a:ext cx="1325880" cy="1325880"/>
          </a:xfrm>
          <a:prstGeom prst="rect">
            <a:avLst/>
          </a:prstGeom>
        </p:spPr>
      </p:pic>
      <p:pic>
        <p:nvPicPr>
          <p:cNvPr id="14" name="Picture 13" descr="00988.jpg"/>
          <p:cNvPicPr>
            <a:picLocks noChangeAspect="1"/>
          </p:cNvPicPr>
          <p:nvPr/>
        </p:nvPicPr>
        <p:blipFill>
          <a:blip r:embed="rId10"/>
          <a:stretch>
            <a:fillRect/>
          </a:stretch>
        </p:blipFill>
        <p:spPr>
          <a:xfrm>
            <a:off x="8686800" y="4114800"/>
            <a:ext cx="1325880" cy="1325880"/>
          </a:xfrm>
          <a:prstGeom prst="rect">
            <a:avLst/>
          </a:prstGeom>
        </p:spPr>
      </p:pic>
      <p:pic>
        <p:nvPicPr>
          <p:cNvPr id="15" name="Picture 14" descr="00697.jpg"/>
          <p:cNvPicPr>
            <a:picLocks noChangeAspect="1"/>
          </p:cNvPicPr>
          <p:nvPr/>
        </p:nvPicPr>
        <p:blipFill>
          <a:blip r:embed="rId11"/>
          <a:stretch>
            <a:fillRect/>
          </a:stretch>
        </p:blipFill>
        <p:spPr>
          <a:xfrm>
            <a:off x="10104120" y="4114800"/>
            <a:ext cx="1325880" cy="13258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ÉNONCÉ · Q6</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Architecture et fonctions de perte</a:t>
            </a:r>
          </a:p>
        </p:txBody>
      </p:sp>
      <p:sp>
        <p:nvSpPr>
          <p:cNvPr id="4" name="TextBox 3"/>
          <p:cNvSpPr txBox="1"/>
          <p:nvPr/>
        </p:nvSpPr>
        <p:spPr>
          <a:xfrm>
            <a:off x="548640" y="1508760"/>
            <a:ext cx="7315200" cy="411480"/>
          </a:xfrm>
          <a:prstGeom prst="rect">
            <a:avLst/>
          </a:prstGeom>
          <a:noFill/>
        </p:spPr>
        <p:txBody>
          <a:bodyPr wrap="square" lIns="0" rIns="0" tIns="0" bIns="0" anchor="ctr">
            <a:spAutoFit/>
          </a:bodyPr>
          <a:lstStyle/>
          <a:p>
            <a:pPr algn="l">
              <a:spcAft>
                <a:spcPts val="400"/>
              </a:spcAft>
            </a:pPr>
            <a:r>
              <a:rPr sz="1800" b="1">
                <a:solidFill>
                  <a:srgbClr val="D4A84B"/>
                </a:solidFill>
                <a:latin typeface="Calibri"/>
              </a:rPr>
              <a:t>Générateur : agrandit le bruit</a:t>
            </a:r>
          </a:p>
        </p:txBody>
      </p:sp>
      <p:sp>
        <p:nvSpPr>
          <p:cNvPr id="5" name="Rounded Rectangle 4"/>
          <p:cNvSpPr/>
          <p:nvPr/>
        </p:nvSpPr>
        <p:spPr>
          <a:xfrm>
            <a:off x="54864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z</a:t>
            </a:r>
          </a:p>
          <a:p>
            <a:pPr algn="ctr">
              <a:spcAft>
                <a:spcPts val="0"/>
              </a:spcAft>
            </a:pPr>
            <a:r>
              <a:rPr sz="1100" b="0">
                <a:solidFill>
                  <a:srgbClr val="F2EDE6"/>
                </a:solidFill>
                <a:latin typeface="Calibri"/>
              </a:rPr>
              <a:t>100</a:t>
            </a:r>
          </a:p>
        </p:txBody>
      </p:sp>
      <p:sp>
        <p:nvSpPr>
          <p:cNvPr id="7" name="Right Arrow 6"/>
          <p:cNvSpPr/>
          <p:nvPr/>
        </p:nvSpPr>
        <p:spPr>
          <a:xfrm>
            <a:off x="160020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7452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7452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4×4</a:t>
            </a:r>
          </a:p>
          <a:p>
            <a:pPr algn="ctr">
              <a:spcAft>
                <a:spcPts val="0"/>
              </a:spcAft>
            </a:pPr>
            <a:r>
              <a:rPr sz="1100" b="0">
                <a:solidFill>
                  <a:srgbClr val="F2EDE6"/>
                </a:solidFill>
                <a:latin typeface="Calibri"/>
              </a:rPr>
              <a:t>512</a:t>
            </a:r>
          </a:p>
        </p:txBody>
      </p:sp>
      <p:sp>
        <p:nvSpPr>
          <p:cNvPr id="10" name="Right Arrow 9"/>
          <p:cNvSpPr/>
          <p:nvPr/>
        </p:nvSpPr>
        <p:spPr>
          <a:xfrm>
            <a:off x="292608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0040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8×8</a:t>
            </a:r>
          </a:p>
          <a:p>
            <a:pPr algn="ctr">
              <a:spcAft>
                <a:spcPts val="0"/>
              </a:spcAft>
            </a:pPr>
            <a:r>
              <a:rPr sz="1100" b="0">
                <a:solidFill>
                  <a:srgbClr val="F2EDE6"/>
                </a:solidFill>
                <a:latin typeface="Calibri"/>
              </a:rPr>
              <a:t>256</a:t>
            </a:r>
          </a:p>
        </p:txBody>
      </p:sp>
      <p:sp>
        <p:nvSpPr>
          <p:cNvPr id="13" name="Right Arrow 12"/>
          <p:cNvSpPr/>
          <p:nvPr/>
        </p:nvSpPr>
        <p:spPr>
          <a:xfrm>
            <a:off x="425196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2628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16×16</a:t>
            </a:r>
          </a:p>
          <a:p>
            <a:pPr algn="ctr">
              <a:spcAft>
                <a:spcPts val="0"/>
              </a:spcAft>
            </a:pPr>
            <a:r>
              <a:rPr sz="1100" b="0">
                <a:solidFill>
                  <a:srgbClr val="F2EDE6"/>
                </a:solidFill>
                <a:latin typeface="Calibri"/>
              </a:rPr>
              <a:t>128</a:t>
            </a:r>
          </a:p>
        </p:txBody>
      </p:sp>
      <p:sp>
        <p:nvSpPr>
          <p:cNvPr id="16" name="Right Arrow 15"/>
          <p:cNvSpPr/>
          <p:nvPr/>
        </p:nvSpPr>
        <p:spPr>
          <a:xfrm>
            <a:off x="557784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852160" y="1920240"/>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32×32</a:t>
            </a:r>
          </a:p>
          <a:p>
            <a:pPr algn="ctr">
              <a:spcAft>
                <a:spcPts val="0"/>
              </a:spcAft>
            </a:pPr>
            <a:r>
              <a:rPr sz="1100" b="0">
                <a:solidFill>
                  <a:srgbClr val="F2EDE6"/>
                </a:solidFill>
                <a:latin typeface="Calibri"/>
              </a:rPr>
              <a:t>64</a:t>
            </a:r>
          </a:p>
        </p:txBody>
      </p:sp>
      <p:sp>
        <p:nvSpPr>
          <p:cNvPr id="19" name="Right Arrow 18"/>
          <p:cNvSpPr/>
          <p:nvPr/>
        </p:nvSpPr>
        <p:spPr>
          <a:xfrm>
            <a:off x="6903720" y="2221992"/>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178040" y="1920240"/>
            <a:ext cx="1024128" cy="86868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1920240"/>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64×64</a:t>
            </a:r>
          </a:p>
          <a:p>
            <a:pPr algn="ctr">
              <a:spcAft>
                <a:spcPts val="0"/>
              </a:spcAft>
            </a:pPr>
            <a:r>
              <a:rPr sz="1100" b="0">
                <a:solidFill>
                  <a:srgbClr val="F2EDE6"/>
                </a:solidFill>
                <a:latin typeface="Calibri"/>
              </a:rPr>
              <a:t>3 · tanh</a:t>
            </a:r>
          </a:p>
        </p:txBody>
      </p:sp>
      <p:sp>
        <p:nvSpPr>
          <p:cNvPr id="22" name="TextBox 21"/>
          <p:cNvSpPr txBox="1"/>
          <p:nvPr/>
        </p:nvSpPr>
        <p:spPr>
          <a:xfrm>
            <a:off x="548640" y="2852928"/>
            <a:ext cx="7498079" cy="320040"/>
          </a:xfrm>
          <a:prstGeom prst="rect">
            <a:avLst/>
          </a:prstGeom>
          <a:noFill/>
        </p:spPr>
        <p:txBody>
          <a:bodyPr wrap="square" lIns="0" rIns="0" tIns="0" bIns="0" anchor="t">
            <a:spAutoFit/>
          </a:bodyPr>
          <a:lstStyle/>
          <a:p>
            <a:pPr algn="l">
              <a:spcAft>
                <a:spcPts val="400"/>
              </a:spcAft>
            </a:pPr>
            <a:r>
              <a:rPr sz="1200" b="0">
                <a:solidFill>
                  <a:srgbClr val="A39A90"/>
                </a:solidFill>
                <a:latin typeface="Calibri"/>
              </a:rPr>
              <a:t>Convolutions transposées (pas 2) · BatchNorm · ReLU · sortie tanh dans [−1, 1]</a:t>
            </a:r>
          </a:p>
        </p:txBody>
      </p:sp>
      <p:sp>
        <p:nvSpPr>
          <p:cNvPr id="23" name="TextBox 22"/>
          <p:cNvSpPr txBox="1"/>
          <p:nvPr/>
        </p:nvSpPr>
        <p:spPr>
          <a:xfrm>
            <a:off x="548640" y="3337559"/>
            <a:ext cx="7315200" cy="411480"/>
          </a:xfrm>
          <a:prstGeom prst="rect">
            <a:avLst/>
          </a:prstGeom>
          <a:noFill/>
        </p:spPr>
        <p:txBody>
          <a:bodyPr wrap="square" lIns="0" rIns="0" tIns="0" bIns="0" anchor="ctr">
            <a:spAutoFit/>
          </a:bodyPr>
          <a:lstStyle/>
          <a:p>
            <a:pPr algn="l">
              <a:spcAft>
                <a:spcPts val="400"/>
              </a:spcAft>
            </a:pPr>
            <a:r>
              <a:rPr sz="1800" b="1">
                <a:solidFill>
                  <a:srgbClr val="D4A84B"/>
                </a:solidFill>
                <a:latin typeface="Calibri"/>
              </a:rPr>
              <a:t>Discriminateur : le chemin inverse</a:t>
            </a:r>
          </a:p>
        </p:txBody>
      </p:sp>
      <p:sp>
        <p:nvSpPr>
          <p:cNvPr id="24" name="Rounded Rectangle 23"/>
          <p:cNvSpPr/>
          <p:nvPr/>
        </p:nvSpPr>
        <p:spPr>
          <a:xfrm>
            <a:off x="54864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64×64</a:t>
            </a:r>
          </a:p>
          <a:p>
            <a:pPr algn="ctr">
              <a:spcAft>
                <a:spcPts val="0"/>
              </a:spcAft>
            </a:pPr>
            <a:r>
              <a:rPr sz="1100" b="0">
                <a:solidFill>
                  <a:srgbClr val="F2EDE6"/>
                </a:solidFill>
                <a:latin typeface="Calibri"/>
              </a:rPr>
              <a:t>3</a:t>
            </a:r>
          </a:p>
        </p:txBody>
      </p:sp>
      <p:sp>
        <p:nvSpPr>
          <p:cNvPr id="26" name="Right Arrow 25"/>
          <p:cNvSpPr/>
          <p:nvPr/>
        </p:nvSpPr>
        <p:spPr>
          <a:xfrm>
            <a:off x="160020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87452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7452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32×32</a:t>
            </a:r>
          </a:p>
          <a:p>
            <a:pPr algn="ctr">
              <a:spcAft>
                <a:spcPts val="0"/>
              </a:spcAft>
            </a:pPr>
            <a:r>
              <a:rPr sz="1100" b="0">
                <a:solidFill>
                  <a:srgbClr val="F2EDE6"/>
                </a:solidFill>
                <a:latin typeface="Calibri"/>
              </a:rPr>
              <a:t>64</a:t>
            </a:r>
          </a:p>
        </p:txBody>
      </p:sp>
      <p:sp>
        <p:nvSpPr>
          <p:cNvPr id="29" name="Right Arrow 28"/>
          <p:cNvSpPr/>
          <p:nvPr/>
        </p:nvSpPr>
        <p:spPr>
          <a:xfrm>
            <a:off x="292608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320040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16×16</a:t>
            </a:r>
          </a:p>
          <a:p>
            <a:pPr algn="ctr">
              <a:spcAft>
                <a:spcPts val="0"/>
              </a:spcAft>
            </a:pPr>
            <a:r>
              <a:rPr sz="1100" b="0">
                <a:solidFill>
                  <a:srgbClr val="F2EDE6"/>
                </a:solidFill>
                <a:latin typeface="Calibri"/>
              </a:rPr>
              <a:t>128</a:t>
            </a:r>
          </a:p>
        </p:txBody>
      </p:sp>
      <p:sp>
        <p:nvSpPr>
          <p:cNvPr id="32" name="Right Arrow 31"/>
          <p:cNvSpPr/>
          <p:nvPr/>
        </p:nvSpPr>
        <p:spPr>
          <a:xfrm>
            <a:off x="425196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52628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2628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8×8</a:t>
            </a:r>
          </a:p>
          <a:p>
            <a:pPr algn="ctr">
              <a:spcAft>
                <a:spcPts val="0"/>
              </a:spcAft>
            </a:pPr>
            <a:r>
              <a:rPr sz="1100" b="0">
                <a:solidFill>
                  <a:srgbClr val="F2EDE6"/>
                </a:solidFill>
                <a:latin typeface="Calibri"/>
              </a:rPr>
              <a:t>256</a:t>
            </a:r>
          </a:p>
        </p:txBody>
      </p:sp>
      <p:sp>
        <p:nvSpPr>
          <p:cNvPr id="35" name="Right Arrow 34"/>
          <p:cNvSpPr/>
          <p:nvPr/>
        </p:nvSpPr>
        <p:spPr>
          <a:xfrm>
            <a:off x="557784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852160" y="3749039"/>
            <a:ext cx="1024128" cy="868680"/>
          </a:xfrm>
          <a:prstGeom prst="roundRect">
            <a:avLst>
              <a:gd name="adj" fmla="val 6000"/>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5216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4×4</a:t>
            </a:r>
          </a:p>
          <a:p>
            <a:pPr algn="ctr">
              <a:spcAft>
                <a:spcPts val="0"/>
              </a:spcAft>
            </a:pPr>
            <a:r>
              <a:rPr sz="1100" b="0">
                <a:solidFill>
                  <a:srgbClr val="F2EDE6"/>
                </a:solidFill>
                <a:latin typeface="Calibri"/>
              </a:rPr>
              <a:t>512</a:t>
            </a:r>
          </a:p>
        </p:txBody>
      </p:sp>
      <p:sp>
        <p:nvSpPr>
          <p:cNvPr id="38" name="Right Arrow 37"/>
          <p:cNvSpPr/>
          <p:nvPr/>
        </p:nvSpPr>
        <p:spPr>
          <a:xfrm>
            <a:off x="6903720" y="4050791"/>
            <a:ext cx="246888" cy="256032"/>
          </a:xfrm>
          <a:prstGeom prst="rightArrow">
            <a:avLst/>
          </a:prstGeom>
          <a:solidFill>
            <a:srgbClr val="6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178040" y="3749039"/>
            <a:ext cx="1024128" cy="86868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78040" y="3749039"/>
            <a:ext cx="1024128" cy="868680"/>
          </a:xfrm>
          <a:prstGeom prst="rect">
            <a:avLst/>
          </a:prstGeom>
          <a:noFill/>
        </p:spPr>
        <p:txBody>
          <a:bodyPr wrap="square" lIns="0" rIns="0" tIns="0" bIns="0" anchor="ctr">
            <a:spAutoFit/>
          </a:bodyPr>
          <a:lstStyle/>
          <a:p>
            <a:pPr algn="ctr">
              <a:spcAft>
                <a:spcPts val="0"/>
              </a:spcAft>
            </a:pPr>
            <a:r>
              <a:rPr sz="1500" b="1">
                <a:solidFill>
                  <a:srgbClr val="F2EDE6"/>
                </a:solidFill>
                <a:latin typeface="Calibri"/>
              </a:rPr>
              <a:t>1</a:t>
            </a:r>
          </a:p>
          <a:p>
            <a:pPr algn="ctr">
              <a:spcAft>
                <a:spcPts val="0"/>
              </a:spcAft>
            </a:pPr>
            <a:r>
              <a:rPr sz="1100" b="0">
                <a:solidFill>
                  <a:srgbClr val="F2EDE6"/>
                </a:solidFill>
                <a:latin typeface="Calibri"/>
              </a:rPr>
              <a:t>logit</a:t>
            </a:r>
          </a:p>
        </p:txBody>
      </p:sp>
      <p:sp>
        <p:nvSpPr>
          <p:cNvPr id="41" name="TextBox 40"/>
          <p:cNvSpPr txBox="1"/>
          <p:nvPr/>
        </p:nvSpPr>
        <p:spPr>
          <a:xfrm>
            <a:off x="548640" y="4681727"/>
            <a:ext cx="7498079" cy="320040"/>
          </a:xfrm>
          <a:prstGeom prst="rect">
            <a:avLst/>
          </a:prstGeom>
          <a:noFill/>
        </p:spPr>
        <p:txBody>
          <a:bodyPr wrap="square" lIns="0" rIns="0" tIns="0" bIns="0" anchor="t">
            <a:spAutoFit/>
          </a:bodyPr>
          <a:lstStyle/>
          <a:p>
            <a:pPr algn="l">
              <a:spcAft>
                <a:spcPts val="400"/>
              </a:spcAft>
            </a:pPr>
            <a:r>
              <a:rPr sz="1200" b="0">
                <a:solidFill>
                  <a:srgbClr val="A39A90"/>
                </a:solidFill>
                <a:latin typeface="Calibri"/>
              </a:rPr>
              <a:t>Convolutions (pas 2, sans pooling) · BatchNorm sauf 1re couche · LeakyReLU 0,2</a:t>
            </a:r>
          </a:p>
        </p:txBody>
      </p:sp>
      <p:sp>
        <p:nvSpPr>
          <p:cNvPr id="42" name="Rounded Rectangle 41"/>
          <p:cNvSpPr/>
          <p:nvPr/>
        </p:nvSpPr>
        <p:spPr>
          <a:xfrm>
            <a:off x="548640" y="5349240"/>
            <a:ext cx="7498079"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128×128 : une couche de plus dans G et D · 12,8 M paramètres (G) contre 3,6 M</a:t>
            </a:r>
          </a:p>
        </p:txBody>
      </p:sp>
      <p:sp>
        <p:nvSpPr>
          <p:cNvPr id="43" name="Rounded Rectangle 42"/>
          <p:cNvSpPr/>
          <p:nvPr/>
        </p:nvSpPr>
        <p:spPr>
          <a:xfrm>
            <a:off x="8321040" y="1645920"/>
            <a:ext cx="3319272" cy="42519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03920" y="1783080"/>
            <a:ext cx="2926080" cy="411480"/>
          </a:xfrm>
          <a:prstGeom prst="rect">
            <a:avLst/>
          </a:prstGeom>
          <a:noFill/>
        </p:spPr>
        <p:txBody>
          <a:bodyPr wrap="square" lIns="0" rIns="0" tIns="0" bIns="0" anchor="ctr">
            <a:spAutoFit/>
          </a:bodyPr>
          <a:lstStyle/>
          <a:p>
            <a:pPr algn="l">
              <a:spcAft>
                <a:spcPts val="400"/>
              </a:spcAft>
            </a:pPr>
            <a:r>
              <a:rPr sz="2000" b="1">
                <a:solidFill>
                  <a:srgbClr val="D4A84B"/>
                </a:solidFill>
                <a:latin typeface="Calibri"/>
              </a:rPr>
              <a:t>Pertes</a:t>
            </a:r>
          </a:p>
        </p:txBody>
      </p:sp>
      <p:sp>
        <p:nvSpPr>
          <p:cNvPr id="45" name="Rounded Rectangle 44"/>
          <p:cNvSpPr/>
          <p:nvPr/>
        </p:nvSpPr>
        <p:spPr>
          <a:xfrm>
            <a:off x="8503920" y="2423160"/>
            <a:ext cx="2953512" cy="59436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BCE</a:t>
            </a:r>
          </a:p>
        </p:txBody>
      </p:sp>
      <p:sp>
        <p:nvSpPr>
          <p:cNvPr id="46" name="Rounded Rectangle 45"/>
          <p:cNvSpPr/>
          <p:nvPr/>
        </p:nvSpPr>
        <p:spPr>
          <a:xfrm>
            <a:off x="8503920" y="3246120"/>
            <a:ext cx="295351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D : vrai = 1, faux = 0</a:t>
            </a:r>
          </a:p>
        </p:txBody>
      </p:sp>
      <p:sp>
        <p:nvSpPr>
          <p:cNvPr id="47" name="Rounded Rectangle 46"/>
          <p:cNvSpPr/>
          <p:nvPr/>
        </p:nvSpPr>
        <p:spPr>
          <a:xfrm>
            <a:off x="8503920" y="4069080"/>
            <a:ext cx="295351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G : −log D(G(z))</a:t>
            </a:r>
          </a:p>
        </p:txBody>
      </p:sp>
      <p:sp>
        <p:nvSpPr>
          <p:cNvPr id="48" name="Rounded Rectangle 47"/>
          <p:cNvSpPr/>
          <p:nvPr/>
        </p:nvSpPr>
        <p:spPr>
          <a:xfrm>
            <a:off x="8503920" y="4892040"/>
            <a:ext cx="2953512" cy="59436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Plan B : WGAN-GP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ÉNONCÉ · Q7</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DCGAN, avec les réglages du papier</a:t>
            </a:r>
          </a:p>
        </p:txBody>
      </p:sp>
      <p:sp>
        <p:nvSpPr>
          <p:cNvPr id="4" name="Rounded Rectangle 3"/>
          <p:cNvSpPr/>
          <p:nvPr/>
        </p:nvSpPr>
        <p:spPr>
          <a:xfrm>
            <a:off x="548640"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DCGAN</a:t>
            </a:r>
          </a:p>
        </p:txBody>
      </p:sp>
      <p:sp>
        <p:nvSpPr>
          <p:cNvPr id="6" name="TextBox 5"/>
          <p:cNvSpPr txBox="1"/>
          <p:nvPr/>
        </p:nvSpPr>
        <p:spPr>
          <a:xfrm>
            <a:off x="548640"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Type</a:t>
            </a:r>
          </a:p>
        </p:txBody>
      </p:sp>
      <p:sp>
        <p:nvSpPr>
          <p:cNvPr id="7" name="Rounded Rectangle 6"/>
          <p:cNvSpPr/>
          <p:nvPr/>
        </p:nvSpPr>
        <p:spPr>
          <a:xfrm>
            <a:off x="3364992"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64992"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Adam</a:t>
            </a:r>
          </a:p>
        </p:txBody>
      </p:sp>
      <p:sp>
        <p:nvSpPr>
          <p:cNvPr id="9" name="TextBox 8"/>
          <p:cNvSpPr txBox="1"/>
          <p:nvPr/>
        </p:nvSpPr>
        <p:spPr>
          <a:xfrm>
            <a:off x="3364992"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Optimiseur</a:t>
            </a:r>
          </a:p>
        </p:txBody>
      </p:sp>
      <p:sp>
        <p:nvSpPr>
          <p:cNvPr id="10" name="Rounded Rectangle 9"/>
          <p:cNvSpPr/>
          <p:nvPr/>
        </p:nvSpPr>
        <p:spPr>
          <a:xfrm>
            <a:off x="6181344"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0,0002</a:t>
            </a:r>
          </a:p>
        </p:txBody>
      </p:sp>
      <p:sp>
        <p:nvSpPr>
          <p:cNvPr id="12" name="TextBox 11"/>
          <p:cNvSpPr txBox="1"/>
          <p:nvPr/>
        </p:nvSpPr>
        <p:spPr>
          <a:xfrm>
            <a:off x="6181344"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Taux d'apprentissage</a:t>
            </a:r>
          </a:p>
        </p:txBody>
      </p:sp>
      <p:sp>
        <p:nvSpPr>
          <p:cNvPr id="13" name="Rounded Rectangle 12"/>
          <p:cNvSpPr/>
          <p:nvPr/>
        </p:nvSpPr>
        <p:spPr>
          <a:xfrm>
            <a:off x="8997696" y="178308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97696" y="205740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0,5</a:t>
            </a:r>
          </a:p>
        </p:txBody>
      </p:sp>
      <p:sp>
        <p:nvSpPr>
          <p:cNvPr id="15" name="TextBox 14"/>
          <p:cNvSpPr txBox="1"/>
          <p:nvPr/>
        </p:nvSpPr>
        <p:spPr>
          <a:xfrm>
            <a:off x="8997696" y="297180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β1</a:t>
            </a:r>
          </a:p>
        </p:txBody>
      </p:sp>
      <p:sp>
        <p:nvSpPr>
          <p:cNvPr id="16" name="Rounded Rectangle 15"/>
          <p:cNvSpPr/>
          <p:nvPr/>
        </p:nvSpPr>
        <p:spPr>
          <a:xfrm>
            <a:off x="548640"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128</a:t>
            </a:r>
          </a:p>
        </p:txBody>
      </p:sp>
      <p:sp>
        <p:nvSpPr>
          <p:cNvPr id="18" name="TextBox 17"/>
          <p:cNvSpPr txBox="1"/>
          <p:nvPr/>
        </p:nvSpPr>
        <p:spPr>
          <a:xfrm>
            <a:off x="548640"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Lot</a:t>
            </a:r>
          </a:p>
        </p:txBody>
      </p:sp>
      <p:sp>
        <p:nvSpPr>
          <p:cNvPr id="19" name="Rounded Rectangle 18"/>
          <p:cNvSpPr/>
          <p:nvPr/>
        </p:nvSpPr>
        <p:spPr>
          <a:xfrm>
            <a:off x="3364992"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4992"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100</a:t>
            </a:r>
          </a:p>
        </p:txBody>
      </p:sp>
      <p:sp>
        <p:nvSpPr>
          <p:cNvPr id="21" name="TextBox 20"/>
          <p:cNvSpPr txBox="1"/>
          <p:nvPr/>
        </p:nvSpPr>
        <p:spPr>
          <a:xfrm>
            <a:off x="3364992"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Bruit z</a:t>
            </a:r>
          </a:p>
        </p:txBody>
      </p:sp>
      <p:sp>
        <p:nvSpPr>
          <p:cNvPr id="22" name="Rounded Rectangle 21"/>
          <p:cNvSpPr/>
          <p:nvPr/>
        </p:nvSpPr>
        <p:spPr>
          <a:xfrm>
            <a:off x="6181344"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1344"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100</a:t>
            </a:r>
          </a:p>
        </p:txBody>
      </p:sp>
      <p:sp>
        <p:nvSpPr>
          <p:cNvPr id="24" name="TextBox 23"/>
          <p:cNvSpPr txBox="1"/>
          <p:nvPr/>
        </p:nvSpPr>
        <p:spPr>
          <a:xfrm>
            <a:off x="6181344"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Époques</a:t>
            </a:r>
          </a:p>
        </p:txBody>
      </p:sp>
      <p:sp>
        <p:nvSpPr>
          <p:cNvPr id="25" name="Rounded Rectangle 24"/>
          <p:cNvSpPr/>
          <p:nvPr/>
        </p:nvSpPr>
        <p:spPr>
          <a:xfrm>
            <a:off x="8997696" y="3886200"/>
            <a:ext cx="2651760" cy="182880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4160520"/>
            <a:ext cx="2651760" cy="868680"/>
          </a:xfrm>
          <a:prstGeom prst="rect">
            <a:avLst/>
          </a:prstGeom>
          <a:noFill/>
        </p:spPr>
        <p:txBody>
          <a:bodyPr wrap="square" lIns="0" rIns="0" tIns="0" bIns="0" anchor="t">
            <a:spAutoFit/>
          </a:bodyPr>
          <a:lstStyle/>
          <a:p>
            <a:pPr algn="ctr">
              <a:spcAft>
                <a:spcPts val="400"/>
              </a:spcAft>
            </a:pPr>
            <a:r>
              <a:rPr sz="3400" b="1">
                <a:solidFill>
                  <a:srgbClr val="D4A84B"/>
                </a:solidFill>
                <a:latin typeface="Cambria"/>
              </a:rPr>
              <a:t>6 105</a:t>
            </a:r>
          </a:p>
        </p:txBody>
      </p:sp>
      <p:sp>
        <p:nvSpPr>
          <p:cNvPr id="27" name="TextBox 26"/>
          <p:cNvSpPr txBox="1"/>
          <p:nvPr/>
        </p:nvSpPr>
        <p:spPr>
          <a:xfrm>
            <a:off x="8997696" y="5074920"/>
            <a:ext cx="26517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Images d'entraînement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ÉNONCÉ · Q6</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Entraînement</a:t>
            </a:r>
          </a:p>
        </p:txBody>
      </p:sp>
      <p:sp>
        <p:nvSpPr>
          <p:cNvPr id="4" name="Rounded Rectangle 3"/>
          <p:cNvSpPr/>
          <p:nvPr/>
        </p:nvSpPr>
        <p:spPr>
          <a:xfrm>
            <a:off x="7680960" y="777240"/>
            <a:ext cx="3931920" cy="45720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modèle final · 6 105 images</a:t>
            </a:r>
          </a:p>
        </p:txBody>
      </p:sp>
      <p:pic>
        <p:nvPicPr>
          <p:cNvPr id="5" name="Picture 4" descr="losses.png"/>
          <p:cNvPicPr>
            <a:picLocks noChangeAspect="1"/>
          </p:cNvPicPr>
          <p:nvPr/>
        </p:nvPicPr>
        <p:blipFill>
          <a:blip r:embed="rId3"/>
          <a:stretch>
            <a:fillRect/>
          </a:stretch>
        </p:blipFill>
        <p:spPr>
          <a:xfrm>
            <a:off x="548640" y="1600200"/>
            <a:ext cx="5394960" cy="1888236"/>
          </a:xfrm>
          <a:prstGeom prst="rect">
            <a:avLst/>
          </a:prstGeom>
        </p:spPr>
      </p:pic>
      <p:sp>
        <p:nvSpPr>
          <p:cNvPr id="6" name="TextBox 5"/>
          <p:cNvSpPr txBox="1"/>
          <p:nvPr/>
        </p:nvSpPr>
        <p:spPr>
          <a:xfrm>
            <a:off x="548640" y="3534156"/>
            <a:ext cx="539496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Pertes de G et D</a:t>
            </a:r>
          </a:p>
        </p:txBody>
      </p:sp>
      <p:sp>
        <p:nvSpPr>
          <p:cNvPr id="7" name="Rounded Rectangle 6"/>
          <p:cNvSpPr/>
          <p:nvPr/>
        </p:nvSpPr>
        <p:spPr>
          <a:xfrm>
            <a:off x="548640" y="4160520"/>
            <a:ext cx="53949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Pertes qui oscillent : normal pour un GAN</a:t>
            </a:r>
          </a:p>
        </p:txBody>
      </p:sp>
      <p:sp>
        <p:nvSpPr>
          <p:cNvPr id="8" name="Rounded Rectangle 7"/>
          <p:cNvSpPr/>
          <p:nvPr/>
        </p:nvSpPr>
        <p:spPr>
          <a:xfrm>
            <a:off x="548640" y="4892040"/>
            <a:ext cx="539496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D(x) au-dessus de D(G(z)) : D garde l'avantage</a:t>
            </a:r>
          </a:p>
        </p:txBody>
      </p:sp>
      <p:pic>
        <p:nvPicPr>
          <p:cNvPr id="9" name="Picture 8" descr="progression.png"/>
          <p:cNvPicPr>
            <a:picLocks noChangeAspect="1"/>
          </p:cNvPicPr>
          <p:nvPr/>
        </p:nvPicPr>
        <p:blipFill>
          <a:blip r:embed="rId4"/>
          <a:stretch>
            <a:fillRect/>
          </a:stretch>
        </p:blipFill>
        <p:spPr>
          <a:xfrm>
            <a:off x="6257446" y="1600200"/>
            <a:ext cx="5270187" cy="4114800"/>
          </a:xfrm>
          <a:prstGeom prst="rect">
            <a:avLst/>
          </a:prstGeom>
        </p:spPr>
      </p:pic>
      <p:sp>
        <p:nvSpPr>
          <p:cNvPr id="10" name="TextBox 9"/>
          <p:cNvSpPr txBox="1"/>
          <p:nvPr/>
        </p:nvSpPr>
        <p:spPr>
          <a:xfrm>
            <a:off x="6257446" y="5760720"/>
            <a:ext cx="5270187"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Mêmes z, époque après époque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ÉNONCÉ · Q8</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Évaluation du générateur</a:t>
            </a:r>
          </a:p>
        </p:txBody>
      </p:sp>
      <p:sp>
        <p:nvSpPr>
          <p:cNvPr id="4" name="Rounded Rectangle 3"/>
          <p:cNvSpPr/>
          <p:nvPr/>
        </p:nvSpPr>
        <p:spPr>
          <a:xfrm>
            <a:off x="7680960" y="777240"/>
            <a:ext cx="3931920" cy="45720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modèle final · 6 105 images</a:t>
            </a:r>
          </a:p>
        </p:txBody>
      </p:sp>
      <p:sp>
        <p:nvSpPr>
          <p:cNvPr id="5" name="Rounded Rectangle 4"/>
          <p:cNvSpPr/>
          <p:nvPr/>
        </p:nvSpPr>
        <p:spPr>
          <a:xfrm>
            <a:off x="548640" y="1691640"/>
            <a:ext cx="3840480" cy="123444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91640"/>
            <a:ext cx="1645920" cy="1234440"/>
          </a:xfrm>
          <a:prstGeom prst="rect">
            <a:avLst/>
          </a:prstGeom>
          <a:noFill/>
        </p:spPr>
        <p:txBody>
          <a:bodyPr wrap="square" lIns="0" rIns="0" tIns="0" bIns="0" anchor="ctr">
            <a:spAutoFit/>
          </a:bodyPr>
          <a:lstStyle/>
          <a:p>
            <a:pPr algn="l">
              <a:spcAft>
                <a:spcPts val="400"/>
              </a:spcAft>
            </a:pPr>
            <a:r>
              <a:rPr sz="2000" b="1">
                <a:solidFill>
                  <a:srgbClr val="F2EDE6"/>
                </a:solidFill>
                <a:latin typeface="Calibri"/>
              </a:rPr>
              <a:t>FID</a:t>
            </a:r>
          </a:p>
          <a:p>
            <a:pPr algn="l">
              <a:spcAft>
                <a:spcPts val="400"/>
              </a:spcAft>
            </a:pPr>
            <a:r>
              <a:rPr sz="1300" b="0">
                <a:solidFill>
                  <a:srgbClr val="F2EDE6"/>
                </a:solidFill>
                <a:latin typeface="Calibri"/>
              </a:rPr>
              <a:t>généré vs réel</a:t>
            </a:r>
          </a:p>
        </p:txBody>
      </p:sp>
      <p:sp>
        <p:nvSpPr>
          <p:cNvPr id="7" name="TextBox 6"/>
          <p:cNvSpPr txBox="1"/>
          <p:nvPr/>
        </p:nvSpPr>
        <p:spPr>
          <a:xfrm>
            <a:off x="2377440" y="1691640"/>
            <a:ext cx="1828800" cy="1234440"/>
          </a:xfrm>
          <a:prstGeom prst="rect">
            <a:avLst/>
          </a:prstGeom>
          <a:noFill/>
        </p:spPr>
        <p:txBody>
          <a:bodyPr wrap="square" lIns="0" rIns="0" tIns="0" bIns="0" anchor="ctr">
            <a:spAutoFit/>
          </a:bodyPr>
          <a:lstStyle/>
          <a:p>
            <a:pPr algn="r">
              <a:spcAft>
                <a:spcPts val="400"/>
              </a:spcAft>
            </a:pPr>
            <a:r>
              <a:rPr sz="3600" b="1">
                <a:solidFill>
                  <a:srgbClr val="F2EDE6"/>
                </a:solidFill>
                <a:latin typeface="Cambria"/>
              </a:rPr>
              <a:t>210,8</a:t>
            </a:r>
          </a:p>
        </p:txBody>
      </p:sp>
      <p:sp>
        <p:nvSpPr>
          <p:cNvPr id="8" name="Rounded Rectangle 7"/>
          <p:cNvSpPr/>
          <p:nvPr/>
        </p:nvSpPr>
        <p:spPr>
          <a:xfrm>
            <a:off x="548640" y="3108960"/>
            <a:ext cx="3840480" cy="123444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108960"/>
            <a:ext cx="1645920" cy="1234440"/>
          </a:xfrm>
          <a:prstGeom prst="rect">
            <a:avLst/>
          </a:prstGeom>
          <a:noFill/>
        </p:spPr>
        <p:txBody>
          <a:bodyPr wrap="square" lIns="0" rIns="0" tIns="0" bIns="0" anchor="ctr">
            <a:spAutoFit/>
          </a:bodyPr>
          <a:lstStyle/>
          <a:p>
            <a:pPr algn="l">
              <a:spcAft>
                <a:spcPts val="400"/>
              </a:spcAft>
            </a:pPr>
            <a:r>
              <a:rPr sz="2000" b="1">
                <a:solidFill>
                  <a:srgbClr val="F2EDE6"/>
                </a:solidFill>
                <a:latin typeface="Calibri"/>
              </a:rPr>
              <a:t>FID réf.</a:t>
            </a:r>
          </a:p>
          <a:p>
            <a:pPr algn="l">
              <a:spcAft>
                <a:spcPts val="400"/>
              </a:spcAft>
            </a:pPr>
            <a:r>
              <a:rPr sz="1300" b="0">
                <a:solidFill>
                  <a:srgbClr val="A39A90"/>
                </a:solidFill>
                <a:latin typeface="Calibri"/>
              </a:rPr>
              <a:t>réel vs réel</a:t>
            </a:r>
          </a:p>
        </p:txBody>
      </p:sp>
      <p:sp>
        <p:nvSpPr>
          <p:cNvPr id="10" name="TextBox 9"/>
          <p:cNvSpPr txBox="1"/>
          <p:nvPr/>
        </p:nvSpPr>
        <p:spPr>
          <a:xfrm>
            <a:off x="2377440" y="3108960"/>
            <a:ext cx="1828800" cy="1234440"/>
          </a:xfrm>
          <a:prstGeom prst="rect">
            <a:avLst/>
          </a:prstGeom>
          <a:noFill/>
        </p:spPr>
        <p:txBody>
          <a:bodyPr wrap="square" lIns="0" rIns="0" tIns="0" bIns="0" anchor="ctr">
            <a:spAutoFit/>
          </a:bodyPr>
          <a:lstStyle/>
          <a:p>
            <a:pPr algn="r">
              <a:spcAft>
                <a:spcPts val="400"/>
              </a:spcAft>
            </a:pPr>
            <a:r>
              <a:rPr sz="3600" b="1">
                <a:solidFill>
                  <a:srgbClr val="D4A84B"/>
                </a:solidFill>
                <a:latin typeface="Cambria"/>
              </a:rPr>
              <a:t>62,4</a:t>
            </a:r>
          </a:p>
        </p:txBody>
      </p:sp>
      <p:sp>
        <p:nvSpPr>
          <p:cNvPr id="11" name="Rounded Rectangle 10"/>
          <p:cNvSpPr/>
          <p:nvPr/>
        </p:nvSpPr>
        <p:spPr>
          <a:xfrm>
            <a:off x="548640" y="4526280"/>
            <a:ext cx="3840480" cy="123444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526280"/>
            <a:ext cx="1645920" cy="1234440"/>
          </a:xfrm>
          <a:prstGeom prst="rect">
            <a:avLst/>
          </a:prstGeom>
          <a:noFill/>
        </p:spPr>
        <p:txBody>
          <a:bodyPr wrap="square" lIns="0" rIns="0" tIns="0" bIns="0" anchor="ctr">
            <a:spAutoFit/>
          </a:bodyPr>
          <a:lstStyle/>
          <a:p>
            <a:pPr algn="l">
              <a:spcAft>
                <a:spcPts val="400"/>
              </a:spcAft>
            </a:pPr>
            <a:r>
              <a:rPr sz="2000" b="1">
                <a:solidFill>
                  <a:srgbClr val="F2EDE6"/>
                </a:solidFill>
                <a:latin typeface="Calibri"/>
              </a:rPr>
              <a:t>KID</a:t>
            </a:r>
          </a:p>
          <a:p>
            <a:pPr algn="l">
              <a:spcAft>
                <a:spcPts val="400"/>
              </a:spcAft>
            </a:pPr>
            <a:r>
              <a:rPr sz="1300" b="0">
                <a:solidFill>
                  <a:srgbClr val="A39A90"/>
                </a:solidFill>
                <a:latin typeface="Calibri"/>
              </a:rPr>
              <a:t>généré vs réel</a:t>
            </a:r>
          </a:p>
        </p:txBody>
      </p:sp>
      <p:sp>
        <p:nvSpPr>
          <p:cNvPr id="13" name="TextBox 12"/>
          <p:cNvSpPr txBox="1"/>
          <p:nvPr/>
        </p:nvSpPr>
        <p:spPr>
          <a:xfrm>
            <a:off x="2377440" y="4526280"/>
            <a:ext cx="1828800" cy="1234440"/>
          </a:xfrm>
          <a:prstGeom prst="rect">
            <a:avLst/>
          </a:prstGeom>
          <a:noFill/>
        </p:spPr>
        <p:txBody>
          <a:bodyPr wrap="square" lIns="0" rIns="0" tIns="0" bIns="0" anchor="ctr">
            <a:spAutoFit/>
          </a:bodyPr>
          <a:lstStyle/>
          <a:p>
            <a:pPr algn="r">
              <a:spcAft>
                <a:spcPts val="400"/>
              </a:spcAft>
            </a:pPr>
            <a:r>
              <a:rPr sz="3600" b="1">
                <a:solidFill>
                  <a:srgbClr val="D4A84B"/>
                </a:solidFill>
                <a:latin typeface="Cambria"/>
              </a:rPr>
              <a:t>0,150</a:t>
            </a:r>
          </a:p>
        </p:txBody>
      </p:sp>
      <p:pic>
        <p:nvPicPr>
          <p:cNvPr id="14" name="Picture 13" descr="samples.png"/>
          <p:cNvPicPr>
            <a:picLocks noChangeAspect="1"/>
          </p:cNvPicPr>
          <p:nvPr/>
        </p:nvPicPr>
        <p:blipFill>
          <a:blip r:embed="rId3"/>
          <a:stretch>
            <a:fillRect/>
          </a:stretch>
        </p:blipFill>
        <p:spPr>
          <a:xfrm>
            <a:off x="4754880" y="1600200"/>
            <a:ext cx="3383280" cy="3383280"/>
          </a:xfrm>
          <a:prstGeom prst="rect">
            <a:avLst/>
          </a:prstGeom>
        </p:spPr>
      </p:pic>
      <p:sp>
        <p:nvSpPr>
          <p:cNvPr id="15" name="TextBox 14"/>
          <p:cNvSpPr txBox="1"/>
          <p:nvPr/>
        </p:nvSpPr>
        <p:spPr>
          <a:xfrm>
            <a:off x="4754880" y="5029200"/>
            <a:ext cx="338328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Images générées</a:t>
            </a:r>
          </a:p>
        </p:txBody>
      </p:sp>
      <p:pic>
        <p:nvPicPr>
          <p:cNvPr id="16" name="Picture 15" descr="nearest_neighbors.png"/>
          <p:cNvPicPr>
            <a:picLocks noChangeAspect="1"/>
          </p:cNvPicPr>
          <p:nvPr/>
        </p:nvPicPr>
        <p:blipFill>
          <a:blip r:embed="rId4"/>
          <a:stretch>
            <a:fillRect/>
          </a:stretch>
        </p:blipFill>
        <p:spPr>
          <a:xfrm>
            <a:off x="9272016" y="1600200"/>
            <a:ext cx="1371600" cy="4114800"/>
          </a:xfrm>
          <a:prstGeom prst="rect">
            <a:avLst/>
          </a:prstGeom>
        </p:spPr>
      </p:pic>
      <p:sp>
        <p:nvSpPr>
          <p:cNvPr id="17" name="TextBox 16"/>
          <p:cNvSpPr txBox="1"/>
          <p:nvPr/>
        </p:nvSpPr>
        <p:spPr>
          <a:xfrm>
            <a:off x="9272016" y="5760720"/>
            <a:ext cx="137160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Générée / plus proche réelle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ÉNONCÉ · Q8</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De la v0 au modèle final</a:t>
            </a:r>
          </a:p>
        </p:txBody>
      </p:sp>
      <p:sp>
        <p:nvSpPr>
          <p:cNvPr id="4" name="Rounded Rectangle 3"/>
          <p:cNvSpPr/>
          <p:nvPr/>
        </p:nvSpPr>
        <p:spPr>
          <a:xfrm>
            <a:off x="7680960" y="777240"/>
            <a:ext cx="3931920" cy="45720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même évaluation · 657 peintures</a:t>
            </a:r>
          </a:p>
        </p:txBody>
      </p:sp>
      <p:graphicFrame>
        <p:nvGraphicFramePr>
          <p:cNvPr id="5" name="Chart 4"/>
          <p:cNvGraphicFramePr>
            <a:graphicFrameLocks noGrp="1"/>
          </p:cNvGraphicFramePr>
          <p:nvPr/>
        </p:nvGraphicFramePr>
        <p:xfrm>
          <a:off x="548640" y="1600200"/>
          <a:ext cx="6035040" cy="4480560"/>
        </p:xfrm>
        <a:graphic>
          <a:graphicData uri="http://schemas.openxmlformats.org/drawingml/2006/chart">
            <c:chart xmlns:c="http://schemas.openxmlformats.org/drawingml/2006/chart" r:id="rId3"/>
          </a:graphicData>
        </a:graphic>
      </p:graphicFrame>
      <p:sp>
        <p:nvSpPr>
          <p:cNvPr id="6" name="TextBox 5"/>
          <p:cNvSpPr txBox="1"/>
          <p:nvPr/>
        </p:nvSpPr>
        <p:spPr>
          <a:xfrm>
            <a:off x="6766560" y="1783080"/>
            <a:ext cx="237744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−37%</a:t>
            </a:r>
          </a:p>
        </p:txBody>
      </p:sp>
      <p:sp>
        <p:nvSpPr>
          <p:cNvPr id="7" name="TextBox 6"/>
          <p:cNvSpPr txBox="1"/>
          <p:nvPr/>
        </p:nvSpPr>
        <p:spPr>
          <a:xfrm>
            <a:off x="6766560" y="2697480"/>
            <a:ext cx="23774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FID</a:t>
            </a:r>
          </a:p>
        </p:txBody>
      </p:sp>
      <p:sp>
        <p:nvSpPr>
          <p:cNvPr id="8" name="TextBox 7"/>
          <p:cNvSpPr txBox="1"/>
          <p:nvPr/>
        </p:nvSpPr>
        <p:spPr>
          <a:xfrm>
            <a:off x="9235440" y="1783080"/>
            <a:ext cx="237744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÷2</a:t>
            </a:r>
          </a:p>
        </p:txBody>
      </p:sp>
      <p:sp>
        <p:nvSpPr>
          <p:cNvPr id="9" name="TextBox 8"/>
          <p:cNvSpPr txBox="1"/>
          <p:nvPr/>
        </p:nvSpPr>
        <p:spPr>
          <a:xfrm>
            <a:off x="9235440" y="2697480"/>
            <a:ext cx="237744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KID</a:t>
            </a:r>
          </a:p>
        </p:txBody>
      </p:sp>
      <p:sp>
        <p:nvSpPr>
          <p:cNvPr id="10" name="Rounded Rectangle 9"/>
          <p:cNvSpPr/>
          <p:nvPr/>
        </p:nvSpPr>
        <p:spPr>
          <a:xfrm>
            <a:off x="6766560" y="3429000"/>
            <a:ext cx="484632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Damier et collapse disparus</a:t>
            </a:r>
          </a:p>
        </p:txBody>
      </p:sp>
      <p:sp>
        <p:nvSpPr>
          <p:cNvPr id="11" name="Rounded Rectangle 10"/>
          <p:cNvSpPr/>
          <p:nvPr/>
        </p:nvSpPr>
        <p:spPr>
          <a:xfrm>
            <a:off x="6766560" y="4114800"/>
            <a:ext cx="484632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Pas de recopie</a:t>
            </a:r>
          </a:p>
        </p:txBody>
      </p:sp>
      <p:sp>
        <p:nvSpPr>
          <p:cNvPr id="12" name="Rounded Rectangle 11"/>
          <p:cNvSpPr/>
          <p:nvPr/>
        </p:nvSpPr>
        <p:spPr>
          <a:xfrm>
            <a:off x="6766560" y="4800600"/>
            <a:ext cx="4846320" cy="54864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Traînées en diagonale</a:t>
            </a:r>
          </a:p>
        </p:txBody>
      </p:sp>
      <p:sp>
        <p:nvSpPr>
          <p:cNvPr id="13" name="Rounded Rectangle 12"/>
          <p:cNvSpPr/>
          <p:nvPr/>
        </p:nvSpPr>
        <p:spPr>
          <a:xfrm>
            <a:off x="6766560" y="5486400"/>
            <a:ext cx="4846320" cy="54864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600" b="1">
                <a:solidFill>
                  <a:srgbClr val="F2EDE6"/>
                </a:solidFill>
                <a:latin typeface="Calibri"/>
              </a:rPr>
              <a:t>Marge jusqu'à la référence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COURS · TRAITEMENT D'IMAGES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Un jeu homogène : les portraits</a:t>
            </a:r>
          </a:p>
        </p:txBody>
      </p:sp>
      <p:pic>
        <p:nvPicPr>
          <p:cNvPr id="4" name="Picture 3" descr="dataloader_16.png"/>
          <p:cNvPicPr>
            <a:picLocks noChangeAspect="1"/>
          </p:cNvPicPr>
          <p:nvPr/>
        </p:nvPicPr>
        <p:blipFill>
          <a:blip r:embed="rId3"/>
          <a:stretch>
            <a:fillRect/>
          </a:stretch>
        </p:blipFill>
        <p:spPr>
          <a:xfrm>
            <a:off x="548640" y="1600200"/>
            <a:ext cx="11064240" cy="2781987"/>
          </a:xfrm>
          <a:prstGeom prst="rect">
            <a:avLst/>
          </a:prstGeom>
        </p:spPr>
      </p:pic>
      <p:sp>
        <p:nvSpPr>
          <p:cNvPr id="5" name="TextBox 4"/>
          <p:cNvSpPr txBox="1"/>
          <p:nvPr/>
        </p:nvSpPr>
        <p:spPr>
          <a:xfrm>
            <a:off x="548640" y="4427907"/>
            <a:ext cx="11064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16 images à la sortie du DataLoader (après pipeline)</a:t>
            </a:r>
          </a:p>
        </p:txBody>
      </p:sp>
      <p:sp>
        <p:nvSpPr>
          <p:cNvPr id="6" name="Rounded Rectangle 5"/>
          <p:cNvSpPr/>
          <p:nvPr/>
        </p:nvSpPr>
        <p:spPr>
          <a:xfrm>
            <a:off x="548640" y="5257800"/>
            <a:ext cx="2697480" cy="54864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3 737 portraits</a:t>
            </a:r>
          </a:p>
        </p:txBody>
      </p:sp>
      <p:sp>
        <p:nvSpPr>
          <p:cNvPr id="7" name="Rounded Rectangle 6"/>
          <p:cNvSpPr/>
          <p:nvPr/>
        </p:nvSpPr>
        <p:spPr>
          <a:xfrm>
            <a:off x="3364992" y="5257800"/>
            <a:ext cx="269748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Dossier 128×128</a:t>
            </a:r>
          </a:p>
        </p:txBody>
      </p:sp>
      <p:sp>
        <p:nvSpPr>
          <p:cNvPr id="8" name="Rounded Rectangle 7"/>
          <p:cNvSpPr/>
          <p:nvPr/>
        </p:nvSpPr>
        <p:spPr>
          <a:xfrm>
            <a:off x="6181344" y="5257800"/>
            <a:ext cx="269748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Resize → Crop → Flip → Tensor → Normalize</a:t>
            </a:r>
          </a:p>
        </p:txBody>
      </p:sp>
      <p:sp>
        <p:nvSpPr>
          <p:cNvPr id="9" name="Rounded Rectangle 8"/>
          <p:cNvSpPr/>
          <p:nvPr/>
        </p:nvSpPr>
        <p:spPr>
          <a:xfrm>
            <a:off x="8997696" y="5257800"/>
            <a:ext cx="2697480" cy="54864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[−1, 1] vérifié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COURS · TRAITEMENT D'IMAGES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Portraits 64×64 : la règle se vérifie</a:t>
            </a:r>
          </a:p>
        </p:txBody>
      </p:sp>
      <p:pic>
        <p:nvPicPr>
          <p:cNvPr id="4" name="Picture 3" descr="samples.png"/>
          <p:cNvPicPr>
            <a:picLocks noChangeAspect="1"/>
          </p:cNvPicPr>
          <p:nvPr/>
        </p:nvPicPr>
        <p:blipFill>
          <a:blip r:embed="rId3"/>
          <a:stretch>
            <a:fillRect/>
          </a:stretch>
        </p:blipFill>
        <p:spPr>
          <a:xfrm>
            <a:off x="685800" y="1600200"/>
            <a:ext cx="4206240" cy="4206240"/>
          </a:xfrm>
          <a:prstGeom prst="rect">
            <a:avLst/>
          </a:prstGeom>
        </p:spPr>
      </p:pic>
      <p:sp>
        <p:nvSpPr>
          <p:cNvPr id="5" name="TextBox 4"/>
          <p:cNvSpPr txBox="1"/>
          <p:nvPr/>
        </p:nvSpPr>
        <p:spPr>
          <a:xfrm>
            <a:off x="685800" y="5852160"/>
            <a:ext cx="4206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Portraits générés (64×64)</a:t>
            </a:r>
          </a:p>
        </p:txBody>
      </p:sp>
      <p:sp>
        <p:nvSpPr>
          <p:cNvPr id="6" name="TextBox 5"/>
          <p:cNvSpPr txBox="1"/>
          <p:nvPr/>
        </p:nvSpPr>
        <p:spPr>
          <a:xfrm>
            <a:off x="5349240" y="1691640"/>
            <a:ext cx="6309360" cy="411480"/>
          </a:xfrm>
          <a:prstGeom prst="rect">
            <a:avLst/>
          </a:prstGeom>
          <a:noFill/>
        </p:spPr>
        <p:txBody>
          <a:bodyPr wrap="square" lIns="0" rIns="0" tIns="0" bIns="0" anchor="ctr">
            <a:spAutoFit/>
          </a:bodyPr>
          <a:lstStyle/>
          <a:p>
            <a:pPr algn="l">
              <a:spcAft>
                <a:spcPts val="400"/>
              </a:spcAft>
            </a:pPr>
            <a:r>
              <a:rPr sz="1500" b="1">
                <a:solidFill>
                  <a:srgbClr val="D4A84B"/>
                </a:solidFill>
                <a:latin typeface="Calibri"/>
              </a:rPr>
              <a:t>FID   ·   référence   ·   écart</a:t>
            </a:r>
          </a:p>
        </p:txBody>
      </p:sp>
      <p:sp>
        <p:nvSpPr>
          <p:cNvPr id="7" name="Rounded Rectangle 6"/>
          <p:cNvSpPr/>
          <p:nvPr/>
        </p:nvSpPr>
        <p:spPr>
          <a:xfrm>
            <a:off x="5349240" y="2240280"/>
            <a:ext cx="6291072" cy="822960"/>
          </a:xfrm>
          <a:prstGeom prst="roundRect">
            <a:avLst>
              <a:gd name="adj" fmla="val 6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2240280"/>
            <a:ext cx="2743200" cy="822960"/>
          </a:xfrm>
          <a:prstGeom prst="rect">
            <a:avLst/>
          </a:prstGeom>
          <a:noFill/>
        </p:spPr>
        <p:txBody>
          <a:bodyPr wrap="square" lIns="0" rIns="0" tIns="0" bIns="0" anchor="ctr">
            <a:spAutoFit/>
          </a:bodyPr>
          <a:lstStyle/>
          <a:p>
            <a:pPr algn="l">
              <a:spcAft>
                <a:spcPts val="400"/>
              </a:spcAft>
            </a:pPr>
            <a:r>
              <a:rPr sz="1700" b="1">
                <a:solidFill>
                  <a:srgbClr val="F2EDE6"/>
                </a:solidFill>
                <a:latin typeface="Calibri"/>
              </a:rPr>
              <a:t>Tous genres (v1)</a:t>
            </a:r>
          </a:p>
        </p:txBody>
      </p:sp>
      <p:sp>
        <p:nvSpPr>
          <p:cNvPr id="9" name="TextBox 8"/>
          <p:cNvSpPr txBox="1"/>
          <p:nvPr/>
        </p:nvSpPr>
        <p:spPr>
          <a:xfrm>
            <a:off x="8321040" y="2240280"/>
            <a:ext cx="3108960" cy="822960"/>
          </a:xfrm>
          <a:prstGeom prst="rect">
            <a:avLst/>
          </a:prstGeom>
          <a:noFill/>
        </p:spPr>
        <p:txBody>
          <a:bodyPr wrap="square" lIns="0" rIns="0" tIns="0" bIns="0" anchor="ctr">
            <a:spAutoFit/>
          </a:bodyPr>
          <a:lstStyle/>
          <a:p>
            <a:pPr algn="r">
              <a:spcAft>
                <a:spcPts val="400"/>
              </a:spcAft>
            </a:pPr>
            <a:r>
              <a:rPr sz="2000" b="1">
                <a:solidFill>
                  <a:srgbClr val="F2EDE6"/>
                </a:solidFill>
                <a:latin typeface="Cambria"/>
              </a:rPr>
              <a:t>211  ·  62  ·  ×3,4</a:t>
            </a:r>
          </a:p>
        </p:txBody>
      </p:sp>
      <p:sp>
        <p:nvSpPr>
          <p:cNvPr id="10" name="Rounded Rectangle 9"/>
          <p:cNvSpPr/>
          <p:nvPr/>
        </p:nvSpPr>
        <p:spPr>
          <a:xfrm>
            <a:off x="5349240" y="3200400"/>
            <a:ext cx="6291072" cy="822960"/>
          </a:xfrm>
          <a:prstGeom prst="roundRect">
            <a:avLst>
              <a:gd name="adj" fmla="val 6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77840" y="3200400"/>
            <a:ext cx="2743200" cy="822960"/>
          </a:xfrm>
          <a:prstGeom prst="rect">
            <a:avLst/>
          </a:prstGeom>
          <a:noFill/>
        </p:spPr>
        <p:txBody>
          <a:bodyPr wrap="square" lIns="0" rIns="0" tIns="0" bIns="0" anchor="ctr">
            <a:spAutoFit/>
          </a:bodyPr>
          <a:lstStyle/>
          <a:p>
            <a:pPr algn="l">
              <a:spcAft>
                <a:spcPts val="400"/>
              </a:spcAft>
            </a:pPr>
            <a:r>
              <a:rPr sz="1700" b="1">
                <a:solidFill>
                  <a:srgbClr val="F2EDE6"/>
                </a:solidFill>
                <a:latin typeface="Calibri"/>
              </a:rPr>
              <a:t>Portraits 64×64</a:t>
            </a:r>
          </a:p>
        </p:txBody>
      </p:sp>
      <p:sp>
        <p:nvSpPr>
          <p:cNvPr id="12" name="TextBox 11"/>
          <p:cNvSpPr txBox="1"/>
          <p:nvPr/>
        </p:nvSpPr>
        <p:spPr>
          <a:xfrm>
            <a:off x="8321040" y="3200400"/>
            <a:ext cx="3108960" cy="822960"/>
          </a:xfrm>
          <a:prstGeom prst="rect">
            <a:avLst/>
          </a:prstGeom>
          <a:noFill/>
        </p:spPr>
        <p:txBody>
          <a:bodyPr wrap="square" lIns="0" rIns="0" tIns="0" bIns="0" anchor="ctr">
            <a:spAutoFit/>
          </a:bodyPr>
          <a:lstStyle/>
          <a:p>
            <a:pPr algn="r">
              <a:spcAft>
                <a:spcPts val="400"/>
              </a:spcAft>
            </a:pPr>
            <a:r>
              <a:rPr sz="2000" b="1">
                <a:solidFill>
                  <a:srgbClr val="F2EDE6"/>
                </a:solidFill>
                <a:latin typeface="Cambria"/>
              </a:rPr>
              <a:t>204  ·  73  ·  ×2,8</a:t>
            </a:r>
          </a:p>
        </p:txBody>
      </p:sp>
      <p:sp>
        <p:nvSpPr>
          <p:cNvPr id="13" name="Rounded Rectangle 12"/>
          <p:cNvSpPr/>
          <p:nvPr/>
        </p:nvSpPr>
        <p:spPr>
          <a:xfrm>
            <a:off x="5349240" y="4343400"/>
            <a:ext cx="6291072"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Portraits reconnaissables</a:t>
            </a:r>
          </a:p>
        </p:txBody>
      </p:sp>
      <p:sp>
        <p:nvSpPr>
          <p:cNvPr id="14" name="Rounded Rectangle 13"/>
          <p:cNvSpPr/>
          <p:nvPr/>
        </p:nvSpPr>
        <p:spPr>
          <a:xfrm>
            <a:off x="5349240" y="4937760"/>
            <a:ext cx="6291072"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Pas de recopie</a:t>
            </a:r>
          </a:p>
        </p:txBody>
      </p:sp>
      <p:sp>
        <p:nvSpPr>
          <p:cNvPr id="15" name="Rounded Rectangle 14"/>
          <p:cNvSpPr/>
          <p:nvPr/>
        </p:nvSpPr>
        <p:spPr>
          <a:xfrm>
            <a:off x="5349240" y="5532120"/>
            <a:ext cx="6291072"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Visages encore flous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COURS · TRAITEMENT D'IMAGES</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Passer en 128×128</a:t>
            </a:r>
          </a:p>
        </p:txBody>
      </p:sp>
      <p:pic>
        <p:nvPicPr>
          <p:cNvPr id="4" name="Picture 3" descr="samples.png"/>
          <p:cNvPicPr>
            <a:picLocks noChangeAspect="1"/>
          </p:cNvPicPr>
          <p:nvPr/>
        </p:nvPicPr>
        <p:blipFill>
          <a:blip r:embed="rId3"/>
          <a:stretch>
            <a:fillRect/>
          </a:stretch>
        </p:blipFill>
        <p:spPr>
          <a:xfrm>
            <a:off x="685800" y="1600200"/>
            <a:ext cx="4206240" cy="4206240"/>
          </a:xfrm>
          <a:prstGeom prst="rect">
            <a:avLst/>
          </a:prstGeom>
        </p:spPr>
      </p:pic>
      <p:sp>
        <p:nvSpPr>
          <p:cNvPr id="5" name="TextBox 4"/>
          <p:cNvSpPr txBox="1"/>
          <p:nvPr/>
        </p:nvSpPr>
        <p:spPr>
          <a:xfrm>
            <a:off x="685800" y="5852160"/>
            <a:ext cx="4206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Portraits générés (128×128)</a:t>
            </a:r>
          </a:p>
        </p:txBody>
      </p:sp>
      <p:sp>
        <p:nvSpPr>
          <p:cNvPr id="6" name="TextBox 5"/>
          <p:cNvSpPr txBox="1"/>
          <p:nvPr/>
        </p:nvSpPr>
        <p:spPr>
          <a:xfrm>
            <a:off x="5349240" y="1783080"/>
            <a:ext cx="3108960" cy="868680"/>
          </a:xfrm>
          <a:prstGeom prst="rect">
            <a:avLst/>
          </a:prstGeom>
          <a:noFill/>
        </p:spPr>
        <p:txBody>
          <a:bodyPr wrap="square" lIns="0" rIns="0" tIns="0" bIns="0" anchor="t">
            <a:spAutoFit/>
          </a:bodyPr>
          <a:lstStyle/>
          <a:p>
            <a:pPr algn="ctr">
              <a:spcAft>
                <a:spcPts val="400"/>
              </a:spcAft>
            </a:pPr>
            <a:r>
              <a:rPr sz="4400" b="1">
                <a:solidFill>
                  <a:srgbClr val="D4A84B"/>
                </a:solidFill>
                <a:latin typeface="Cambria"/>
              </a:rPr>
              <a:t>×4</a:t>
            </a:r>
          </a:p>
        </p:txBody>
      </p:sp>
      <p:sp>
        <p:nvSpPr>
          <p:cNvPr id="7" name="TextBox 6"/>
          <p:cNvSpPr txBox="1"/>
          <p:nvPr/>
        </p:nvSpPr>
        <p:spPr>
          <a:xfrm>
            <a:off x="5349240" y="2697480"/>
            <a:ext cx="31089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pixels par image</a:t>
            </a:r>
          </a:p>
        </p:txBody>
      </p:sp>
      <p:sp>
        <p:nvSpPr>
          <p:cNvPr id="8" name="TextBox 7"/>
          <p:cNvSpPr txBox="1"/>
          <p:nvPr/>
        </p:nvSpPr>
        <p:spPr>
          <a:xfrm>
            <a:off x="8503920" y="1783080"/>
            <a:ext cx="3108960" cy="868680"/>
          </a:xfrm>
          <a:prstGeom prst="rect">
            <a:avLst/>
          </a:prstGeom>
          <a:noFill/>
        </p:spPr>
        <p:txBody>
          <a:bodyPr wrap="square" lIns="0" rIns="0" tIns="0" bIns="0" anchor="t">
            <a:spAutoFit/>
          </a:bodyPr>
          <a:lstStyle/>
          <a:p>
            <a:pPr algn="ctr">
              <a:spcAft>
                <a:spcPts val="400"/>
              </a:spcAft>
            </a:pPr>
            <a:r>
              <a:rPr sz="4000" b="1">
                <a:solidFill>
                  <a:srgbClr val="C0505C"/>
                </a:solidFill>
                <a:latin typeface="Cambria"/>
              </a:rPr>
              <a:t>5 min 20</a:t>
            </a:r>
          </a:p>
        </p:txBody>
      </p:sp>
      <p:sp>
        <p:nvSpPr>
          <p:cNvPr id="9" name="TextBox 8"/>
          <p:cNvSpPr txBox="1"/>
          <p:nvPr/>
        </p:nvSpPr>
        <p:spPr>
          <a:xfrm>
            <a:off x="8503920" y="2697480"/>
            <a:ext cx="3108960" cy="457200"/>
          </a:xfrm>
          <a:prstGeom prst="rect">
            <a:avLst/>
          </a:prstGeom>
          <a:noFill/>
        </p:spPr>
        <p:txBody>
          <a:bodyPr wrap="square" lIns="0" rIns="0" tIns="0" bIns="0" anchor="t">
            <a:spAutoFit/>
          </a:bodyPr>
          <a:lstStyle/>
          <a:p>
            <a:pPr algn="ctr">
              <a:spcAft>
                <a:spcPts val="400"/>
              </a:spcAft>
            </a:pPr>
            <a:r>
              <a:rPr sz="1600" b="0">
                <a:solidFill>
                  <a:srgbClr val="A39A90"/>
                </a:solidFill>
                <a:latin typeface="Calibri"/>
              </a:rPr>
              <a:t>par époque (CPU)</a:t>
            </a:r>
          </a:p>
        </p:txBody>
      </p:sp>
      <p:sp>
        <p:nvSpPr>
          <p:cNvPr id="10" name="Rounded Rectangle 9"/>
          <p:cNvSpPr/>
          <p:nvPr/>
        </p:nvSpPr>
        <p:spPr>
          <a:xfrm>
            <a:off x="5349240" y="3383280"/>
            <a:ext cx="6291072" cy="530352"/>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FID 286 · référence 76 · ×3,8</a:t>
            </a:r>
          </a:p>
        </p:txBody>
      </p:sp>
      <p:sp>
        <p:nvSpPr>
          <p:cNvPr id="11" name="Rounded Rectangle 10"/>
          <p:cNvSpPr/>
          <p:nvPr/>
        </p:nvSpPr>
        <p:spPr>
          <a:xfrm>
            <a:off x="5349240" y="4023360"/>
            <a:ext cx="6291072" cy="530352"/>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100 époques au lieu de 180</a:t>
            </a:r>
          </a:p>
        </p:txBody>
      </p:sp>
      <p:sp>
        <p:nvSpPr>
          <p:cNvPr id="12" name="Rounded Rectangle 11"/>
          <p:cNvSpPr/>
          <p:nvPr/>
        </p:nvSpPr>
        <p:spPr>
          <a:xfrm>
            <a:off x="5349240" y="4663440"/>
            <a:ext cx="6291072" cy="530352"/>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Une couche de plus dans G et D</a:t>
            </a:r>
          </a:p>
        </p:txBody>
      </p:sp>
      <p:sp>
        <p:nvSpPr>
          <p:cNvPr id="13" name="Rounded Rectangle 12"/>
          <p:cNvSpPr/>
          <p:nvPr/>
        </p:nvSpPr>
        <p:spPr>
          <a:xfrm>
            <a:off x="5349240" y="5303520"/>
            <a:ext cx="6291072" cy="530352"/>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500" b="1">
                <a:solidFill>
                  <a:srgbClr val="F2EDE6"/>
                </a:solidFill>
                <a:latin typeface="Calibri"/>
              </a:rPr>
              <a:t>Moins bon que le 64×64 (×2,8)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ÉQUIPE</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Organisation</a:t>
            </a:r>
          </a:p>
        </p:txBody>
      </p:sp>
      <p:sp>
        <p:nvSpPr>
          <p:cNvPr id="4" name="Rounded Rectangle 3"/>
          <p:cNvSpPr/>
          <p:nvPr/>
        </p:nvSpPr>
        <p:spPr>
          <a:xfrm>
            <a:off x="548640" y="1691640"/>
            <a:ext cx="3520440" cy="44805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68680" y="1965960"/>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1</a:t>
            </a:r>
          </a:p>
        </p:txBody>
      </p:sp>
      <p:sp>
        <p:nvSpPr>
          <p:cNvPr id="6" name="TextBox 5"/>
          <p:cNvSpPr txBox="1"/>
          <p:nvPr/>
        </p:nvSpPr>
        <p:spPr>
          <a:xfrm>
            <a:off x="1737360" y="2057400"/>
            <a:ext cx="214884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Outils</a:t>
            </a:r>
          </a:p>
        </p:txBody>
      </p:sp>
      <p:sp>
        <p:nvSpPr>
          <p:cNvPr id="7" name="Rounded Rectangle 6"/>
          <p:cNvSpPr/>
          <p:nvPr/>
        </p:nvSpPr>
        <p:spPr>
          <a:xfrm>
            <a:off x="868680" y="301752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GitHub</a:t>
            </a:r>
          </a:p>
        </p:txBody>
      </p:sp>
      <p:sp>
        <p:nvSpPr>
          <p:cNvPr id="8" name="Rounded Rectangle 7"/>
          <p:cNvSpPr/>
          <p:nvPr/>
        </p:nvSpPr>
        <p:spPr>
          <a:xfrm>
            <a:off x="868680" y="374904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[Trello / Azure]</a:t>
            </a:r>
          </a:p>
        </p:txBody>
      </p:sp>
      <p:sp>
        <p:nvSpPr>
          <p:cNvPr id="9" name="Rounded Rectangle 8"/>
          <p:cNvSpPr/>
          <p:nvPr/>
        </p:nvSpPr>
        <p:spPr>
          <a:xfrm>
            <a:off x="4343400" y="1691640"/>
            <a:ext cx="3520440" cy="44805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663440" y="1965960"/>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2</a:t>
            </a:r>
          </a:p>
        </p:txBody>
      </p:sp>
      <p:sp>
        <p:nvSpPr>
          <p:cNvPr id="11" name="TextBox 10"/>
          <p:cNvSpPr txBox="1"/>
          <p:nvPr/>
        </p:nvSpPr>
        <p:spPr>
          <a:xfrm>
            <a:off x="5532120" y="2057400"/>
            <a:ext cx="214884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Rituels</a:t>
            </a:r>
          </a:p>
        </p:txBody>
      </p:sp>
      <p:sp>
        <p:nvSpPr>
          <p:cNvPr id="12" name="Rounded Rectangle 11"/>
          <p:cNvSpPr/>
          <p:nvPr/>
        </p:nvSpPr>
        <p:spPr>
          <a:xfrm>
            <a:off x="4663440" y="301752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[Points d'équipe]</a:t>
            </a:r>
          </a:p>
        </p:txBody>
      </p:sp>
      <p:sp>
        <p:nvSpPr>
          <p:cNvPr id="13" name="Rounded Rectangle 12"/>
          <p:cNvSpPr/>
          <p:nvPr/>
        </p:nvSpPr>
        <p:spPr>
          <a:xfrm>
            <a:off x="4663440" y="374904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[Revues]</a:t>
            </a:r>
          </a:p>
        </p:txBody>
      </p:sp>
      <p:sp>
        <p:nvSpPr>
          <p:cNvPr id="14" name="Rounded Rectangle 13"/>
          <p:cNvSpPr/>
          <p:nvPr/>
        </p:nvSpPr>
        <p:spPr>
          <a:xfrm>
            <a:off x="8138160" y="1691640"/>
            <a:ext cx="3520440" cy="4480560"/>
          </a:xfrm>
          <a:prstGeom prst="roundRect">
            <a:avLst>
              <a:gd name="adj" fmla="val 6000"/>
            </a:avLst>
          </a:prstGeom>
          <a:solidFill>
            <a:srgbClr val="262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58200" y="1965960"/>
            <a:ext cx="685800" cy="685800"/>
          </a:xfrm>
          <a:prstGeom prst="ellipse">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2EDE6"/>
                </a:solidFill>
                <a:latin typeface="Calibri"/>
              </a:rPr>
              <a:t>3</a:t>
            </a:r>
          </a:p>
        </p:txBody>
      </p:sp>
      <p:sp>
        <p:nvSpPr>
          <p:cNvPr id="16" name="TextBox 15"/>
          <p:cNvSpPr txBox="1"/>
          <p:nvPr/>
        </p:nvSpPr>
        <p:spPr>
          <a:xfrm>
            <a:off x="9326880" y="2057400"/>
            <a:ext cx="2148840" cy="548640"/>
          </a:xfrm>
          <a:prstGeom prst="rect">
            <a:avLst/>
          </a:prstGeom>
          <a:noFill/>
        </p:spPr>
        <p:txBody>
          <a:bodyPr wrap="square" lIns="0" rIns="0" tIns="0" bIns="0" anchor="t">
            <a:spAutoFit/>
          </a:bodyPr>
          <a:lstStyle/>
          <a:p>
            <a:pPr algn="l">
              <a:spcAft>
                <a:spcPts val="400"/>
              </a:spcAft>
            </a:pPr>
            <a:r>
              <a:rPr sz="2200" b="1">
                <a:solidFill>
                  <a:srgbClr val="D4A84B"/>
                </a:solidFill>
                <a:latin typeface="Cambria"/>
              </a:rPr>
              <a:t>Rôles</a:t>
            </a:r>
          </a:p>
        </p:txBody>
      </p:sp>
      <p:sp>
        <p:nvSpPr>
          <p:cNvPr id="17" name="Rounded Rectangle 16"/>
          <p:cNvSpPr/>
          <p:nvPr/>
        </p:nvSpPr>
        <p:spPr>
          <a:xfrm>
            <a:off x="8458200" y="301752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[Membre 1]</a:t>
            </a:r>
          </a:p>
        </p:txBody>
      </p:sp>
      <p:sp>
        <p:nvSpPr>
          <p:cNvPr id="18" name="Rounded Rectangle 17"/>
          <p:cNvSpPr/>
          <p:nvPr/>
        </p:nvSpPr>
        <p:spPr>
          <a:xfrm>
            <a:off x="8458200" y="374904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[Membre 2]</a:t>
            </a:r>
          </a:p>
        </p:txBody>
      </p:sp>
      <p:sp>
        <p:nvSpPr>
          <p:cNvPr id="19" name="Rounded Rectangle 18"/>
          <p:cNvSpPr/>
          <p:nvPr/>
        </p:nvSpPr>
        <p:spPr>
          <a:xfrm>
            <a:off x="8458200" y="4480560"/>
            <a:ext cx="288036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[Membre 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ÉNONCÉ · Q9</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Conclusion</a:t>
            </a:r>
          </a:p>
        </p:txBody>
      </p:sp>
      <p:sp>
        <p:nvSpPr>
          <p:cNvPr id="4" name="TextBox 3"/>
          <p:cNvSpPr txBox="1"/>
          <p:nvPr/>
        </p:nvSpPr>
        <p:spPr>
          <a:xfrm>
            <a:off x="548640" y="1783080"/>
            <a:ext cx="3520440" cy="548640"/>
          </a:xfrm>
          <a:prstGeom prst="rect">
            <a:avLst/>
          </a:prstGeom>
          <a:noFill/>
        </p:spPr>
        <p:txBody>
          <a:bodyPr wrap="square" lIns="0" rIns="0" tIns="0" bIns="0" anchor="t">
            <a:spAutoFit/>
          </a:bodyPr>
          <a:lstStyle/>
          <a:p>
            <a:pPr algn="l">
              <a:spcAft>
                <a:spcPts val="400"/>
              </a:spcAft>
            </a:pPr>
            <a:r>
              <a:rPr sz="2600" b="1">
                <a:solidFill>
                  <a:srgbClr val="D4A84B"/>
                </a:solidFill>
                <a:latin typeface="Cambria"/>
              </a:rPr>
              <a:t>Acquis</a:t>
            </a:r>
          </a:p>
        </p:txBody>
      </p:sp>
      <p:sp>
        <p:nvSpPr>
          <p:cNvPr id="5" name="Rounded Rectangle 4"/>
          <p:cNvSpPr/>
          <p:nvPr/>
        </p:nvSpPr>
        <p:spPr>
          <a:xfrm>
            <a:off x="548640" y="256032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Catalogue analysé</a:t>
            </a:r>
          </a:p>
        </p:txBody>
      </p:sp>
      <p:sp>
        <p:nvSpPr>
          <p:cNvPr id="6" name="Rounded Rectangle 5"/>
          <p:cNvSpPr/>
          <p:nvPr/>
        </p:nvSpPr>
        <p:spPr>
          <a:xfrm>
            <a:off x="548640" y="329184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Pipeline du cours</a:t>
            </a:r>
          </a:p>
        </p:txBody>
      </p:sp>
      <p:sp>
        <p:nvSpPr>
          <p:cNvPr id="7" name="Rounded Rectangle 6"/>
          <p:cNvSpPr/>
          <p:nvPr/>
        </p:nvSpPr>
        <p:spPr>
          <a:xfrm>
            <a:off x="548640" y="402336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Portraits reconnaissables</a:t>
            </a:r>
          </a:p>
        </p:txBody>
      </p:sp>
      <p:sp>
        <p:nvSpPr>
          <p:cNvPr id="8" name="TextBox 7"/>
          <p:cNvSpPr txBox="1"/>
          <p:nvPr/>
        </p:nvSpPr>
        <p:spPr>
          <a:xfrm>
            <a:off x="4343400" y="1783080"/>
            <a:ext cx="3520440" cy="548640"/>
          </a:xfrm>
          <a:prstGeom prst="rect">
            <a:avLst/>
          </a:prstGeom>
          <a:noFill/>
        </p:spPr>
        <p:txBody>
          <a:bodyPr wrap="square" lIns="0" rIns="0" tIns="0" bIns="0" anchor="t">
            <a:spAutoFit/>
          </a:bodyPr>
          <a:lstStyle/>
          <a:p>
            <a:pPr algn="l">
              <a:spcAft>
                <a:spcPts val="400"/>
              </a:spcAft>
            </a:pPr>
            <a:r>
              <a:rPr sz="2600" b="1">
                <a:solidFill>
                  <a:srgbClr val="D4A84B"/>
                </a:solidFill>
                <a:latin typeface="Cambria"/>
              </a:rPr>
              <a:t>Difficultés</a:t>
            </a:r>
          </a:p>
        </p:txBody>
      </p:sp>
      <p:sp>
        <p:nvSpPr>
          <p:cNvPr id="9" name="Rounded Rectangle 8"/>
          <p:cNvSpPr/>
          <p:nvPr/>
        </p:nvSpPr>
        <p:spPr>
          <a:xfrm>
            <a:off x="4343400" y="2560320"/>
            <a:ext cx="3520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Serveur lent</a:t>
            </a:r>
          </a:p>
        </p:txBody>
      </p:sp>
      <p:sp>
        <p:nvSpPr>
          <p:cNvPr id="10" name="Rounded Rectangle 9"/>
          <p:cNvSpPr/>
          <p:nvPr/>
        </p:nvSpPr>
        <p:spPr>
          <a:xfrm>
            <a:off x="4343400" y="3291840"/>
            <a:ext cx="3520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Faux doublons</a:t>
            </a:r>
          </a:p>
        </p:txBody>
      </p:sp>
      <p:sp>
        <p:nvSpPr>
          <p:cNvPr id="11" name="Rounded Rectangle 10"/>
          <p:cNvSpPr/>
          <p:nvPr/>
        </p:nvSpPr>
        <p:spPr>
          <a:xfrm>
            <a:off x="4343400" y="4023360"/>
            <a:ext cx="3520440" cy="502920"/>
          </a:xfrm>
          <a:prstGeom prst="roundRect">
            <a:avLst>
              <a:gd name="adj" fmla="val 50000"/>
            </a:avLst>
          </a:prstGeom>
          <a:solidFill>
            <a:srgbClr val="C05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Genres déséquilibrés</a:t>
            </a:r>
          </a:p>
        </p:txBody>
      </p:sp>
      <p:sp>
        <p:nvSpPr>
          <p:cNvPr id="12" name="TextBox 11"/>
          <p:cNvSpPr txBox="1"/>
          <p:nvPr/>
        </p:nvSpPr>
        <p:spPr>
          <a:xfrm>
            <a:off x="8138160" y="1783080"/>
            <a:ext cx="3520440" cy="548640"/>
          </a:xfrm>
          <a:prstGeom prst="rect">
            <a:avLst/>
          </a:prstGeom>
          <a:noFill/>
        </p:spPr>
        <p:txBody>
          <a:bodyPr wrap="square" lIns="0" rIns="0" tIns="0" bIns="0" anchor="t">
            <a:spAutoFit/>
          </a:bodyPr>
          <a:lstStyle/>
          <a:p>
            <a:pPr algn="l">
              <a:spcAft>
                <a:spcPts val="400"/>
              </a:spcAft>
            </a:pPr>
            <a:r>
              <a:rPr sz="2600" b="1">
                <a:solidFill>
                  <a:srgbClr val="D4A84B"/>
                </a:solidFill>
                <a:latin typeface="Cambria"/>
              </a:rPr>
              <a:t>Pistes</a:t>
            </a:r>
          </a:p>
        </p:txBody>
      </p:sp>
      <p:sp>
        <p:nvSpPr>
          <p:cNvPr id="13" name="Rounded Rectangle 12"/>
          <p:cNvSpPr/>
          <p:nvPr/>
        </p:nvSpPr>
        <p:spPr>
          <a:xfrm>
            <a:off x="8138160" y="256032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WGAN-GP</a:t>
            </a:r>
          </a:p>
        </p:txBody>
      </p:sp>
      <p:sp>
        <p:nvSpPr>
          <p:cNvPr id="14" name="Rounded Rectangle 13"/>
          <p:cNvSpPr/>
          <p:nvPr/>
        </p:nvSpPr>
        <p:spPr>
          <a:xfrm>
            <a:off x="8138160" y="329184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GAN conditionnel</a:t>
            </a:r>
          </a:p>
        </p:txBody>
      </p:sp>
      <p:sp>
        <p:nvSpPr>
          <p:cNvPr id="15" name="Rounded Rectangle 14"/>
          <p:cNvSpPr/>
          <p:nvPr/>
        </p:nvSpPr>
        <p:spPr>
          <a:xfrm>
            <a:off x="8138160" y="4023360"/>
            <a:ext cx="3520440" cy="502920"/>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GPU pour le 128×128</a:t>
            </a:r>
          </a:p>
        </p:txBody>
      </p:sp>
      <p:pic>
        <p:nvPicPr>
          <p:cNvPr id="16" name="Picture 15" descr="01864.jpg"/>
          <p:cNvPicPr>
            <a:picLocks noChangeAspect="1"/>
          </p:cNvPicPr>
          <p:nvPr/>
        </p:nvPicPr>
        <p:blipFill>
          <a:blip r:embed="rId3"/>
          <a:stretch>
            <a:fillRect/>
          </a:stretch>
        </p:blipFill>
        <p:spPr>
          <a:xfrm>
            <a:off x="548640" y="5120640"/>
            <a:ext cx="1143000" cy="1143000"/>
          </a:xfrm>
          <a:prstGeom prst="rect">
            <a:avLst/>
          </a:prstGeom>
        </p:spPr>
      </p:pic>
      <p:pic>
        <p:nvPicPr>
          <p:cNvPr id="17" name="Picture 16" descr="00544.jpg"/>
          <p:cNvPicPr>
            <a:picLocks noChangeAspect="1"/>
          </p:cNvPicPr>
          <p:nvPr/>
        </p:nvPicPr>
        <p:blipFill>
          <a:blip r:embed="rId4"/>
          <a:stretch>
            <a:fillRect/>
          </a:stretch>
        </p:blipFill>
        <p:spPr>
          <a:xfrm>
            <a:off x="1792224" y="5120640"/>
            <a:ext cx="1143000" cy="1143000"/>
          </a:xfrm>
          <a:prstGeom prst="rect">
            <a:avLst/>
          </a:prstGeom>
        </p:spPr>
      </p:pic>
      <p:pic>
        <p:nvPicPr>
          <p:cNvPr id="18" name="Picture 17" descr="02084.jpg"/>
          <p:cNvPicPr>
            <a:picLocks noChangeAspect="1"/>
          </p:cNvPicPr>
          <p:nvPr/>
        </p:nvPicPr>
        <p:blipFill>
          <a:blip r:embed="rId5"/>
          <a:stretch>
            <a:fillRect/>
          </a:stretch>
        </p:blipFill>
        <p:spPr>
          <a:xfrm>
            <a:off x="3035808" y="5120640"/>
            <a:ext cx="1143000" cy="1143000"/>
          </a:xfrm>
          <a:prstGeom prst="rect">
            <a:avLst/>
          </a:prstGeom>
        </p:spPr>
      </p:pic>
      <p:pic>
        <p:nvPicPr>
          <p:cNvPr id="19" name="Picture 18" descr="02081.jpg"/>
          <p:cNvPicPr>
            <a:picLocks noChangeAspect="1"/>
          </p:cNvPicPr>
          <p:nvPr/>
        </p:nvPicPr>
        <p:blipFill>
          <a:blip r:embed="rId6"/>
          <a:stretch>
            <a:fillRect/>
          </a:stretch>
        </p:blipFill>
        <p:spPr>
          <a:xfrm>
            <a:off x="4279392" y="5120640"/>
            <a:ext cx="1143000" cy="1143000"/>
          </a:xfrm>
          <a:prstGeom prst="rect">
            <a:avLst/>
          </a:prstGeom>
        </p:spPr>
      </p:pic>
      <p:pic>
        <p:nvPicPr>
          <p:cNvPr id="20" name="Picture 19" descr="01514.jpg"/>
          <p:cNvPicPr>
            <a:picLocks noChangeAspect="1"/>
          </p:cNvPicPr>
          <p:nvPr/>
        </p:nvPicPr>
        <p:blipFill>
          <a:blip r:embed="rId7"/>
          <a:stretch>
            <a:fillRect/>
          </a:stretch>
        </p:blipFill>
        <p:spPr>
          <a:xfrm>
            <a:off x="5522976" y="5120640"/>
            <a:ext cx="1143000" cy="1143000"/>
          </a:xfrm>
          <a:prstGeom prst="rect">
            <a:avLst/>
          </a:prstGeom>
        </p:spPr>
      </p:pic>
      <p:pic>
        <p:nvPicPr>
          <p:cNvPr id="21" name="Picture 20" descr="00886.jpg"/>
          <p:cNvPicPr>
            <a:picLocks noChangeAspect="1"/>
          </p:cNvPicPr>
          <p:nvPr/>
        </p:nvPicPr>
        <p:blipFill>
          <a:blip r:embed="rId8"/>
          <a:stretch>
            <a:fillRect/>
          </a:stretch>
        </p:blipFill>
        <p:spPr>
          <a:xfrm>
            <a:off x="6766560" y="5120640"/>
            <a:ext cx="1143000" cy="1143000"/>
          </a:xfrm>
          <a:prstGeom prst="rect">
            <a:avLst/>
          </a:prstGeom>
        </p:spPr>
      </p:pic>
      <p:pic>
        <p:nvPicPr>
          <p:cNvPr id="22" name="Picture 21" descr="01266.jpg"/>
          <p:cNvPicPr>
            <a:picLocks noChangeAspect="1"/>
          </p:cNvPicPr>
          <p:nvPr/>
        </p:nvPicPr>
        <p:blipFill>
          <a:blip r:embed="rId9"/>
          <a:stretch>
            <a:fillRect/>
          </a:stretch>
        </p:blipFill>
        <p:spPr>
          <a:xfrm>
            <a:off x="8010144" y="5120640"/>
            <a:ext cx="1143000" cy="1143000"/>
          </a:xfrm>
          <a:prstGeom prst="rect">
            <a:avLst/>
          </a:prstGeom>
        </p:spPr>
      </p:pic>
      <p:pic>
        <p:nvPicPr>
          <p:cNvPr id="23" name="Picture 22" descr="01433.jpg"/>
          <p:cNvPicPr>
            <a:picLocks noChangeAspect="1"/>
          </p:cNvPicPr>
          <p:nvPr/>
        </p:nvPicPr>
        <p:blipFill>
          <a:blip r:embed="rId10"/>
          <a:stretch>
            <a:fillRect/>
          </a:stretch>
        </p:blipFill>
        <p:spPr>
          <a:xfrm>
            <a:off x="9253728" y="5120640"/>
            <a:ext cx="1143000" cy="1143000"/>
          </a:xfrm>
          <a:prstGeom prst="rect">
            <a:avLst/>
          </a:prstGeom>
        </p:spPr>
      </p:pic>
      <p:pic>
        <p:nvPicPr>
          <p:cNvPr id="24" name="Picture 23" descr="01861.jpg"/>
          <p:cNvPicPr>
            <a:picLocks noChangeAspect="1"/>
          </p:cNvPicPr>
          <p:nvPr/>
        </p:nvPicPr>
        <p:blipFill>
          <a:blip r:embed="rId11"/>
          <a:stretch>
            <a:fillRect/>
          </a:stretch>
        </p:blipFill>
        <p:spPr>
          <a:xfrm>
            <a:off x="10497312" y="5120640"/>
            <a:ext cx="1143000" cy="1143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GANISME À L'INFINI</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L'application Streamlit</a:t>
            </a:r>
          </a:p>
        </p:txBody>
      </p:sp>
      <p:pic>
        <p:nvPicPr>
          <p:cNvPr id="4" name="Picture 3" descr="preview_seed42.png"/>
          <p:cNvPicPr>
            <a:picLocks noChangeAspect="1"/>
          </p:cNvPicPr>
          <p:nvPr/>
        </p:nvPicPr>
        <p:blipFill>
          <a:blip r:embed="rId3"/>
          <a:stretch>
            <a:fillRect/>
          </a:stretch>
        </p:blipFill>
        <p:spPr>
          <a:xfrm>
            <a:off x="731520" y="1600200"/>
            <a:ext cx="4206240" cy="4206240"/>
          </a:xfrm>
          <a:prstGeom prst="rect">
            <a:avLst/>
          </a:prstGeom>
        </p:spPr>
      </p:pic>
      <p:sp>
        <p:nvSpPr>
          <p:cNvPr id="5" name="TextBox 4"/>
          <p:cNvSpPr txBox="1"/>
          <p:nvPr/>
        </p:nvSpPr>
        <p:spPr>
          <a:xfrm>
            <a:off x="731520" y="5852160"/>
            <a:ext cx="4206240" cy="228600"/>
          </a:xfrm>
          <a:prstGeom prst="rect">
            <a:avLst/>
          </a:prstGeom>
          <a:noFill/>
        </p:spPr>
        <p:txBody>
          <a:bodyPr wrap="square" lIns="0" rIns="0" tIns="0" bIns="0" anchor="t">
            <a:spAutoFit/>
          </a:bodyPr>
          <a:lstStyle/>
          <a:p>
            <a:pPr algn="l">
              <a:spcAft>
                <a:spcPts val="400"/>
              </a:spcAft>
            </a:pPr>
            <a:r>
              <a:rPr sz="1100" b="0">
                <a:solidFill>
                  <a:srgbClr val="A39A90"/>
                </a:solidFill>
                <a:latin typeface="Calibri"/>
              </a:rPr>
              <a:t>Grille réelle produite par l'application (graine 42)</a:t>
            </a:r>
          </a:p>
        </p:txBody>
      </p:sp>
      <p:sp>
        <p:nvSpPr>
          <p:cNvPr id="6" name="Rounded Rectangle 5"/>
          <p:cNvSpPr/>
          <p:nvPr/>
        </p:nvSpPr>
        <p:spPr>
          <a:xfrm>
            <a:off x="5486400" y="1737360"/>
            <a:ext cx="6126480" cy="566928"/>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Graine reproductible</a:t>
            </a:r>
          </a:p>
        </p:txBody>
      </p:sp>
      <p:sp>
        <p:nvSpPr>
          <p:cNvPr id="7" name="Rounded Rectangle 6"/>
          <p:cNvSpPr/>
          <p:nvPr/>
        </p:nvSpPr>
        <p:spPr>
          <a:xfrm>
            <a:off x="5486400" y="2468880"/>
            <a:ext cx="6126480" cy="566928"/>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1 à 36 peintures</a:t>
            </a:r>
          </a:p>
        </p:txBody>
      </p:sp>
      <p:sp>
        <p:nvSpPr>
          <p:cNvPr id="8" name="Rounded Rectangle 7"/>
          <p:cNvSpPr/>
          <p:nvPr/>
        </p:nvSpPr>
        <p:spPr>
          <a:xfrm>
            <a:off x="5486400" y="3200400"/>
            <a:ext cx="6126480" cy="566928"/>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Agrandissement sans flou</a:t>
            </a:r>
          </a:p>
        </p:txBody>
      </p:sp>
      <p:sp>
        <p:nvSpPr>
          <p:cNvPr id="9" name="Rounded Rectangle 8"/>
          <p:cNvSpPr/>
          <p:nvPr/>
        </p:nvSpPr>
        <p:spPr>
          <a:xfrm>
            <a:off x="5486400" y="3931920"/>
            <a:ext cx="6126480" cy="566928"/>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700" b="1">
                <a:solidFill>
                  <a:srgbClr val="F2EDE6"/>
                </a:solidFill>
                <a:latin typeface="Calibri"/>
              </a:rPr>
              <a:t>Téléchargement PNG</a:t>
            </a:r>
          </a:p>
        </p:txBody>
      </p:sp>
      <p:sp>
        <p:nvSpPr>
          <p:cNvPr id="10" name="Rounded Rectangle 9"/>
          <p:cNvSpPr/>
          <p:nvPr/>
        </p:nvSpPr>
        <p:spPr>
          <a:xfrm>
            <a:off x="5486400" y="4754880"/>
            <a:ext cx="6126480" cy="1188720"/>
          </a:xfrm>
          <a:prstGeom prst="roundRect">
            <a:avLst>
              <a:gd name="adj" fmla="val 6000"/>
            </a:avLst>
          </a:prstGeom>
          <a:solidFill>
            <a:srgbClr val="0B0A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5000" y="4892040"/>
            <a:ext cx="5669280" cy="274320"/>
          </a:xfrm>
          <a:prstGeom prst="rect">
            <a:avLst/>
          </a:prstGeom>
          <a:noFill/>
        </p:spPr>
        <p:txBody>
          <a:bodyPr wrap="square" lIns="0" rIns="0" tIns="0" bIns="0" anchor="t">
            <a:spAutoFit/>
          </a:bodyPr>
          <a:lstStyle/>
          <a:p>
            <a:pPr algn="l">
              <a:spcAft>
                <a:spcPts val="400"/>
              </a:spcAft>
            </a:pPr>
            <a:r>
              <a:rPr sz="1200" b="0">
                <a:solidFill>
                  <a:srgbClr val="D4A84B"/>
                </a:solidFill>
                <a:latin typeface="Consolas"/>
              </a:rPr>
              <a:t>Lancement</a:t>
            </a:r>
          </a:p>
        </p:txBody>
      </p:sp>
      <p:sp>
        <p:nvSpPr>
          <p:cNvPr id="12" name="TextBox 11"/>
          <p:cNvSpPr txBox="1"/>
          <p:nvPr/>
        </p:nvSpPr>
        <p:spPr>
          <a:xfrm>
            <a:off x="5715000" y="5257800"/>
            <a:ext cx="5669280" cy="548640"/>
          </a:xfrm>
          <a:prstGeom prst="rect">
            <a:avLst/>
          </a:prstGeom>
          <a:noFill/>
        </p:spPr>
        <p:txBody>
          <a:bodyPr wrap="square" lIns="0" rIns="0" tIns="0" bIns="0" anchor="t">
            <a:spAutoFit/>
          </a:bodyPr>
          <a:lstStyle/>
          <a:p>
            <a:pPr algn="l">
              <a:spcAft>
                <a:spcPts val="100"/>
              </a:spcAft>
            </a:pPr>
            <a:r>
              <a:rPr sz="1100" b="0">
                <a:solidFill>
                  <a:srgbClr val="F2EDE6"/>
                </a:solidFill>
                <a:latin typeface="Consolas"/>
              </a:rPr>
              <a:t>streamlit run app.py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41210"/>
        </a:solidFill>
        <a:effectLst/>
      </p:bgPr>
    </p:bg>
    <p:spTree>
      <p:nvGrpSpPr>
        <p:cNvPr id="1" name=""/>
        <p:cNvGrpSpPr/>
        <p:nvPr/>
      </p:nvGrpSpPr>
      <p:grpSpPr/>
      <p:sp>
        <p:nvSpPr>
          <p:cNvPr id="2" name="TextBox 1"/>
          <p:cNvSpPr txBox="1"/>
          <p:nvPr/>
        </p:nvSpPr>
        <p:spPr>
          <a:xfrm>
            <a:off x="548640" y="411480"/>
            <a:ext cx="10972800" cy="274320"/>
          </a:xfrm>
          <a:prstGeom prst="rect">
            <a:avLst/>
          </a:prstGeom>
          <a:noFill/>
        </p:spPr>
        <p:txBody>
          <a:bodyPr wrap="square" lIns="0" rIns="0" tIns="0" bIns="0" anchor="t">
            <a:spAutoFit/>
          </a:bodyPr>
          <a:lstStyle/>
          <a:p>
            <a:pPr algn="l">
              <a:spcAft>
                <a:spcPts val="400"/>
              </a:spcAft>
            </a:pPr>
            <a:r>
              <a:rPr sz="1200" b="1">
                <a:solidFill>
                  <a:srgbClr val="D4A84B"/>
                </a:solidFill>
                <a:latin typeface="Calibri"/>
              </a:rPr>
              <a:t>ÉNONCÉ</a:t>
            </a:r>
          </a:p>
        </p:txBody>
      </p:sp>
      <p:sp>
        <p:nvSpPr>
          <p:cNvPr id="3" name="TextBox 2"/>
          <p:cNvSpPr txBox="1"/>
          <p:nvPr/>
        </p:nvSpPr>
        <p:spPr>
          <a:xfrm>
            <a:off x="548640" y="685800"/>
            <a:ext cx="11064240" cy="731520"/>
          </a:xfrm>
          <a:prstGeom prst="rect">
            <a:avLst/>
          </a:prstGeom>
          <a:noFill/>
        </p:spPr>
        <p:txBody>
          <a:bodyPr wrap="square" lIns="0" rIns="0" tIns="0" bIns="0" anchor="t">
            <a:spAutoFit/>
          </a:bodyPr>
          <a:lstStyle/>
          <a:p>
            <a:pPr algn="l">
              <a:spcAft>
                <a:spcPts val="400"/>
              </a:spcAft>
            </a:pPr>
            <a:r>
              <a:rPr sz="3400" b="1">
                <a:solidFill>
                  <a:srgbClr val="F2EDE6"/>
                </a:solidFill>
                <a:latin typeface="Cambria"/>
              </a:rPr>
              <a:t>Couverture de l'énoncé</a:t>
            </a:r>
          </a:p>
        </p:txBody>
      </p:sp>
      <p:sp>
        <p:nvSpPr>
          <p:cNvPr id="4" name="Rounded Rectangle 3"/>
          <p:cNvSpPr/>
          <p:nvPr/>
        </p:nvSpPr>
        <p:spPr>
          <a:xfrm>
            <a:off x="548640" y="1691640"/>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Q1  ✓</a:t>
            </a:r>
          </a:p>
        </p:txBody>
      </p:sp>
      <p:sp>
        <p:nvSpPr>
          <p:cNvPr id="5" name="Rounded Rectangle 4"/>
          <p:cNvSpPr/>
          <p:nvPr/>
        </p:nvSpPr>
        <p:spPr>
          <a:xfrm>
            <a:off x="2404872" y="1691640"/>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Q2  ✓</a:t>
            </a:r>
          </a:p>
        </p:txBody>
      </p:sp>
      <p:sp>
        <p:nvSpPr>
          <p:cNvPr id="6" name="Rounded Rectangle 5"/>
          <p:cNvSpPr/>
          <p:nvPr/>
        </p:nvSpPr>
        <p:spPr>
          <a:xfrm>
            <a:off x="4261104" y="1691640"/>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Q3  ✓</a:t>
            </a:r>
          </a:p>
        </p:txBody>
      </p:sp>
      <p:sp>
        <p:nvSpPr>
          <p:cNvPr id="7" name="Rounded Rectangle 6"/>
          <p:cNvSpPr/>
          <p:nvPr/>
        </p:nvSpPr>
        <p:spPr>
          <a:xfrm>
            <a:off x="548640" y="2441448"/>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Q4  ✓</a:t>
            </a:r>
          </a:p>
        </p:txBody>
      </p:sp>
      <p:sp>
        <p:nvSpPr>
          <p:cNvPr id="8" name="Rounded Rectangle 7"/>
          <p:cNvSpPr/>
          <p:nvPr/>
        </p:nvSpPr>
        <p:spPr>
          <a:xfrm>
            <a:off x="2404872" y="2441448"/>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Q5  ✓</a:t>
            </a:r>
          </a:p>
        </p:txBody>
      </p:sp>
      <p:sp>
        <p:nvSpPr>
          <p:cNvPr id="9" name="Rounded Rectangle 8"/>
          <p:cNvSpPr/>
          <p:nvPr/>
        </p:nvSpPr>
        <p:spPr>
          <a:xfrm>
            <a:off x="4261104" y="2441448"/>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Q6  ✓</a:t>
            </a:r>
          </a:p>
        </p:txBody>
      </p:sp>
      <p:sp>
        <p:nvSpPr>
          <p:cNvPr id="10" name="Rounded Rectangle 9"/>
          <p:cNvSpPr/>
          <p:nvPr/>
        </p:nvSpPr>
        <p:spPr>
          <a:xfrm>
            <a:off x="548640" y="3191256"/>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Q7  ✓</a:t>
            </a:r>
          </a:p>
        </p:txBody>
      </p:sp>
      <p:sp>
        <p:nvSpPr>
          <p:cNvPr id="11" name="Rounded Rectangle 10"/>
          <p:cNvSpPr/>
          <p:nvPr/>
        </p:nvSpPr>
        <p:spPr>
          <a:xfrm>
            <a:off x="2404872" y="3191256"/>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Q8  ✓</a:t>
            </a:r>
          </a:p>
        </p:txBody>
      </p:sp>
      <p:sp>
        <p:nvSpPr>
          <p:cNvPr id="12" name="Rounded Rectangle 11"/>
          <p:cNvSpPr/>
          <p:nvPr/>
        </p:nvSpPr>
        <p:spPr>
          <a:xfrm>
            <a:off x="4261104" y="3191256"/>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Q9  ✓</a:t>
            </a:r>
          </a:p>
        </p:txBody>
      </p:sp>
      <p:sp>
        <p:nvSpPr>
          <p:cNvPr id="13" name="Rounded Rectangle 12"/>
          <p:cNvSpPr/>
          <p:nvPr/>
        </p:nvSpPr>
        <p:spPr>
          <a:xfrm>
            <a:off x="548640" y="3941064"/>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Q10  ✓</a:t>
            </a:r>
          </a:p>
        </p:txBody>
      </p:sp>
      <p:sp>
        <p:nvSpPr>
          <p:cNvPr id="14" name="Rounded Rectangle 13"/>
          <p:cNvSpPr/>
          <p:nvPr/>
        </p:nvSpPr>
        <p:spPr>
          <a:xfrm>
            <a:off x="2404872" y="3941064"/>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Q11  ✓</a:t>
            </a:r>
          </a:p>
        </p:txBody>
      </p:sp>
      <p:sp>
        <p:nvSpPr>
          <p:cNvPr id="15" name="Rounded Rectangle 14"/>
          <p:cNvSpPr/>
          <p:nvPr/>
        </p:nvSpPr>
        <p:spPr>
          <a:xfrm>
            <a:off x="4261104" y="3941064"/>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Q12  ✓</a:t>
            </a:r>
          </a:p>
        </p:txBody>
      </p:sp>
      <p:sp>
        <p:nvSpPr>
          <p:cNvPr id="16" name="Rounded Rectangle 15"/>
          <p:cNvSpPr/>
          <p:nvPr/>
        </p:nvSpPr>
        <p:spPr>
          <a:xfrm>
            <a:off x="548640" y="4690872"/>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Q13  ✓</a:t>
            </a:r>
          </a:p>
        </p:txBody>
      </p:sp>
      <p:sp>
        <p:nvSpPr>
          <p:cNvPr id="17" name="Rounded Rectangle 16"/>
          <p:cNvSpPr/>
          <p:nvPr/>
        </p:nvSpPr>
        <p:spPr>
          <a:xfrm>
            <a:off x="2404872" y="4690872"/>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Q14  ✓</a:t>
            </a:r>
          </a:p>
        </p:txBody>
      </p:sp>
      <p:sp>
        <p:nvSpPr>
          <p:cNvPr id="18" name="Rounded Rectangle 17"/>
          <p:cNvSpPr/>
          <p:nvPr/>
        </p:nvSpPr>
        <p:spPr>
          <a:xfrm>
            <a:off x="4261104" y="4690872"/>
            <a:ext cx="178308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300" b="1">
                <a:solidFill>
                  <a:srgbClr val="F2EDE6"/>
                </a:solidFill>
                <a:latin typeface="Calibri"/>
              </a:rPr>
              <a:t>Veille Q15  ✓</a:t>
            </a:r>
          </a:p>
        </p:txBody>
      </p:sp>
      <p:sp>
        <p:nvSpPr>
          <p:cNvPr id="19" name="Rounded Rectangle 18"/>
          <p:cNvSpPr/>
          <p:nvPr/>
        </p:nvSpPr>
        <p:spPr>
          <a:xfrm>
            <a:off x="6263640" y="1691640"/>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1 · Dataset  ✓</a:t>
            </a:r>
          </a:p>
        </p:txBody>
      </p:sp>
      <p:sp>
        <p:nvSpPr>
          <p:cNvPr id="20" name="Rounded Rectangle 19"/>
          <p:cNvSpPr/>
          <p:nvPr/>
        </p:nvSpPr>
        <p:spPr>
          <a:xfrm>
            <a:off x="8942832" y="1691640"/>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2 · Peintures  ✓</a:t>
            </a:r>
          </a:p>
        </p:txBody>
      </p:sp>
      <p:sp>
        <p:nvSpPr>
          <p:cNvPr id="21" name="Rounded Rectangle 20"/>
          <p:cNvSpPr/>
          <p:nvPr/>
        </p:nvSpPr>
        <p:spPr>
          <a:xfrm>
            <a:off x="6263640" y="2441448"/>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3 · Analyse  ✓</a:t>
            </a:r>
          </a:p>
        </p:txBody>
      </p:sp>
      <p:sp>
        <p:nvSpPr>
          <p:cNvPr id="22" name="Rounded Rectangle 21"/>
          <p:cNvSpPr/>
          <p:nvPr/>
        </p:nvSpPr>
        <p:spPr>
          <a:xfrm>
            <a:off x="8942832" y="2441448"/>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4 · Scraping  ✓</a:t>
            </a:r>
          </a:p>
        </p:txBody>
      </p:sp>
      <p:sp>
        <p:nvSpPr>
          <p:cNvPr id="23" name="Rounded Rectangle 22"/>
          <p:cNvSpPr/>
          <p:nvPr/>
        </p:nvSpPr>
        <p:spPr>
          <a:xfrm>
            <a:off x="6263640" y="3191256"/>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5 · Visualisation  ✓</a:t>
            </a:r>
          </a:p>
        </p:txBody>
      </p:sp>
      <p:sp>
        <p:nvSpPr>
          <p:cNvPr id="24" name="Rounded Rectangle 23"/>
          <p:cNvSpPr/>
          <p:nvPr/>
        </p:nvSpPr>
        <p:spPr>
          <a:xfrm>
            <a:off x="8942832" y="3191256"/>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6 · Architecture, pertes  ✓</a:t>
            </a:r>
          </a:p>
        </p:txBody>
      </p:sp>
      <p:sp>
        <p:nvSpPr>
          <p:cNvPr id="25" name="Rounded Rectangle 24"/>
          <p:cNvSpPr/>
          <p:nvPr/>
        </p:nvSpPr>
        <p:spPr>
          <a:xfrm>
            <a:off x="6263640" y="3941064"/>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6 · Entraînement  ✓</a:t>
            </a:r>
          </a:p>
        </p:txBody>
      </p:sp>
      <p:sp>
        <p:nvSpPr>
          <p:cNvPr id="26" name="Rounded Rectangle 25"/>
          <p:cNvSpPr/>
          <p:nvPr/>
        </p:nvSpPr>
        <p:spPr>
          <a:xfrm>
            <a:off x="8942832" y="3941064"/>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7 · Type, hyperparamètres  ✓</a:t>
            </a:r>
          </a:p>
        </p:txBody>
      </p:sp>
      <p:sp>
        <p:nvSpPr>
          <p:cNvPr id="27" name="Rounded Rectangle 26"/>
          <p:cNvSpPr/>
          <p:nvPr/>
        </p:nvSpPr>
        <p:spPr>
          <a:xfrm>
            <a:off x="6263640" y="4690872"/>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8 · Évaluation  ✓</a:t>
            </a:r>
          </a:p>
        </p:txBody>
      </p:sp>
      <p:sp>
        <p:nvSpPr>
          <p:cNvPr id="28" name="Rounded Rectangle 27"/>
          <p:cNvSpPr/>
          <p:nvPr/>
        </p:nvSpPr>
        <p:spPr>
          <a:xfrm>
            <a:off x="8942832" y="4690872"/>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9 · Conclusion  ✓</a:t>
            </a:r>
          </a:p>
        </p:txBody>
      </p:sp>
      <p:sp>
        <p:nvSpPr>
          <p:cNvPr id="29" name="Rounded Rectangle 28"/>
          <p:cNvSpPr/>
          <p:nvPr/>
        </p:nvSpPr>
        <p:spPr>
          <a:xfrm>
            <a:off x="6263640" y="5440680"/>
            <a:ext cx="2606040" cy="603504"/>
          </a:xfrm>
          <a:prstGeom prst="roundRect">
            <a:avLst>
              <a:gd name="adj" fmla="val 50000"/>
            </a:avLst>
          </a:prstGeom>
          <a:solidFill>
            <a:srgbClr val="332D28"/>
          </a:solidFill>
          <a:ln>
            <a:noFill/>
          </a:ln>
          <a:effectLst/>
        </p:spPr>
        <p:style>
          <a:lnRef idx="1">
            <a:schemeClr val="accent1"/>
          </a:lnRef>
          <a:fillRef idx="3">
            <a:schemeClr val="accent1"/>
          </a:fillRef>
          <a:effectRef idx="2">
            <a:schemeClr val="accent1"/>
          </a:effectRef>
          <a:fontRef idx="minor">
            <a:schemeClr val="lt1"/>
          </a:fontRef>
        </p:style>
        <p:txBody>
          <a:bodyPr rtlCol="0" anchor="ctr" lIns="109728" rIns="109728" tIns="0" bIns="0"/>
          <a:lstStyle/>
          <a:p>
            <a:pPr algn="ctr"/>
            <a:r>
              <a:rPr sz="1400" b="1">
                <a:solidFill>
                  <a:srgbClr val="F2EDE6"/>
                </a:solidFill>
                <a:latin typeface="Calibri"/>
              </a:rPr>
              <a:t>Streamlit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GANisme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