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9" r:id="rId11"/>
    <p:sldId id="260" r:id="rId12"/>
    <p:sldId id="263" r:id="rId15"/>
    <p:sldId id="264" r:id="rId16"/>
    <p:sldId id="267" r:id="rId19"/>
    <p:sldId id="270" r:id="rId22"/>
    <p:sldId id="273" r:id="rId25"/>
    <p:sldId id="274" r:id="rId26"/>
    <p:sldId id="278" r:id="rId30"/>
    <p:sldId id="280" r:id="rId32"/>
    <p:sldId id="284" r:id="rId36"/>
    <p:sldId id="286" r:id="rId38"/>
    <p:sldId id="290" r:id="rId42"/>
    <p:sldId id="291" r:id="rId43"/>
    <p:sldId id="292" r:id="rId44"/>
    <p:sldId id="293" r:id="rId45"/>
    <p:sldId id="294" r:id="rId46"/>
    <p:sldId id="295" r:id="rId47"/>
    <p:sldId id="296" r:id="rId48"/>
    <p:sldId id="300" r:id="rId52"/>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1" Type="http://schemas.openxmlformats.org/officeDocument/2006/relationships/slide" Target="slides/slide4.xml"/><Relationship Id="rId12" Type="http://schemas.openxmlformats.org/officeDocument/2006/relationships/slide" Target="slides/slide5.xml"/><Relationship Id="rId15" Type="http://schemas.openxmlformats.org/officeDocument/2006/relationships/slide" Target="slides/slide8.xml"/><Relationship Id="rId16" Type="http://schemas.openxmlformats.org/officeDocument/2006/relationships/slide" Target="slides/slide9.xml"/><Relationship Id="rId19" Type="http://schemas.openxmlformats.org/officeDocument/2006/relationships/slide" Target="slides/slide12.xml"/><Relationship Id="rId22" Type="http://schemas.openxmlformats.org/officeDocument/2006/relationships/slide" Target="slides/slide15.xml"/><Relationship Id="rId25" Type="http://schemas.openxmlformats.org/officeDocument/2006/relationships/slide" Target="slides/slide18.xml"/><Relationship Id="rId26" Type="http://schemas.openxmlformats.org/officeDocument/2006/relationships/slide" Target="slides/slide19.xml"/><Relationship Id="rId30" Type="http://schemas.openxmlformats.org/officeDocument/2006/relationships/slide" Target="slides/slide23.xml"/><Relationship Id="rId32" Type="http://schemas.openxmlformats.org/officeDocument/2006/relationships/slide" Target="slides/slide25.xml"/><Relationship Id="rId36" Type="http://schemas.openxmlformats.org/officeDocument/2006/relationships/slide" Target="slides/slide29.xml"/><Relationship Id="rId38" Type="http://schemas.openxmlformats.org/officeDocument/2006/relationships/slide" Target="slides/slide31.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FID</c:v>
                </c:pt>
              </c:strCache>
            </c:strRef>
          </c:tx>
          <c:dPt>
            <c:idx val="0"/>
            <c:spPr>
              <a:solidFill>
                <a:srgbClr val="6E665E"/>
              </a:solidFill>
            </c:spPr>
          </c:dPt>
          <c:dPt>
            <c:idx val="1"/>
            <c:spPr>
              <a:solidFill>
                <a:srgbClr val="C0505C"/>
              </a:solidFill>
            </c:spPr>
          </c:dPt>
          <c:dPt>
            <c:idx val="2"/>
            <c:spPr>
              <a:solidFill>
                <a:srgbClr val="D4A84B"/>
              </a:solidFill>
            </c:spPr>
          </c:dPt>
          <c:dLbls>
            <c:dLbl>
              <c:idx val="0"/>
              <c:tx>
                <c:rich>
                  <a:bodyPr/>
                  <a:lstStyle/>
                  <a:p>
                    <a:r>
                      <a:rPr sz="1600" b="1">
                        <a:solidFill>
                          <a:srgbClr val="F2EDE6"/>
                        </a:solidFill>
                      </a:rPr>
                      <a:t>FID 335</a:t>
                    </a:r>
                  </a:p>
                </c:rich>
              </c:tx>
              <c:dLblPos val="outEnd"/>
              <c:showLegendKey val="0"/>
              <c:showVal val="1"/>
              <c:showCatName val="0"/>
              <c:showSerName val="0"/>
              <c:showPercent val="0"/>
              <c:showBubbleSize val="0"/>
            </c:dLbl>
            <c:dLbl>
              <c:idx val="1"/>
              <c:tx>
                <c:rich>
                  <a:bodyPr/>
                  <a:lstStyle/>
                  <a:p>
                    <a:r>
                      <a:rPr sz="1600" b="1">
                        <a:solidFill>
                          <a:srgbClr val="F2EDE6"/>
                        </a:solidFill>
                      </a:rPr>
                      <a:t>FID 211</a:t>
                    </a:r>
                  </a:p>
                </c:rich>
              </c:tx>
              <c:dLblPos val="outEnd"/>
              <c:showLegendKey val="0"/>
              <c:showVal val="1"/>
              <c:showCatName val="0"/>
              <c:showSerName val="0"/>
              <c:showPercent val="0"/>
              <c:showBubbleSize val="0"/>
            </c:dLbl>
            <c:dLbl>
              <c:idx val="2"/>
              <c:tx>
                <c:rich>
                  <a:bodyPr/>
                  <a:lstStyle/>
                  <a:p>
                    <a:r>
                      <a:rPr sz="1600" b="1">
                        <a:solidFill>
                          <a:srgbClr val="F2EDE6"/>
                        </a:solidFill>
                      </a:rPr>
                      <a:t>FID 62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Première version</c:v>
                </c:pt>
                <c:pt idx="1">
                  <c:v>Baseline</c:v>
                </c:pt>
                <c:pt idx="2">
                  <c:v>Réel vs réel</c:v>
                </c:pt>
              </c:strCache>
            </c:strRef>
          </c:cat>
          <c:val>
            <c:numRef>
              <c:f>Sheet1!$B$2:$B$4</c:f>
              <c:numCache>
                <c:formatCode>General</c:formatCode>
                <c:ptCount val="3"/>
                <c:pt idx="0">
                  <c:v>335.35381817449905</c:v>
                </c:pt>
                <c:pt idx="1">
                  <c:v>210.82793771660522</c:v>
                </c:pt>
                <c:pt idx="2">
                  <c:v>62.39881275559726</c:v>
                </c:pt>
              </c:numCache>
            </c:numRef>
          </c:val>
        </c:ser>
        <c:gapWidth val="70"/>
        <c:axId val="-2068027336"/>
        <c:axId val="-2113994440"/>
      </c:barChart>
      <c:catAx>
        <c:axId val="-2068027336"/>
        <c:scaling>
          <c:orientation val="minMax"/>
        </c:scaling>
        <c:delete val="0"/>
        <c:axPos val="b"/>
        <c:majorTickMark val="out"/>
        <c:minorTickMark val="none"/>
        <c:tickLblPos val="nextTo"/>
        <c:spPr>
          <a:ln>
            <a:solidFill>
              <a:srgbClr val="6E665E"/>
            </a:solidFill>
          </a:ln>
        </c:spPr>
        <c:txPr>
          <a:bodyPr/>
          <a:lstStyle/>
          <a:p>
            <a:pPr>
              <a:defRPr>
                <a:solidFill>
                  <a:srgbClr val="F2EDE6"/>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400">
          <a:solidFill>
            <a:srgbClr val="A39A9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Bonjour à tous. Notre projet s'appelle GANisme. Notre objectif : créer une intelligence artificielle qui peint des tableaux qui n'existent pas.</a:t>
            </a:r>
          </a:p>
          <a:p>
            <a:r>
              <a:t>Pour cela, nous avons utilisé un GAN, un réseau antagoniste génératif. Nous l'avons entraîné sur des milliers de peintures de la Web Gallery of Art. Les tableaux que vous voyez ici font partie de nos données.</a:t>
            </a:r>
          </a:p>
          <a:p>
            <a:r>
              <a:t>Voyons d'abord comment notre présentation est organisée.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Notre présentation suit six étapes.</a:t>
            </a:r>
          </a:p>
          <a:p>
            <a:r>
              <a:t>Je vais vous présenter la veille technologique, l'analyse de nos données et le choix de nos images.</a:t>
            </a:r>
          </a:p>
          <a:p>
            <a:r>
              <a:t>Pape vous présentera ensuite le prétraitement, l'architecture du modèle, son évaluation et notre conclusion.</a:t>
            </a:r>
          </a:p>
          <a:p>
            <a:r>
              <a:t>Commençons par la veille : qu'est-ce qu'un GAN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Le GAN a été inventé en 2014 par Ian Goodfellow.</a:t>
            </a:r>
          </a:p>
          <a:p>
            <a:r>
              <a:t>Son but : apprendre à créer de nouvelles images qui ressemblent à des exemples. Il n'a besoin d'aucune étiquette : on parle d'apprentissage non supervisé.</a:t>
            </a:r>
          </a:p>
          <a:p>
            <a:r>
              <a:t>Il repose sur deux réseaux qui s'affrontent. Le générateur part d'un bruit au hasard et fabrique une image. Le discriminateur reçoit une vraie peinture ou une image fabriquée, et doit dire si elle est vraie ou fausse.</a:t>
            </a:r>
          </a:p>
          <a:p>
            <a:r>
              <a:t>À chaque erreur, le générateur apprend à mieux tromper le discriminateur. Les deux progressent ensemble.</a:t>
            </a:r>
          </a:p>
          <a:p>
            <a:r>
              <a:t>Mais pourquoi dit-on que le GAN est un modèle génératif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Il existe deux grands types de modèles.</a:t>
            </a:r>
          </a:p>
          <a:p>
            <a:r>
              <a:t>Un modèle discriminant apprend à classer : par exemple, dire si une image est un portrait ou un paysage.</a:t>
            </a:r>
          </a:p>
          <a:p>
            <a:r>
              <a:t>Un modèle génératif, lui, apprend à quoi ressemblent les données. Il peut donc en créer de nouvelles.</a:t>
            </a:r>
          </a:p>
          <a:p>
            <a:r>
              <a:t>Dans un GAN, le discriminateur classe, mais le GAN dans son ensemble crée. À la fin, c'est le générateur que l'on garde.</a:t>
            </a:r>
          </a:p>
          <a:p>
            <a:r>
              <a:t>Le générateur reçoit 100 nombres tirés au hasard. Il sait produire des images, mais il ne sait pas dire si une image est probable ou non.</a:t>
            </a:r>
          </a:p>
          <a:p>
            <a:r>
              <a:t>Voyons maintenant comment ces deux réseaux apprennent ensemble.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L'entraînement se fait en deux temps, qui se répètent.</a:t>
            </a:r>
          </a:p>
          <a:p>
            <a:r>
              <a:t>D'abord, le discriminateur apprend à reconnaître les vraies et les fausses images. Le générateur ne bouge pas.</a:t>
            </a:r>
          </a:p>
          <a:p>
            <a:r>
              <a:t>Ensuite, c'est le générateur qui apprend à tromper le discriminateur. Cette fois, c'est le discriminateur qui ne bouge pas.</a:t>
            </a:r>
          </a:p>
          <a:p>
            <a:r>
              <a:t>Le but n'est pas qu'un des deux gagne, mais d'atteindre un équilibre : le discriminateur ne sait plus faire la différence.</a:t>
            </a:r>
          </a:p>
          <a:p>
            <a:r>
              <a:t>Le risque principal s'appelle le mode collapse : le générateur produit toujours la même image. C'est pourquoi nous avons regardé les images générées à chaque étape.</a:t>
            </a:r>
          </a:p>
          <a:p>
            <a:r>
              <a:t>Mais comment savoir si les images sont réussies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Pour juger un GAN, un seul indicateur ne suffit pas.</a:t>
            </a:r>
          </a:p>
          <a:p>
            <a:r>
              <a:t>Le FID mesure l'écart entre les vraies images et les images générées. Plus il est bas, plus elles se ressemblent. Le KID fonctionne sur le même principe.</a:t>
            </a:r>
          </a:p>
          <a:p>
            <a:r>
              <a:t>Nous regardons aussi les images nous-mêmes, et nous vérifions que le modèle ne recopie pas les tableaux qu'il a vus.</a:t>
            </a:r>
          </a:p>
          <a:p>
            <a:r>
              <a:t>Le nombre d'images nécessaires dépend de leur variété. Nous avons visé environ 8 000 peintures.</a:t>
            </a:r>
          </a:p>
          <a:p>
            <a:r>
              <a:t>Il existe aussi plusieurs familles de GAN. Voyons lesquelles.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Les GAN produisent des images nettes, et très vite. Mais leur entraînement est instable.</a:t>
            </a:r>
          </a:p>
          <a:p>
            <a:r>
              <a:t>Depuis 2014, de nombreuses versions sont apparues. Par exemple, CycleGAN transforme une photo en tableau de Monet, et StyleGAN crée des visages très réalistes.</a:t>
            </a:r>
          </a:p>
          <a:p>
            <a:r>
              <a:t>Nous avons choisi le DCGAN. C'est un GAN qui utilise des réseaux convolutifs, des réseaux spécialisés dans les images.</a:t>
            </a:r>
          </a:p>
          <a:p>
            <a:r>
              <a:t>Pour finir cette veille, parlons de l'IA générative en général.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On pense souvent à ChatGPT quand on parle d'IA générative. Mais ce n'est pas un GAN : c'est un modèle de langage, développé par OpenAI.</a:t>
            </a:r>
          </a:p>
          <a:p>
            <a:r>
              <a:t>Ces outils présentent des risques : les fausses vidéos, la désinformation, les biais ou les droits d'auteur.</a:t>
            </a:r>
          </a:p>
          <a:p>
            <a:r>
              <a:t>Mais ils sont aussi utiles : compléter des données rares, protéger des données personnelles, ou aider les artistes.</a:t>
            </a:r>
          </a:p>
          <a:p>
            <a:r>
              <a:t>Pour nous, c'est utile à une condition : qu'une image générée soit toujours présentée comme telle.</a:t>
            </a:r>
          </a:p>
          <a:p>
            <a:r>
              <a:t>Passons maintenant à nos données.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Nos données viennent de la Web Gallery of Art.</a:t>
            </a:r>
          </a:p>
          <a:p>
            <a:r>
              <a:t>Le catalogue compte près de 53 000 œuvres. Nous avons gardé uniquement les peintures : un peu plus de 32 000, réalisées par plus de 3 600 artistes.</a:t>
            </a:r>
          </a:p>
          <a:p>
            <a:r>
              <a:t>Avant de récupérer la moindre image, nous avons étudié ces informations. Elles étaient écrites librement, par exemple « vers 1530 ». Nous les avons transformées en données exploitables : l'année, la taille et la technique.</a:t>
            </a:r>
          </a:p>
          <a:p>
            <a:r>
              <a:t>Cette analyse nous a réservé une première surprise.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Près de la moitié des peintures, 42 %, ont un sujet religieux.</a:t>
            </a:r>
          </a:p>
          <a:p>
            <a:r>
              <a:t>Si nous avions pris les images au hasard, notre GAN aurait surtout appris à peindre des scènes bibliques.</a:t>
            </a:r>
          </a:p>
          <a:p>
            <a:r>
              <a:t>Nous avons donc choisi autant d'images pour chaque genre : portraits, paysages, natures mortes, et ainsi de suite.</a:t>
            </a:r>
          </a:p>
          <a:p>
            <a:r>
              <a:t>Nous avons aussi trouvé d'autres problèmes dans les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Nous avons repéré quatre problèmes.</a:t>
            </a:r>
          </a:p>
          <a:p>
            <a:r>
              <a:t>Premièrement, 15 % des images sont des zooms sur un autre tableau. Ce sont presque des doublons : nous les avons retirées.</a:t>
            </a:r>
          </a:p>
          <a:p>
            <a:r>
              <a:t>Deuxièmement, 14 % sont des fresques, photographiées sur des murs. Elles sont trop différentes : nous les avons retirées aussi.</a:t>
            </a:r>
          </a:p>
          <a:p>
            <a:r>
              <a:t>Troisièmement, la colonne des périodes était fausse dans 18 % des cas. Nous avons utilisé la vraie date.</a:t>
            </a:r>
          </a:p>
          <a:p>
            <a:r>
              <a:t>Enfin, les tableaux sont souvent plus hauts que larges, alors que le GAN produit des images carrées. Nous les avons donc coupés en carré, au centre.</a:t>
            </a:r>
          </a:p>
          <a:p>
            <a:r>
              <a:t>Voici comment ces décisions nous ont menés à notre jeu d'images.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KAHINA — Ce schéma se lit de haut en bas.</a:t>
            </a:r>
          </a:p>
          <a:p>
            <a:r>
              <a:t>Nous partons de 32 438 peintures. Nous retirons les zooms, les fresques et les formats trop allongés. Il en reste 23 228.</a:t>
            </a:r>
          </a:p>
          <a:p>
            <a:r>
              <a:t>Parmi elles, nous en choisissons 8 000 au hasard, avec autant d'images par genre et 30 au maximum par artiste.</a:t>
            </a:r>
          </a:p>
          <a:p>
            <a:r>
              <a:t>À droite, le résultat : nous avons récupéré 6 779 images. Après nos contrôles, nous en gardons 6 105 pour entraîner le modèle et 657 pour le tester. Le modèle ne voit jamais ces 657 images pendant son apprentissage.</a:t>
            </a:r>
          </a:p>
          <a:p>
            <a:r>
              <a:t>Je laisse maintenant la parole à Pape, qui va vous expliquer comment nous avons préparé ces images.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Merci Kahina. Voici ce que montrent nos images, et ce que nous en avons déduit. Les formats varient : nous recadrons en carré au centre. Les tons sont sombres : nous les gardons, c'est le style à apprendre. La résolution d'origine suffit largement pour du 64×64. Les pixels sont ramenés entre −1 et 1, pour correspondre à la sortie du générateur, et la seule augmentation est le miroir horizontal.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Ce graphique raconte une erreur évitée. Pour repérer les doublons, une empreinte d'image signalait 1 615 paires. En les regardant, nous avons vu que c'étaient presque toujours des paysages différents, avec le même ciel clair et le même sol sombre. Une vérification pixel par pixel n'a confirmé que 3 vrais doublons. Sans elle, nous aurions supprimé des centaines de paysages sans le voir.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Notre générateur part de 100 nombres et agrandit l'image couche par couche, de 4×4 jusqu'à 64×64, avec une sortie tanh. Le discriminateur fait le chemin inverse jusqu'à un seul nombre. La perte est l'entropie croisée binaire : le discriminateur apprend « vrai = 1, faux = 0 », le générateur cherche à faire répondre « vrai ».</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Nous avons choisi un DCGAN : c'est la référence en 64×64, simple à diagnostiquer et entraînable sans carte graphique. Nos hyperparamètres sont ceux de l'article original : Adam, un taux d'apprentissage de 0,0002, un β1 de 0,5, des lots de 128 images. Notre baseline, entraînée sur tous les genres, a tourné 100 époques sur 6 105 images.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Voici l'entraînement de notre baseline. Les pertes oscillent, ce qui est normal pour un GAN, et le discriminateur garde l'avantage. À droite, les mêmes bruits époque après époque : on part du gris, on voit des motifs apparaître, puis une vraie matière picturale.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Notre baseline obtient un FID de 211. Pour l'interpréter, nous avons calculé un FID de référence entre deux ensembles de vraies peintures : 62, le meilleur score possible ici. Il reste donc de la marge. À droite, chaque image générée est différente de la peinture la plus proche : le modèle crée, il ne recopie pas.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Notre toute première version, entraînée sur moins de 3 000 images, montrait un damier et un début de mode collapse. Avec deux fois plus d'images et sept fois plus d'itérations, sans rien changer d'autre, le FID passe de 335 à 211 et le KID est divisé par deux. Mais les images restaient abstraites.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Notre hypothèse : le jeu était trop hétérogène, avec 10 genres et 7 siècles. Nous avons donc constitué un jeu de portraits seulement : 4 068 sélectionnés, le maximum du catalogue, 3 737 récupérés. Avant d'entraîner, nous avons vérifié 16 images à la sortie de notre pipeline : bien cadrées, sans déformation, avec des valeurs entre −1 et 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L'hypothèse est confirmée. Avec le même modèle et le même nombre d'itérations, les portraits sont reconnaissables : silhouette centrée, visage clair, col blanc. Le FID est à 2,8 fois la référence, contre 3,4 pour la baseline.</a:t>
            </a:r>
          </a:p>
          <a:p>
            <a:r>
              <a:t>En 128×128, une époque prenait près de 5 minutes sur processeur : avec deux fois moins d'itérations, le résultat reste moins bon. Un modèle plus gros demande plus d'entraînement, idéalement sur GPU.</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Nous avons mené ce projet à deux, avec notre code versionné sur GitHub. [À compléter : outil de suivi des tâches, fréquence de nos points d'équipe.]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Pour conclure : nous avons construit une chaîne complète, de l'analyse du catalogue à une application. Notre principal enseignement est que la qualité des données compte autant que le modèle : en rendant le jeu homogène, nous sommes passés d'images abstraites à des portraits reconnaissables. Pour aller plus loin, nous testerions le WGAN-GP, un GAN conditionnel et un entraînement en 128×128 sur GPU.</a:t>
            </a:r>
          </a:p>
          <a:p>
            <a:r>
              <a:t>Merci pour votre attention. Nous sommes prêts à répondre à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 — Notre application Streamlit présente une peinture à la fois. Chaque numéro redonne toujours la même œuvre. À côté, un schéma montre comment elle est née : les 100 nombres de départ, ce que contient le générateur à chaque couche, puis l'image finale, et enfin la note que lui donne le discriminateur. Nous pouvons vous en faire une démonstration.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jpg"/><Relationship Id="rId9" Type="http://schemas.openxmlformats.org/officeDocument/2006/relationships/image" Target="../media/image7.jpg"/><Relationship Id="rId10" Type="http://schemas.openxmlformats.org/officeDocument/2006/relationships/image" Target="../media/image8.jpg"/><Relationship Id="rId11" Type="http://schemas.openxmlformats.org/officeDocument/2006/relationships/image" Target="../media/image9.jpg"/><Relationship Id="rId12" Type="http://schemas.openxmlformats.org/officeDocument/2006/relationships/image" Target="../media/image10.jpg"/><Relationship Id="rId13" Type="http://schemas.openxmlformats.org/officeDocument/2006/relationships/image" Target="../media/image11.jpg"/><Relationship Id="rId14" Type="http://schemas.openxmlformats.org/officeDocument/2006/relationships/image" Target="../media/image12.jpg"/><Relationship Id="rId15" Type="http://schemas.openxmlformats.org/officeDocument/2006/relationships/image" Target="../media/image13.jpg"/><Relationship Id="rId16" Type="http://schemas.openxmlformats.org/officeDocument/2006/relationships/image" Target="../media/image14.jpg"/><Relationship Id="rId17" Type="http://schemas.openxmlformats.org/officeDocument/2006/relationships/image" Target="../media/image15.jpg"/><Relationship Id="rId18" Type="http://schemas.openxmlformats.org/officeDocument/2006/relationships/image" Target="../media/image16.jpg"/><Relationship Id="rId19" Type="http://schemas.openxmlformats.org/officeDocument/2006/relationships/image" Target="../media/image17.jpg"/><Relationship Id="rId20" Type="http://schemas.openxmlformats.org/officeDocument/2006/relationships/image" Target="../media/image18.jpg"/><Relationship Id="rId21" Type="http://schemas.openxmlformats.org/officeDocument/2006/relationships/image" Target="../media/image19.jpg"/><Relationship Id="rId22" Type="http://schemas.openxmlformats.org/officeDocument/2006/relationships/image" Target="../media/image2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2.jpg"/><Relationship Id="rId4" Type="http://schemas.openxmlformats.org/officeDocument/2006/relationships/image" Target="../media/image53.jpg"/><Relationship Id="rId5" Type="http://schemas.openxmlformats.org/officeDocument/2006/relationships/image" Target="../media/image16.jpg"/><Relationship Id="rId6" Type="http://schemas.openxmlformats.org/officeDocument/2006/relationships/image" Target="../media/image54.jpg"/><Relationship Id="rId7" Type="http://schemas.openxmlformats.org/officeDocument/2006/relationships/image" Target="../media/image55.jpg"/><Relationship Id="rId8" Type="http://schemas.openxmlformats.org/officeDocument/2006/relationships/image" Target="../media/image48.jpg"/><Relationship Id="rId9" Type="http://schemas.openxmlformats.org/officeDocument/2006/relationships/image" Target="../media/image47.jpg"/><Relationship Id="rId10" Type="http://schemas.openxmlformats.org/officeDocument/2006/relationships/image" Target="../media/image56.jpg"/><Relationship Id="rId11" Type="http://schemas.openxmlformats.org/officeDocument/2006/relationships/image" Target="../media/image57.jpg"/><Relationship Id="rId12" Type="http://schemas.openxmlformats.org/officeDocument/2006/relationships/image" Target="../media/image58.jpg"/><Relationship Id="rId13" Type="http://schemas.openxmlformats.org/officeDocument/2006/relationships/image" Target="../media/image59.jpg"/><Relationship Id="rId14" Type="http://schemas.openxmlformats.org/officeDocument/2006/relationships/image" Target="../media/image60.jpg"/><Relationship Id="rId15" Type="http://schemas.openxmlformats.org/officeDocument/2006/relationships/image" Target="../media/image61.jpg"/><Relationship Id="rId16" Type="http://schemas.openxmlformats.org/officeDocument/2006/relationships/image" Target="../media/image13.jpg"/><Relationship Id="rId17" Type="http://schemas.openxmlformats.org/officeDocument/2006/relationships/image" Target="../media/image62.jpg"/><Relationship Id="rId18" Type="http://schemas.openxmlformats.org/officeDocument/2006/relationships/image" Target="../media/image63.jpg"/><Relationship Id="rId19" Type="http://schemas.openxmlformats.org/officeDocument/2006/relationships/image" Target="../media/image29.jpg"/><Relationship Id="rId20" Type="http://schemas.openxmlformats.org/officeDocument/2006/relationships/image" Target="../media/image64.jpg"/><Relationship Id="rId21" Type="http://schemas.openxmlformats.org/officeDocument/2006/relationships/image" Target="../media/image65.jpg"/><Relationship Id="rId22" Type="http://schemas.openxmlformats.org/officeDocument/2006/relationships/image" Target="../media/image66.jpg"/><Relationship Id="rId23" Type="http://schemas.openxmlformats.org/officeDocument/2006/relationships/image" Target="../media/image15.jpg"/><Relationship Id="rId24" Type="http://schemas.openxmlformats.org/officeDocument/2006/relationships/image" Target="../media/image67.jpg"/><Relationship Id="rId25" Type="http://schemas.openxmlformats.org/officeDocument/2006/relationships/image" Target="../media/image46.jpg"/><Relationship Id="rId26" Type="http://schemas.openxmlformats.org/officeDocument/2006/relationships/image" Target="../media/image68.jpg"/><Relationship Id="rId27" Type="http://schemas.openxmlformats.org/officeDocument/2006/relationships/image" Target="../media/image69.jpg"/><Relationship Id="rId28" Type="http://schemas.openxmlformats.org/officeDocument/2006/relationships/image" Target="../media/image70.jpg"/><Relationship Id="rId29" Type="http://schemas.openxmlformats.org/officeDocument/2006/relationships/image" Target="../media/image71.jpg"/><Relationship Id="rId30" Type="http://schemas.openxmlformats.org/officeDocument/2006/relationships/image" Target="../media/image72.jpg"/><Relationship Id="rId31" Type="http://schemas.openxmlformats.org/officeDocument/2006/relationships/image" Target="../media/image73.jpg"/><Relationship Id="rId32" Type="http://schemas.openxmlformats.org/officeDocument/2006/relationships/image" Target="../media/image7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7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82.png"/><Relationship Id="rId4" Type="http://schemas.openxmlformats.org/officeDocument/2006/relationships/image" Target="../media/image8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84.png"/><Relationship Id="rId4" Type="http://schemas.openxmlformats.org/officeDocument/2006/relationships/image" Target="../media/image8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chart" Target="../charts/char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8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8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72.jpg"/><Relationship Id="rId4" Type="http://schemas.openxmlformats.org/officeDocument/2006/relationships/image" Target="../media/image62.jpg"/><Relationship Id="rId5" Type="http://schemas.openxmlformats.org/officeDocument/2006/relationships/image" Target="../media/image5.jpg"/><Relationship Id="rId6" Type="http://schemas.openxmlformats.org/officeDocument/2006/relationships/image" Target="../media/image89.jpg"/><Relationship Id="rId7" Type="http://schemas.openxmlformats.org/officeDocument/2006/relationships/image" Target="../media/image90.jpg"/><Relationship Id="rId8" Type="http://schemas.openxmlformats.org/officeDocument/2006/relationships/image" Target="../media/image91.jpg"/><Relationship Id="rId9" Type="http://schemas.openxmlformats.org/officeDocument/2006/relationships/image" Target="../media/image32.jpg"/><Relationship Id="rId10" Type="http://schemas.openxmlformats.org/officeDocument/2006/relationships/image" Target="../media/image92.jpg"/><Relationship Id="rId11" Type="http://schemas.openxmlformats.org/officeDocument/2006/relationships/image" Target="../media/image9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94.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2194560"/>
            <a:ext cx="5486400" cy="1188720"/>
          </a:xfrm>
          <a:prstGeom prst="rect">
            <a:avLst/>
          </a:prstGeom>
          <a:noFill/>
        </p:spPr>
        <p:txBody>
          <a:bodyPr wrap="square" lIns="0" rIns="0" tIns="0" bIns="0" anchor="t">
            <a:spAutoFit/>
          </a:bodyPr>
          <a:lstStyle/>
          <a:p>
            <a:pPr algn="l">
              <a:spcAft>
                <a:spcPts val="400"/>
              </a:spcAft>
            </a:pPr>
            <a:r>
              <a:rPr sz="8000" b="1">
                <a:solidFill>
                  <a:srgbClr val="F2EDE6"/>
                </a:solidFill>
                <a:latin typeface="Cambria"/>
              </a:rPr>
              <a:t>GANisme</a:t>
            </a:r>
          </a:p>
        </p:txBody>
      </p:sp>
      <p:sp>
        <p:nvSpPr>
          <p:cNvPr id="3" name="TextBox 2"/>
          <p:cNvSpPr txBox="1"/>
          <p:nvPr/>
        </p:nvSpPr>
        <p:spPr>
          <a:xfrm>
            <a:off x="548640" y="3474720"/>
            <a:ext cx="5486400" cy="548640"/>
          </a:xfrm>
          <a:prstGeom prst="rect">
            <a:avLst/>
          </a:prstGeom>
          <a:noFill/>
        </p:spPr>
        <p:txBody>
          <a:bodyPr wrap="square" lIns="0" rIns="0" tIns="0" bIns="0" anchor="t">
            <a:spAutoFit/>
          </a:bodyPr>
          <a:lstStyle/>
          <a:p>
            <a:pPr algn="l">
              <a:spcAft>
                <a:spcPts val="400"/>
              </a:spcAft>
            </a:pPr>
            <a:r>
              <a:rPr sz="2800" b="0">
                <a:solidFill>
                  <a:srgbClr val="D4A84B"/>
                </a:solidFill>
                <a:latin typeface="Cambria"/>
              </a:rPr>
              <a:t>Peindre avec un GAN</a:t>
            </a:r>
          </a:p>
        </p:txBody>
      </p:sp>
      <p:sp>
        <p:nvSpPr>
          <p:cNvPr id="4" name="TextBox 3"/>
          <p:cNvSpPr txBox="1"/>
          <p:nvPr/>
        </p:nvSpPr>
        <p:spPr>
          <a:xfrm>
            <a:off x="548640" y="4846320"/>
            <a:ext cx="5486400" cy="640080"/>
          </a:xfrm>
          <a:prstGeom prst="rect">
            <a:avLst/>
          </a:prstGeom>
          <a:noFill/>
        </p:spPr>
        <p:txBody>
          <a:bodyPr wrap="square" lIns="0" rIns="0" tIns="0" bIns="0" anchor="t">
            <a:spAutoFit/>
          </a:bodyPr>
          <a:lstStyle/>
          <a:p>
            <a:pPr algn="l">
              <a:spcAft>
                <a:spcPts val="400"/>
              </a:spcAft>
            </a:pPr>
            <a:r>
              <a:rPr sz="1400" b="0">
                <a:solidFill>
                  <a:srgbClr val="A39A90"/>
                </a:solidFill>
                <a:latin typeface="Calibri"/>
              </a:rPr>
              <a:t>La Plateforme · Deep Learning</a:t>
            </a:r>
          </a:p>
          <a:p>
            <a:pPr algn="l">
              <a:spcAft>
                <a:spcPts val="400"/>
              </a:spcAft>
            </a:pPr>
            <a:r>
              <a:rPr sz="1400" b="0">
                <a:solidFill>
                  <a:srgbClr val="A39A90"/>
                </a:solidFill>
                <a:latin typeface="Calibri"/>
              </a:rPr>
              <a:t>Kahina ABBAD &amp; Pape Ahmed Fall</a:t>
            </a:r>
          </a:p>
        </p:txBody>
      </p:sp>
      <p:pic>
        <p:nvPicPr>
          <p:cNvPr id="5" name="Picture 4" descr="01508.jpg"/>
          <p:cNvPicPr>
            <a:picLocks noChangeAspect="1"/>
          </p:cNvPicPr>
          <p:nvPr/>
        </p:nvPicPr>
        <p:blipFill>
          <a:blip r:embed="rId3"/>
          <a:stretch>
            <a:fillRect/>
          </a:stretch>
        </p:blipFill>
        <p:spPr>
          <a:xfrm>
            <a:off x="6903720" y="502920"/>
            <a:ext cx="1097280" cy="1097280"/>
          </a:xfrm>
          <a:prstGeom prst="rect">
            <a:avLst/>
          </a:prstGeom>
        </p:spPr>
      </p:pic>
      <p:pic>
        <p:nvPicPr>
          <p:cNvPr id="6" name="Picture 5" descr="00642.jpg"/>
          <p:cNvPicPr>
            <a:picLocks noChangeAspect="1"/>
          </p:cNvPicPr>
          <p:nvPr/>
        </p:nvPicPr>
        <p:blipFill>
          <a:blip r:embed="rId4"/>
          <a:stretch>
            <a:fillRect/>
          </a:stretch>
        </p:blipFill>
        <p:spPr>
          <a:xfrm>
            <a:off x="8074152" y="502920"/>
            <a:ext cx="1097280" cy="1097280"/>
          </a:xfrm>
          <a:prstGeom prst="rect">
            <a:avLst/>
          </a:prstGeom>
        </p:spPr>
      </p:pic>
      <p:pic>
        <p:nvPicPr>
          <p:cNvPr id="7" name="Picture 6" descr="00635.jpg"/>
          <p:cNvPicPr>
            <a:picLocks noChangeAspect="1"/>
          </p:cNvPicPr>
          <p:nvPr/>
        </p:nvPicPr>
        <p:blipFill>
          <a:blip r:embed="rId5"/>
          <a:stretch>
            <a:fillRect/>
          </a:stretch>
        </p:blipFill>
        <p:spPr>
          <a:xfrm>
            <a:off x="9244584" y="502920"/>
            <a:ext cx="1097280" cy="1097280"/>
          </a:xfrm>
          <a:prstGeom prst="rect">
            <a:avLst/>
          </a:prstGeom>
        </p:spPr>
      </p:pic>
      <p:pic>
        <p:nvPicPr>
          <p:cNvPr id="8" name="Picture 7" descr="02008.jpg"/>
          <p:cNvPicPr>
            <a:picLocks noChangeAspect="1"/>
          </p:cNvPicPr>
          <p:nvPr/>
        </p:nvPicPr>
        <p:blipFill>
          <a:blip r:embed="rId6"/>
          <a:stretch>
            <a:fillRect/>
          </a:stretch>
        </p:blipFill>
        <p:spPr>
          <a:xfrm>
            <a:off x="10415016" y="502920"/>
            <a:ext cx="1097280" cy="1097280"/>
          </a:xfrm>
          <a:prstGeom prst="rect">
            <a:avLst/>
          </a:prstGeom>
        </p:spPr>
      </p:pic>
      <p:pic>
        <p:nvPicPr>
          <p:cNvPr id="9" name="Picture 8" descr="02084.jpg"/>
          <p:cNvPicPr>
            <a:picLocks noChangeAspect="1"/>
          </p:cNvPicPr>
          <p:nvPr/>
        </p:nvPicPr>
        <p:blipFill>
          <a:blip r:embed="rId7"/>
          <a:stretch>
            <a:fillRect/>
          </a:stretch>
        </p:blipFill>
        <p:spPr>
          <a:xfrm>
            <a:off x="6903720" y="1673352"/>
            <a:ext cx="1097280" cy="1097280"/>
          </a:xfrm>
          <a:prstGeom prst="rect">
            <a:avLst/>
          </a:prstGeom>
        </p:spPr>
      </p:pic>
      <p:pic>
        <p:nvPicPr>
          <p:cNvPr id="10" name="Picture 9" descr="00729.jpg"/>
          <p:cNvPicPr>
            <a:picLocks noChangeAspect="1"/>
          </p:cNvPicPr>
          <p:nvPr/>
        </p:nvPicPr>
        <p:blipFill>
          <a:blip r:embed="rId8"/>
          <a:stretch>
            <a:fillRect/>
          </a:stretch>
        </p:blipFill>
        <p:spPr>
          <a:xfrm>
            <a:off x="8074152" y="1673352"/>
            <a:ext cx="1097280" cy="1097280"/>
          </a:xfrm>
          <a:prstGeom prst="rect">
            <a:avLst/>
          </a:prstGeom>
        </p:spPr>
      </p:pic>
      <p:pic>
        <p:nvPicPr>
          <p:cNvPr id="11" name="Picture 10" descr="01550.jpg"/>
          <p:cNvPicPr>
            <a:picLocks noChangeAspect="1"/>
          </p:cNvPicPr>
          <p:nvPr/>
        </p:nvPicPr>
        <p:blipFill>
          <a:blip r:embed="rId9"/>
          <a:stretch>
            <a:fillRect/>
          </a:stretch>
        </p:blipFill>
        <p:spPr>
          <a:xfrm>
            <a:off x="9244584" y="1673352"/>
            <a:ext cx="1097280" cy="1097280"/>
          </a:xfrm>
          <a:prstGeom prst="rect">
            <a:avLst/>
          </a:prstGeom>
        </p:spPr>
      </p:pic>
      <p:pic>
        <p:nvPicPr>
          <p:cNvPr id="12" name="Picture 11" descr="01576.jpg"/>
          <p:cNvPicPr>
            <a:picLocks noChangeAspect="1"/>
          </p:cNvPicPr>
          <p:nvPr/>
        </p:nvPicPr>
        <p:blipFill>
          <a:blip r:embed="rId10"/>
          <a:stretch>
            <a:fillRect/>
          </a:stretch>
        </p:blipFill>
        <p:spPr>
          <a:xfrm>
            <a:off x="10415016" y="1673352"/>
            <a:ext cx="1097280" cy="1097280"/>
          </a:xfrm>
          <a:prstGeom prst="rect">
            <a:avLst/>
          </a:prstGeom>
        </p:spPr>
      </p:pic>
      <p:pic>
        <p:nvPicPr>
          <p:cNvPr id="13" name="Picture 12" descr="00582.jpg"/>
          <p:cNvPicPr>
            <a:picLocks noChangeAspect="1"/>
          </p:cNvPicPr>
          <p:nvPr/>
        </p:nvPicPr>
        <p:blipFill>
          <a:blip r:embed="rId11"/>
          <a:stretch>
            <a:fillRect/>
          </a:stretch>
        </p:blipFill>
        <p:spPr>
          <a:xfrm>
            <a:off x="6903720" y="2843784"/>
            <a:ext cx="1097280" cy="1097280"/>
          </a:xfrm>
          <a:prstGeom prst="rect">
            <a:avLst/>
          </a:prstGeom>
        </p:spPr>
      </p:pic>
      <p:pic>
        <p:nvPicPr>
          <p:cNvPr id="14" name="Picture 13" descr="00919.jpg"/>
          <p:cNvPicPr>
            <a:picLocks noChangeAspect="1"/>
          </p:cNvPicPr>
          <p:nvPr/>
        </p:nvPicPr>
        <p:blipFill>
          <a:blip r:embed="rId12"/>
          <a:stretch>
            <a:fillRect/>
          </a:stretch>
        </p:blipFill>
        <p:spPr>
          <a:xfrm>
            <a:off x="8074152" y="2843784"/>
            <a:ext cx="1097280" cy="1097280"/>
          </a:xfrm>
          <a:prstGeom prst="rect">
            <a:avLst/>
          </a:prstGeom>
        </p:spPr>
      </p:pic>
      <p:pic>
        <p:nvPicPr>
          <p:cNvPr id="15" name="Picture 14" descr="00709.jpg"/>
          <p:cNvPicPr>
            <a:picLocks noChangeAspect="1"/>
          </p:cNvPicPr>
          <p:nvPr/>
        </p:nvPicPr>
        <p:blipFill>
          <a:blip r:embed="rId13"/>
          <a:stretch>
            <a:fillRect/>
          </a:stretch>
        </p:blipFill>
        <p:spPr>
          <a:xfrm>
            <a:off x="9244584" y="2843784"/>
            <a:ext cx="1097280" cy="1097280"/>
          </a:xfrm>
          <a:prstGeom prst="rect">
            <a:avLst/>
          </a:prstGeom>
        </p:spPr>
      </p:pic>
      <p:pic>
        <p:nvPicPr>
          <p:cNvPr id="16" name="Picture 15" descr="02033.jpg"/>
          <p:cNvPicPr>
            <a:picLocks noChangeAspect="1"/>
          </p:cNvPicPr>
          <p:nvPr/>
        </p:nvPicPr>
        <p:blipFill>
          <a:blip r:embed="rId14"/>
          <a:stretch>
            <a:fillRect/>
          </a:stretch>
        </p:blipFill>
        <p:spPr>
          <a:xfrm>
            <a:off x="10415016" y="2843784"/>
            <a:ext cx="1097280" cy="1097280"/>
          </a:xfrm>
          <a:prstGeom prst="rect">
            <a:avLst/>
          </a:prstGeom>
        </p:spPr>
      </p:pic>
      <p:pic>
        <p:nvPicPr>
          <p:cNvPr id="17" name="Picture 16" descr="00044.jpg"/>
          <p:cNvPicPr>
            <a:picLocks noChangeAspect="1"/>
          </p:cNvPicPr>
          <p:nvPr/>
        </p:nvPicPr>
        <p:blipFill>
          <a:blip r:embed="rId15"/>
          <a:stretch>
            <a:fillRect/>
          </a:stretch>
        </p:blipFill>
        <p:spPr>
          <a:xfrm>
            <a:off x="6903720" y="4014216"/>
            <a:ext cx="1097280" cy="1097280"/>
          </a:xfrm>
          <a:prstGeom prst="rect">
            <a:avLst/>
          </a:prstGeom>
        </p:spPr>
      </p:pic>
      <p:pic>
        <p:nvPicPr>
          <p:cNvPr id="18" name="Picture 17" descr="00701.jpg"/>
          <p:cNvPicPr>
            <a:picLocks noChangeAspect="1"/>
          </p:cNvPicPr>
          <p:nvPr/>
        </p:nvPicPr>
        <p:blipFill>
          <a:blip r:embed="rId16"/>
          <a:stretch>
            <a:fillRect/>
          </a:stretch>
        </p:blipFill>
        <p:spPr>
          <a:xfrm>
            <a:off x="8074152" y="4014216"/>
            <a:ext cx="1097280" cy="1097280"/>
          </a:xfrm>
          <a:prstGeom prst="rect">
            <a:avLst/>
          </a:prstGeom>
        </p:spPr>
      </p:pic>
      <p:pic>
        <p:nvPicPr>
          <p:cNvPr id="19" name="Picture 18" descr="00884.jpg"/>
          <p:cNvPicPr>
            <a:picLocks noChangeAspect="1"/>
          </p:cNvPicPr>
          <p:nvPr/>
        </p:nvPicPr>
        <p:blipFill>
          <a:blip r:embed="rId17"/>
          <a:stretch>
            <a:fillRect/>
          </a:stretch>
        </p:blipFill>
        <p:spPr>
          <a:xfrm>
            <a:off x="9244584" y="4014216"/>
            <a:ext cx="1097280" cy="1097280"/>
          </a:xfrm>
          <a:prstGeom prst="rect">
            <a:avLst/>
          </a:prstGeom>
        </p:spPr>
      </p:pic>
      <p:pic>
        <p:nvPicPr>
          <p:cNvPr id="20" name="Picture 19" descr="00286.jpg"/>
          <p:cNvPicPr>
            <a:picLocks noChangeAspect="1"/>
          </p:cNvPicPr>
          <p:nvPr/>
        </p:nvPicPr>
        <p:blipFill>
          <a:blip r:embed="rId18"/>
          <a:stretch>
            <a:fillRect/>
          </a:stretch>
        </p:blipFill>
        <p:spPr>
          <a:xfrm>
            <a:off x="10415016" y="4014216"/>
            <a:ext cx="1097280" cy="1097280"/>
          </a:xfrm>
          <a:prstGeom prst="rect">
            <a:avLst/>
          </a:prstGeom>
        </p:spPr>
      </p:pic>
      <p:pic>
        <p:nvPicPr>
          <p:cNvPr id="21" name="Picture 20" descr="01623.jpg"/>
          <p:cNvPicPr>
            <a:picLocks noChangeAspect="1"/>
          </p:cNvPicPr>
          <p:nvPr/>
        </p:nvPicPr>
        <p:blipFill>
          <a:blip r:embed="rId19"/>
          <a:stretch>
            <a:fillRect/>
          </a:stretch>
        </p:blipFill>
        <p:spPr>
          <a:xfrm>
            <a:off x="6903720" y="5184648"/>
            <a:ext cx="1097280" cy="1097280"/>
          </a:xfrm>
          <a:prstGeom prst="rect">
            <a:avLst/>
          </a:prstGeom>
        </p:spPr>
      </p:pic>
      <p:pic>
        <p:nvPicPr>
          <p:cNvPr id="22" name="Picture 21" descr="01449.jpg"/>
          <p:cNvPicPr>
            <a:picLocks noChangeAspect="1"/>
          </p:cNvPicPr>
          <p:nvPr/>
        </p:nvPicPr>
        <p:blipFill>
          <a:blip r:embed="rId20"/>
          <a:stretch>
            <a:fillRect/>
          </a:stretch>
        </p:blipFill>
        <p:spPr>
          <a:xfrm>
            <a:off x="8074152" y="5184648"/>
            <a:ext cx="1097280" cy="1097280"/>
          </a:xfrm>
          <a:prstGeom prst="rect">
            <a:avLst/>
          </a:prstGeom>
        </p:spPr>
      </p:pic>
      <p:pic>
        <p:nvPicPr>
          <p:cNvPr id="23" name="Picture 22" descr="00558.jpg"/>
          <p:cNvPicPr>
            <a:picLocks noChangeAspect="1"/>
          </p:cNvPicPr>
          <p:nvPr/>
        </p:nvPicPr>
        <p:blipFill>
          <a:blip r:embed="rId21"/>
          <a:stretch>
            <a:fillRect/>
          </a:stretch>
        </p:blipFill>
        <p:spPr>
          <a:xfrm>
            <a:off x="9244584" y="5184648"/>
            <a:ext cx="1097280" cy="1097280"/>
          </a:xfrm>
          <a:prstGeom prst="rect">
            <a:avLst/>
          </a:prstGeom>
        </p:spPr>
      </p:pic>
      <p:pic>
        <p:nvPicPr>
          <p:cNvPr id="24" name="Picture 23" descr="00963.jpg"/>
          <p:cNvPicPr>
            <a:picLocks noChangeAspect="1"/>
          </p:cNvPicPr>
          <p:nvPr/>
        </p:nvPicPr>
        <p:blipFill>
          <a:blip r:embed="rId22"/>
          <a:stretch>
            <a:fillRect/>
          </a:stretch>
        </p:blipFill>
        <p:spPr>
          <a:xfrm>
            <a:off x="10415016" y="5184648"/>
            <a:ext cx="1097280" cy="10972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PLAN</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Les six étapes de notre projet</a:t>
            </a:r>
          </a:p>
        </p:txBody>
      </p:sp>
      <p:sp>
        <p:nvSpPr>
          <p:cNvPr id="4" name="Rounded Rectangle 3"/>
          <p:cNvSpPr/>
          <p:nvPr/>
        </p:nvSpPr>
        <p:spPr>
          <a:xfrm>
            <a:off x="548640" y="2194560"/>
            <a:ext cx="1700784" cy="26517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33272" y="2560320"/>
            <a:ext cx="731520" cy="73152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2EDE6"/>
                </a:solidFill>
                <a:latin typeface="Calibri"/>
              </a:rPr>
              <a:t>1</a:t>
            </a:r>
          </a:p>
        </p:txBody>
      </p:sp>
      <p:sp>
        <p:nvSpPr>
          <p:cNvPr id="6" name="TextBox 5"/>
          <p:cNvSpPr txBox="1"/>
          <p:nvPr/>
        </p:nvSpPr>
        <p:spPr>
          <a:xfrm>
            <a:off x="640080" y="3520440"/>
            <a:ext cx="1517904" cy="1005840"/>
          </a:xfrm>
          <a:prstGeom prst="rect">
            <a:avLst/>
          </a:prstGeom>
          <a:noFill/>
        </p:spPr>
        <p:txBody>
          <a:bodyPr wrap="square" lIns="0" rIns="0" tIns="0" bIns="0" anchor="ctr">
            <a:spAutoFit/>
          </a:bodyPr>
          <a:lstStyle/>
          <a:p>
            <a:pPr algn="ctr">
              <a:spcAft>
                <a:spcPts val="400"/>
              </a:spcAft>
            </a:pPr>
            <a:r>
              <a:rPr sz="1700" b="1">
                <a:solidFill>
                  <a:srgbClr val="F2EDE6"/>
                </a:solidFill>
                <a:latin typeface="Cambria"/>
              </a:rPr>
              <a:t>Veille technologique</a:t>
            </a:r>
          </a:p>
        </p:txBody>
      </p:sp>
      <p:sp>
        <p:nvSpPr>
          <p:cNvPr id="7" name="Rounded Rectangle 6"/>
          <p:cNvSpPr/>
          <p:nvPr/>
        </p:nvSpPr>
        <p:spPr>
          <a:xfrm>
            <a:off x="2423160" y="2194560"/>
            <a:ext cx="1700784" cy="26517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907792" y="2560320"/>
            <a:ext cx="731520" cy="73152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2EDE6"/>
                </a:solidFill>
                <a:latin typeface="Calibri"/>
              </a:rPr>
              <a:t>2</a:t>
            </a:r>
          </a:p>
        </p:txBody>
      </p:sp>
      <p:sp>
        <p:nvSpPr>
          <p:cNvPr id="9" name="TextBox 8"/>
          <p:cNvSpPr txBox="1"/>
          <p:nvPr/>
        </p:nvSpPr>
        <p:spPr>
          <a:xfrm>
            <a:off x="2514600" y="3520440"/>
            <a:ext cx="1517904" cy="1005840"/>
          </a:xfrm>
          <a:prstGeom prst="rect">
            <a:avLst/>
          </a:prstGeom>
          <a:noFill/>
        </p:spPr>
        <p:txBody>
          <a:bodyPr wrap="square" lIns="0" rIns="0" tIns="0" bIns="0" anchor="ctr">
            <a:spAutoFit/>
          </a:bodyPr>
          <a:lstStyle/>
          <a:p>
            <a:pPr algn="ctr">
              <a:spcAft>
                <a:spcPts val="400"/>
              </a:spcAft>
            </a:pPr>
            <a:r>
              <a:rPr sz="1700" b="1">
                <a:solidFill>
                  <a:srgbClr val="F2EDE6"/>
                </a:solidFill>
                <a:latin typeface="Cambria"/>
              </a:rPr>
              <a:t>Analyse de données (EDA)</a:t>
            </a:r>
          </a:p>
        </p:txBody>
      </p:sp>
      <p:sp>
        <p:nvSpPr>
          <p:cNvPr id="10" name="Rounded Rectangle 9"/>
          <p:cNvSpPr/>
          <p:nvPr/>
        </p:nvSpPr>
        <p:spPr>
          <a:xfrm>
            <a:off x="4297680" y="2194560"/>
            <a:ext cx="1700784" cy="26517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82312" y="2560320"/>
            <a:ext cx="731520" cy="73152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2EDE6"/>
                </a:solidFill>
                <a:latin typeface="Calibri"/>
              </a:rPr>
              <a:t>3</a:t>
            </a:r>
          </a:p>
        </p:txBody>
      </p:sp>
      <p:sp>
        <p:nvSpPr>
          <p:cNvPr id="12" name="TextBox 11"/>
          <p:cNvSpPr txBox="1"/>
          <p:nvPr/>
        </p:nvSpPr>
        <p:spPr>
          <a:xfrm>
            <a:off x="4389120" y="3520440"/>
            <a:ext cx="1517904" cy="1005840"/>
          </a:xfrm>
          <a:prstGeom prst="rect">
            <a:avLst/>
          </a:prstGeom>
          <a:noFill/>
        </p:spPr>
        <p:txBody>
          <a:bodyPr wrap="square" lIns="0" rIns="0" tIns="0" bIns="0" anchor="ctr">
            <a:spAutoFit/>
          </a:bodyPr>
          <a:lstStyle/>
          <a:p>
            <a:pPr algn="ctr">
              <a:spcAft>
                <a:spcPts val="400"/>
              </a:spcAft>
            </a:pPr>
            <a:r>
              <a:rPr sz="1700" b="1">
                <a:solidFill>
                  <a:srgbClr val="F2EDE6"/>
                </a:solidFill>
                <a:latin typeface="Cambria"/>
              </a:rPr>
              <a:t>Prétraitement de données</a:t>
            </a:r>
          </a:p>
        </p:txBody>
      </p:sp>
      <p:sp>
        <p:nvSpPr>
          <p:cNvPr id="13" name="Rounded Rectangle 12"/>
          <p:cNvSpPr/>
          <p:nvPr/>
        </p:nvSpPr>
        <p:spPr>
          <a:xfrm>
            <a:off x="6172200" y="2194560"/>
            <a:ext cx="1700784" cy="26517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56832" y="2560320"/>
            <a:ext cx="731520" cy="73152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2EDE6"/>
                </a:solidFill>
                <a:latin typeface="Calibri"/>
              </a:rPr>
              <a:t>4</a:t>
            </a:r>
          </a:p>
        </p:txBody>
      </p:sp>
      <p:sp>
        <p:nvSpPr>
          <p:cNvPr id="15" name="TextBox 14"/>
          <p:cNvSpPr txBox="1"/>
          <p:nvPr/>
        </p:nvSpPr>
        <p:spPr>
          <a:xfrm>
            <a:off x="6263640" y="3520440"/>
            <a:ext cx="1517904" cy="1005840"/>
          </a:xfrm>
          <a:prstGeom prst="rect">
            <a:avLst/>
          </a:prstGeom>
          <a:noFill/>
        </p:spPr>
        <p:txBody>
          <a:bodyPr wrap="square" lIns="0" rIns="0" tIns="0" bIns="0" anchor="ctr">
            <a:spAutoFit/>
          </a:bodyPr>
          <a:lstStyle/>
          <a:p>
            <a:pPr algn="ctr">
              <a:spcAft>
                <a:spcPts val="400"/>
              </a:spcAft>
            </a:pPr>
            <a:r>
              <a:rPr sz="1700" b="1">
                <a:solidFill>
                  <a:srgbClr val="F2EDE6"/>
                </a:solidFill>
                <a:latin typeface="Cambria"/>
              </a:rPr>
              <a:t>Architecture</a:t>
            </a:r>
          </a:p>
        </p:txBody>
      </p:sp>
      <p:sp>
        <p:nvSpPr>
          <p:cNvPr id="16" name="Rounded Rectangle 15"/>
          <p:cNvSpPr/>
          <p:nvPr/>
        </p:nvSpPr>
        <p:spPr>
          <a:xfrm>
            <a:off x="8046720" y="2194560"/>
            <a:ext cx="1700784" cy="26517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31352" y="2560320"/>
            <a:ext cx="731520" cy="73152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2EDE6"/>
                </a:solidFill>
                <a:latin typeface="Calibri"/>
              </a:rPr>
              <a:t>5</a:t>
            </a:r>
          </a:p>
        </p:txBody>
      </p:sp>
      <p:sp>
        <p:nvSpPr>
          <p:cNvPr id="18" name="TextBox 17"/>
          <p:cNvSpPr txBox="1"/>
          <p:nvPr/>
        </p:nvSpPr>
        <p:spPr>
          <a:xfrm>
            <a:off x="8138160" y="3520440"/>
            <a:ext cx="1517904" cy="1005840"/>
          </a:xfrm>
          <a:prstGeom prst="rect">
            <a:avLst/>
          </a:prstGeom>
          <a:noFill/>
        </p:spPr>
        <p:txBody>
          <a:bodyPr wrap="square" lIns="0" rIns="0" tIns="0" bIns="0" anchor="ctr">
            <a:spAutoFit/>
          </a:bodyPr>
          <a:lstStyle/>
          <a:p>
            <a:pPr algn="ctr">
              <a:spcAft>
                <a:spcPts val="400"/>
              </a:spcAft>
            </a:pPr>
            <a:r>
              <a:rPr sz="1700" b="1">
                <a:solidFill>
                  <a:srgbClr val="F2EDE6"/>
                </a:solidFill>
                <a:latin typeface="Cambria"/>
              </a:rPr>
              <a:t>Évaluation</a:t>
            </a:r>
          </a:p>
        </p:txBody>
      </p:sp>
      <p:sp>
        <p:nvSpPr>
          <p:cNvPr id="19" name="Rounded Rectangle 18"/>
          <p:cNvSpPr/>
          <p:nvPr/>
        </p:nvSpPr>
        <p:spPr>
          <a:xfrm>
            <a:off x="9921240" y="2194560"/>
            <a:ext cx="1700784" cy="26517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05872" y="2560320"/>
            <a:ext cx="731520" cy="73152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2EDE6"/>
                </a:solidFill>
                <a:latin typeface="Calibri"/>
              </a:rPr>
              <a:t>6</a:t>
            </a:r>
          </a:p>
        </p:txBody>
      </p:sp>
      <p:sp>
        <p:nvSpPr>
          <p:cNvPr id="21" name="TextBox 20"/>
          <p:cNvSpPr txBox="1"/>
          <p:nvPr/>
        </p:nvSpPr>
        <p:spPr>
          <a:xfrm>
            <a:off x="10012680" y="3520440"/>
            <a:ext cx="1517904" cy="1005840"/>
          </a:xfrm>
          <a:prstGeom prst="rect">
            <a:avLst/>
          </a:prstGeom>
          <a:noFill/>
        </p:spPr>
        <p:txBody>
          <a:bodyPr wrap="square" lIns="0" rIns="0" tIns="0" bIns="0" anchor="ctr">
            <a:spAutoFit/>
          </a:bodyPr>
          <a:lstStyle/>
          <a:p>
            <a:pPr algn="ctr">
              <a:spcAft>
                <a:spcPts val="400"/>
              </a:spcAft>
            </a:pPr>
            <a:r>
              <a:rPr sz="1700" b="1">
                <a:solidFill>
                  <a:srgbClr val="F2EDE6"/>
                </a:solidFill>
                <a:latin typeface="Cambria"/>
              </a:rPr>
              <a:t>Conclusion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VEILLE TECHNOLOGIQUE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Deux réseaux en compétition</a:t>
            </a:r>
          </a:p>
        </p:txBody>
      </p:sp>
      <p:sp>
        <p:nvSpPr>
          <p:cNvPr id="4" name="Rounded Rectangle 3"/>
          <p:cNvSpPr/>
          <p:nvPr/>
        </p:nvSpPr>
        <p:spPr>
          <a:xfrm>
            <a:off x="548640" y="1600200"/>
            <a:ext cx="237744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Non supervisé</a:t>
            </a:r>
          </a:p>
        </p:txBody>
      </p:sp>
      <p:sp>
        <p:nvSpPr>
          <p:cNvPr id="5" name="Rounded Rectangle 4"/>
          <p:cNvSpPr/>
          <p:nvPr/>
        </p:nvSpPr>
        <p:spPr>
          <a:xfrm>
            <a:off x="3108960" y="1600200"/>
            <a:ext cx="237744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Jeu à somme nulle</a:t>
            </a:r>
          </a:p>
        </p:txBody>
      </p:sp>
      <p:sp>
        <p:nvSpPr>
          <p:cNvPr id="6" name="Rounded Rectangle 5"/>
          <p:cNvSpPr/>
          <p:nvPr/>
        </p:nvSpPr>
        <p:spPr>
          <a:xfrm>
            <a:off x="548640" y="3954780"/>
            <a:ext cx="1737360" cy="91440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954780"/>
            <a:ext cx="1737360" cy="914400"/>
          </a:xfrm>
          <a:prstGeom prst="rect">
            <a:avLst/>
          </a:prstGeom>
          <a:noFill/>
        </p:spPr>
        <p:txBody>
          <a:bodyPr wrap="square" lIns="0" rIns="0" tIns="0" bIns="0" anchor="ctr">
            <a:spAutoFit/>
          </a:bodyPr>
          <a:lstStyle/>
          <a:p>
            <a:pPr algn="ctr">
              <a:spcAft>
                <a:spcPts val="0"/>
              </a:spcAft>
            </a:pPr>
            <a:r>
              <a:rPr sz="1800" b="1">
                <a:solidFill>
                  <a:srgbClr val="F2EDE6"/>
                </a:solidFill>
                <a:latin typeface="Calibri"/>
              </a:rPr>
              <a:t>Bruit z</a:t>
            </a:r>
          </a:p>
        </p:txBody>
      </p:sp>
      <p:sp>
        <p:nvSpPr>
          <p:cNvPr id="8" name="Rounded Rectangle 7"/>
          <p:cNvSpPr/>
          <p:nvPr/>
        </p:nvSpPr>
        <p:spPr>
          <a:xfrm>
            <a:off x="2834640" y="3954780"/>
            <a:ext cx="1737360" cy="914400"/>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40" y="3954780"/>
            <a:ext cx="1737360" cy="914400"/>
          </a:xfrm>
          <a:prstGeom prst="rect">
            <a:avLst/>
          </a:prstGeom>
          <a:noFill/>
        </p:spPr>
        <p:txBody>
          <a:bodyPr wrap="square" lIns="0" rIns="0" tIns="0" bIns="0" anchor="ctr">
            <a:spAutoFit/>
          </a:bodyPr>
          <a:lstStyle/>
          <a:p>
            <a:pPr algn="ctr">
              <a:spcAft>
                <a:spcPts val="0"/>
              </a:spcAft>
            </a:pPr>
            <a:r>
              <a:rPr sz="1800" b="1">
                <a:solidFill>
                  <a:srgbClr val="F2EDE6"/>
                </a:solidFill>
                <a:latin typeface="Calibri"/>
              </a:rPr>
              <a:t>Générateur G</a:t>
            </a:r>
          </a:p>
        </p:txBody>
      </p:sp>
      <p:sp>
        <p:nvSpPr>
          <p:cNvPr id="10" name="Right Arrow 9"/>
          <p:cNvSpPr/>
          <p:nvPr/>
        </p:nvSpPr>
        <p:spPr>
          <a:xfrm>
            <a:off x="2395728" y="4279392"/>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4681728" y="4279392"/>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01027.jpg"/>
          <p:cNvPicPr>
            <a:picLocks noChangeAspect="1"/>
          </p:cNvPicPr>
          <p:nvPr/>
        </p:nvPicPr>
        <p:blipFill>
          <a:blip r:embed="rId3"/>
          <a:stretch>
            <a:fillRect/>
          </a:stretch>
        </p:blipFill>
        <p:spPr>
          <a:xfrm>
            <a:off x="5120640" y="2331720"/>
            <a:ext cx="1143000" cy="1143000"/>
          </a:xfrm>
          <a:prstGeom prst="rect">
            <a:avLst/>
          </a:prstGeom>
        </p:spPr>
      </p:pic>
      <p:sp>
        <p:nvSpPr>
          <p:cNvPr id="13" name="TextBox 12"/>
          <p:cNvSpPr txBox="1"/>
          <p:nvPr/>
        </p:nvSpPr>
        <p:spPr>
          <a:xfrm>
            <a:off x="4846320" y="3474720"/>
            <a:ext cx="1691640" cy="411480"/>
          </a:xfrm>
          <a:prstGeom prst="rect">
            <a:avLst/>
          </a:prstGeom>
          <a:noFill/>
        </p:spPr>
        <p:txBody>
          <a:bodyPr wrap="square" lIns="0" rIns="0" tIns="0" bIns="0" anchor="ctr">
            <a:spAutoFit/>
          </a:bodyPr>
          <a:lstStyle/>
          <a:p>
            <a:pPr algn="ctr">
              <a:spcAft>
                <a:spcPts val="400"/>
              </a:spcAft>
            </a:pPr>
            <a:r>
              <a:rPr sz="1400" b="0">
                <a:solidFill>
                  <a:srgbClr val="A39A90"/>
                </a:solidFill>
                <a:latin typeface="Calibri"/>
              </a:rPr>
              <a:t>vraie</a:t>
            </a:r>
          </a:p>
        </p:txBody>
      </p:sp>
      <p:sp>
        <p:nvSpPr>
          <p:cNvPr id="14" name="Rounded Rectangle 13"/>
          <p:cNvSpPr/>
          <p:nvPr/>
        </p:nvSpPr>
        <p:spPr>
          <a:xfrm>
            <a:off x="5120640" y="3840480"/>
            <a:ext cx="1143000" cy="114300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0" y="3840480"/>
            <a:ext cx="1143000" cy="1143000"/>
          </a:xfrm>
          <a:prstGeom prst="rect">
            <a:avLst/>
          </a:prstGeom>
          <a:noFill/>
        </p:spPr>
        <p:txBody>
          <a:bodyPr wrap="square" lIns="0" rIns="0" tIns="0" bIns="0" anchor="ctr">
            <a:spAutoFit/>
          </a:bodyPr>
          <a:lstStyle/>
          <a:p>
            <a:pPr algn="ctr">
              <a:spcAft>
                <a:spcPts val="0"/>
              </a:spcAft>
            </a:pPr>
            <a:r>
              <a:rPr sz="4400" b="1">
                <a:solidFill>
                  <a:srgbClr val="D4A84B"/>
                </a:solidFill>
                <a:latin typeface="Calibri"/>
              </a:rPr>
              <a:t>?</a:t>
            </a:r>
          </a:p>
        </p:txBody>
      </p:sp>
      <p:sp>
        <p:nvSpPr>
          <p:cNvPr id="16" name="TextBox 15"/>
          <p:cNvSpPr txBox="1"/>
          <p:nvPr/>
        </p:nvSpPr>
        <p:spPr>
          <a:xfrm>
            <a:off x="4846320" y="4983480"/>
            <a:ext cx="1691640" cy="411480"/>
          </a:xfrm>
          <a:prstGeom prst="rect">
            <a:avLst/>
          </a:prstGeom>
          <a:noFill/>
        </p:spPr>
        <p:txBody>
          <a:bodyPr wrap="square" lIns="0" rIns="0" tIns="0" bIns="0" anchor="ctr">
            <a:spAutoFit/>
          </a:bodyPr>
          <a:lstStyle/>
          <a:p>
            <a:pPr algn="ctr">
              <a:spcAft>
                <a:spcPts val="400"/>
              </a:spcAft>
            </a:pPr>
            <a:r>
              <a:rPr sz="1400" b="0">
                <a:solidFill>
                  <a:srgbClr val="A39A90"/>
                </a:solidFill>
                <a:latin typeface="Calibri"/>
              </a:rPr>
              <a:t>générée</a:t>
            </a:r>
          </a:p>
        </p:txBody>
      </p:sp>
      <p:sp>
        <p:nvSpPr>
          <p:cNvPr id="17" name="Right Arrow 16"/>
          <p:cNvSpPr/>
          <p:nvPr/>
        </p:nvSpPr>
        <p:spPr>
          <a:xfrm>
            <a:off x="6373368" y="2770632"/>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6373368" y="4279392"/>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12280" y="2331720"/>
            <a:ext cx="2011680" cy="265176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12280" y="2331720"/>
            <a:ext cx="2011680" cy="2651760"/>
          </a:xfrm>
          <a:prstGeom prst="rect">
            <a:avLst/>
          </a:prstGeom>
          <a:noFill/>
        </p:spPr>
        <p:txBody>
          <a:bodyPr wrap="square" lIns="0" rIns="0" tIns="0" bIns="0" anchor="ctr">
            <a:spAutoFit/>
          </a:bodyPr>
          <a:lstStyle/>
          <a:p>
            <a:pPr algn="ctr">
              <a:spcAft>
                <a:spcPts val="0"/>
              </a:spcAft>
            </a:pPr>
            <a:r>
              <a:rPr sz="2000" b="1">
                <a:solidFill>
                  <a:srgbClr val="F2EDE6"/>
                </a:solidFill>
                <a:latin typeface="Calibri"/>
              </a:rPr>
              <a:t>Discriminateur D</a:t>
            </a:r>
          </a:p>
          <a:p>
            <a:pPr algn="ctr">
              <a:spcAft>
                <a:spcPts val="0"/>
              </a:spcAft>
            </a:pPr>
            <a:r>
              <a:rPr sz="1600" b="0">
                <a:solidFill>
                  <a:srgbClr val="D4A84B"/>
                </a:solidFill>
                <a:latin typeface="Calibri"/>
              </a:rPr>
              <a:t>vrai / faux ?</a:t>
            </a:r>
          </a:p>
        </p:txBody>
      </p:sp>
      <p:sp>
        <p:nvSpPr>
          <p:cNvPr id="21" name="Right Arrow 20"/>
          <p:cNvSpPr/>
          <p:nvPr/>
        </p:nvSpPr>
        <p:spPr>
          <a:xfrm>
            <a:off x="8933688" y="3383280"/>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72600" y="3063240"/>
            <a:ext cx="2103120" cy="914400"/>
          </a:xfrm>
          <a:prstGeom prst="rect">
            <a:avLst/>
          </a:prstGeom>
          <a:noFill/>
        </p:spPr>
        <p:txBody>
          <a:bodyPr wrap="square" lIns="0" rIns="0" tIns="0" bIns="0" anchor="ctr">
            <a:spAutoFit/>
          </a:bodyPr>
          <a:lstStyle/>
          <a:p>
            <a:pPr algn="l">
              <a:spcAft>
                <a:spcPts val="400"/>
              </a:spcAft>
            </a:pPr>
            <a:r>
              <a:rPr sz="1800" b="1">
                <a:solidFill>
                  <a:srgbClr val="D4A84B"/>
                </a:solidFill>
                <a:latin typeface="Calibri"/>
              </a:rPr>
              <a:t>gradient</a:t>
            </a:r>
          </a:p>
          <a:p>
            <a:pPr algn="l">
              <a:spcAft>
                <a:spcPts val="400"/>
              </a:spcAft>
            </a:pPr>
            <a:r>
              <a:rPr sz="1800" b="1">
                <a:solidFill>
                  <a:srgbClr val="D4A84B"/>
                </a:solidFill>
                <a:latin typeface="Calibri"/>
              </a:rPr>
              <a:t>→ G apprend</a:t>
            </a:r>
          </a:p>
        </p:txBody>
      </p:sp>
      <p:sp>
        <p:nvSpPr>
          <p:cNvPr id="23" name="Rounded Rectangle 22"/>
          <p:cNvSpPr/>
          <p:nvPr/>
        </p:nvSpPr>
        <p:spPr>
          <a:xfrm>
            <a:off x="548640" y="5532120"/>
            <a:ext cx="11091672" cy="77724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 y="5687568"/>
            <a:ext cx="1600200" cy="45720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DÉCOUVERTE</a:t>
            </a:r>
          </a:p>
        </p:txBody>
      </p:sp>
      <p:sp>
        <p:nvSpPr>
          <p:cNvPr id="25" name="TextBox 24"/>
          <p:cNvSpPr txBox="1"/>
          <p:nvPr/>
        </p:nvSpPr>
        <p:spPr>
          <a:xfrm>
            <a:off x="2560320" y="5532120"/>
            <a:ext cx="4206240" cy="777240"/>
          </a:xfrm>
          <a:prstGeom prst="rect">
            <a:avLst/>
          </a:prstGeom>
          <a:noFill/>
        </p:spPr>
        <p:txBody>
          <a:bodyPr wrap="square" lIns="0" rIns="0" tIns="0" bIns="0" anchor="ctr">
            <a:spAutoFit/>
          </a:bodyPr>
          <a:lstStyle/>
          <a:p>
            <a:pPr algn="l">
              <a:spcAft>
                <a:spcPts val="400"/>
              </a:spcAft>
            </a:pPr>
            <a:r>
              <a:rPr sz="1600" b="1">
                <a:solidFill>
                  <a:srgbClr val="A39A90"/>
                </a:solidFill>
                <a:latin typeface="Calibri"/>
              </a:rPr>
              <a:t>Intuition : </a:t>
            </a:r>
            <a:r>
              <a:rPr sz="1600" b="1">
                <a:solidFill>
                  <a:srgbClr val="A39A90"/>
                </a:solidFill>
                <a:latin typeface="Calibri"/>
              </a:rPr>
              <a:t>Le GAN sert à classer</a:t>
            </a:r>
          </a:p>
        </p:txBody>
      </p:sp>
      <p:sp>
        <p:nvSpPr>
          <p:cNvPr id="26" name="TextBox 25"/>
          <p:cNvSpPr txBox="1"/>
          <p:nvPr/>
        </p:nvSpPr>
        <p:spPr>
          <a:xfrm>
            <a:off x="6858000" y="5532120"/>
            <a:ext cx="4663440" cy="777240"/>
          </a:xfrm>
          <a:prstGeom prst="rect">
            <a:avLst/>
          </a:prstGeom>
          <a:noFill/>
        </p:spPr>
        <p:txBody>
          <a:bodyPr wrap="square" lIns="0" rIns="0" tIns="0" bIns="0" anchor="ctr">
            <a:spAutoFit/>
          </a:bodyPr>
          <a:lstStyle/>
          <a:p>
            <a:pPr algn="l">
              <a:spcAft>
                <a:spcPts val="400"/>
              </a:spcAft>
            </a:pPr>
            <a:r>
              <a:rPr sz="1700" b="1">
                <a:solidFill>
                  <a:srgbClr val="D4A84B"/>
                </a:solidFill>
                <a:latin typeface="Calibri"/>
              </a:rPr>
              <a:t>→ </a:t>
            </a:r>
            <a:r>
              <a:rPr sz="1700" b="1">
                <a:solidFill>
                  <a:srgbClr val="F2EDE6"/>
                </a:solidFill>
                <a:latin typeface="Calibri"/>
              </a:rPr>
              <a:t>Il sert à créer de nouvelles images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VEILLE TECHNOLOGIQUE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Ce qui distingue un modèle génératif</a:t>
            </a:r>
          </a:p>
        </p:txBody>
      </p:sp>
      <p:sp>
        <p:nvSpPr>
          <p:cNvPr id="4" name="Rounded Rectangle 3"/>
          <p:cNvSpPr/>
          <p:nvPr/>
        </p:nvSpPr>
        <p:spPr>
          <a:xfrm>
            <a:off x="548640" y="1645920"/>
            <a:ext cx="3520440" cy="36576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60" y="1874519"/>
            <a:ext cx="685800" cy="68580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2EDE6"/>
                </a:solidFill>
                <a:latin typeface="Calibri"/>
              </a:rPr>
              <a:t>1</a:t>
            </a:r>
          </a:p>
        </p:txBody>
      </p:sp>
      <p:sp>
        <p:nvSpPr>
          <p:cNvPr id="6" name="TextBox 5"/>
          <p:cNvSpPr txBox="1"/>
          <p:nvPr/>
        </p:nvSpPr>
        <p:spPr>
          <a:xfrm>
            <a:off x="1691640" y="1965960"/>
            <a:ext cx="2194560" cy="548640"/>
          </a:xfrm>
          <a:prstGeom prst="rect">
            <a:avLst/>
          </a:prstGeom>
          <a:noFill/>
        </p:spPr>
        <p:txBody>
          <a:bodyPr wrap="square" lIns="0" rIns="0" tIns="0" bIns="0" anchor="t">
            <a:spAutoFit/>
          </a:bodyPr>
          <a:lstStyle/>
          <a:p>
            <a:pPr algn="l">
              <a:spcAft>
                <a:spcPts val="400"/>
              </a:spcAft>
            </a:pPr>
            <a:r>
              <a:rPr sz="2200" b="1">
                <a:solidFill>
                  <a:srgbClr val="D4A84B"/>
                </a:solidFill>
                <a:latin typeface="Cambria"/>
              </a:rPr>
              <a:t>Rôles</a:t>
            </a:r>
          </a:p>
        </p:txBody>
      </p:sp>
      <p:sp>
        <p:nvSpPr>
          <p:cNvPr id="7" name="Rounded Rectangle 6"/>
          <p:cNvSpPr/>
          <p:nvPr/>
        </p:nvSpPr>
        <p:spPr>
          <a:xfrm>
            <a:off x="822960" y="2788920"/>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G : créer</a:t>
            </a:r>
          </a:p>
        </p:txBody>
      </p:sp>
      <p:sp>
        <p:nvSpPr>
          <p:cNvPr id="8" name="Rounded Rectangle 7"/>
          <p:cNvSpPr/>
          <p:nvPr/>
        </p:nvSpPr>
        <p:spPr>
          <a:xfrm>
            <a:off x="822960" y="3392424"/>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D : juger</a:t>
            </a:r>
          </a:p>
        </p:txBody>
      </p:sp>
      <p:sp>
        <p:nvSpPr>
          <p:cNvPr id="9" name="Rounded Rectangle 8"/>
          <p:cNvSpPr/>
          <p:nvPr/>
        </p:nvSpPr>
        <p:spPr>
          <a:xfrm>
            <a:off x="822960" y="3995928"/>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Discriminant : p(y|x)</a:t>
            </a:r>
          </a:p>
        </p:txBody>
      </p:sp>
      <p:sp>
        <p:nvSpPr>
          <p:cNvPr id="10" name="Rounded Rectangle 9"/>
          <p:cNvSpPr/>
          <p:nvPr/>
        </p:nvSpPr>
        <p:spPr>
          <a:xfrm>
            <a:off x="822960" y="4599432"/>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Génératif : p(x)</a:t>
            </a:r>
          </a:p>
        </p:txBody>
      </p:sp>
      <p:sp>
        <p:nvSpPr>
          <p:cNvPr id="11" name="Rounded Rectangle 10"/>
          <p:cNvSpPr/>
          <p:nvPr/>
        </p:nvSpPr>
        <p:spPr>
          <a:xfrm>
            <a:off x="4343400" y="1645920"/>
            <a:ext cx="3520440" cy="36576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17720" y="1874519"/>
            <a:ext cx="685800" cy="68580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2EDE6"/>
                </a:solidFill>
                <a:latin typeface="Calibri"/>
              </a:rPr>
              <a:t>2</a:t>
            </a:r>
          </a:p>
        </p:txBody>
      </p:sp>
      <p:sp>
        <p:nvSpPr>
          <p:cNvPr id="13" name="TextBox 12"/>
          <p:cNvSpPr txBox="1"/>
          <p:nvPr/>
        </p:nvSpPr>
        <p:spPr>
          <a:xfrm>
            <a:off x="5486400" y="1965960"/>
            <a:ext cx="2194560" cy="548640"/>
          </a:xfrm>
          <a:prstGeom prst="rect">
            <a:avLst/>
          </a:prstGeom>
          <a:noFill/>
        </p:spPr>
        <p:txBody>
          <a:bodyPr wrap="square" lIns="0" rIns="0" tIns="0" bIns="0" anchor="t">
            <a:spAutoFit/>
          </a:bodyPr>
          <a:lstStyle/>
          <a:p>
            <a:pPr algn="l">
              <a:spcAft>
                <a:spcPts val="400"/>
              </a:spcAft>
            </a:pPr>
            <a:r>
              <a:rPr sz="2200" b="1">
                <a:solidFill>
                  <a:srgbClr val="D4A84B"/>
                </a:solidFill>
                <a:latin typeface="Cambria"/>
              </a:rPr>
              <a:t>Entrées</a:t>
            </a:r>
          </a:p>
        </p:txBody>
      </p:sp>
      <p:sp>
        <p:nvSpPr>
          <p:cNvPr id="14" name="Rounded Rectangle 13"/>
          <p:cNvSpPr/>
          <p:nvPr/>
        </p:nvSpPr>
        <p:spPr>
          <a:xfrm>
            <a:off x="4617720" y="2788920"/>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G ← bruit z (100)</a:t>
            </a:r>
          </a:p>
        </p:txBody>
      </p:sp>
      <p:sp>
        <p:nvSpPr>
          <p:cNvPr id="15" name="Rounded Rectangle 14"/>
          <p:cNvSpPr/>
          <p:nvPr/>
        </p:nvSpPr>
        <p:spPr>
          <a:xfrm>
            <a:off x="4617720" y="3392424"/>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D ← une image</a:t>
            </a:r>
          </a:p>
        </p:txBody>
      </p:sp>
      <p:sp>
        <p:nvSpPr>
          <p:cNvPr id="16" name="Rounded Rectangle 15"/>
          <p:cNvSpPr/>
          <p:nvPr/>
        </p:nvSpPr>
        <p:spPr>
          <a:xfrm>
            <a:off x="4617720" y="3995928"/>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Sortie D : probabilité</a:t>
            </a:r>
          </a:p>
        </p:txBody>
      </p:sp>
      <p:sp>
        <p:nvSpPr>
          <p:cNvPr id="17" name="Rounded Rectangle 16"/>
          <p:cNvSpPr/>
          <p:nvPr/>
        </p:nvSpPr>
        <p:spPr>
          <a:xfrm>
            <a:off x="8138160" y="1645920"/>
            <a:ext cx="3520440" cy="36576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12480" y="1874519"/>
            <a:ext cx="685800" cy="68580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2EDE6"/>
                </a:solidFill>
                <a:latin typeface="Calibri"/>
              </a:rPr>
              <a:t>3</a:t>
            </a:r>
          </a:p>
        </p:txBody>
      </p:sp>
      <p:sp>
        <p:nvSpPr>
          <p:cNvPr id="19" name="TextBox 18"/>
          <p:cNvSpPr txBox="1"/>
          <p:nvPr/>
        </p:nvSpPr>
        <p:spPr>
          <a:xfrm>
            <a:off x="9281160" y="1965960"/>
            <a:ext cx="2194560" cy="548640"/>
          </a:xfrm>
          <a:prstGeom prst="rect">
            <a:avLst/>
          </a:prstGeom>
          <a:noFill/>
        </p:spPr>
        <p:txBody>
          <a:bodyPr wrap="square" lIns="0" rIns="0" tIns="0" bIns="0" anchor="t">
            <a:spAutoFit/>
          </a:bodyPr>
          <a:lstStyle/>
          <a:p>
            <a:pPr algn="l">
              <a:spcAft>
                <a:spcPts val="400"/>
              </a:spcAft>
            </a:pPr>
            <a:r>
              <a:rPr sz="2200" b="1">
                <a:solidFill>
                  <a:srgbClr val="D4A84B"/>
                </a:solidFill>
                <a:latin typeface="Cambria"/>
              </a:rPr>
              <a:t>Densité implicite</a:t>
            </a:r>
          </a:p>
        </p:txBody>
      </p:sp>
      <p:sp>
        <p:nvSpPr>
          <p:cNvPr id="20" name="Rounded Rectangle 19"/>
          <p:cNvSpPr/>
          <p:nvPr/>
        </p:nvSpPr>
        <p:spPr>
          <a:xfrm>
            <a:off x="8412480" y="2788920"/>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Pas de formule p(x)</a:t>
            </a:r>
          </a:p>
        </p:txBody>
      </p:sp>
      <p:sp>
        <p:nvSpPr>
          <p:cNvPr id="21" name="Rounded Rectangle 20"/>
          <p:cNvSpPr/>
          <p:nvPr/>
        </p:nvSpPr>
        <p:spPr>
          <a:xfrm>
            <a:off x="8412480" y="3392424"/>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Échantillonnage seul</a:t>
            </a:r>
          </a:p>
        </p:txBody>
      </p:sp>
      <p:sp>
        <p:nvSpPr>
          <p:cNvPr id="22" name="Rounded Rectangle 21"/>
          <p:cNvSpPr/>
          <p:nvPr/>
        </p:nvSpPr>
        <p:spPr>
          <a:xfrm>
            <a:off x="8412480" y="3995928"/>
            <a:ext cx="297180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VAE : explicite</a:t>
            </a:r>
          </a:p>
        </p:txBody>
      </p:sp>
      <p:sp>
        <p:nvSpPr>
          <p:cNvPr id="23" name="Rounded Rectangle 22"/>
          <p:cNvSpPr/>
          <p:nvPr/>
        </p:nvSpPr>
        <p:spPr>
          <a:xfrm>
            <a:off x="548640" y="5532120"/>
            <a:ext cx="11091672" cy="77724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 y="5687568"/>
            <a:ext cx="1600200" cy="45720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DÉCOUVERTE</a:t>
            </a:r>
          </a:p>
        </p:txBody>
      </p:sp>
      <p:sp>
        <p:nvSpPr>
          <p:cNvPr id="25" name="TextBox 24"/>
          <p:cNvSpPr txBox="1"/>
          <p:nvPr/>
        </p:nvSpPr>
        <p:spPr>
          <a:xfrm>
            <a:off x="2560320" y="5532120"/>
            <a:ext cx="4206240" cy="777240"/>
          </a:xfrm>
          <a:prstGeom prst="rect">
            <a:avLst/>
          </a:prstGeom>
          <a:noFill/>
        </p:spPr>
        <p:txBody>
          <a:bodyPr wrap="square" lIns="0" rIns="0" tIns="0" bIns="0" anchor="ctr">
            <a:spAutoFit/>
          </a:bodyPr>
          <a:lstStyle/>
          <a:p>
            <a:pPr algn="l">
              <a:spcAft>
                <a:spcPts val="400"/>
              </a:spcAft>
            </a:pPr>
            <a:r>
              <a:rPr sz="1600" b="1">
                <a:solidFill>
                  <a:srgbClr val="A39A90"/>
                </a:solidFill>
                <a:latin typeface="Calibri"/>
              </a:rPr>
              <a:t>Intuition : </a:t>
            </a:r>
            <a:r>
              <a:rPr sz="1600" b="1">
                <a:solidFill>
                  <a:srgbClr val="A39A90"/>
                </a:solidFill>
                <a:latin typeface="Calibri"/>
              </a:rPr>
              <a:t>Le GAN est un modèle discriminant</a:t>
            </a:r>
          </a:p>
        </p:txBody>
      </p:sp>
      <p:sp>
        <p:nvSpPr>
          <p:cNvPr id="26" name="TextBox 25"/>
          <p:cNvSpPr txBox="1"/>
          <p:nvPr/>
        </p:nvSpPr>
        <p:spPr>
          <a:xfrm>
            <a:off x="6858000" y="5532120"/>
            <a:ext cx="4663440" cy="777240"/>
          </a:xfrm>
          <a:prstGeom prst="rect">
            <a:avLst/>
          </a:prstGeom>
          <a:noFill/>
        </p:spPr>
        <p:txBody>
          <a:bodyPr wrap="square" lIns="0" rIns="0" tIns="0" bIns="0" anchor="ctr">
            <a:spAutoFit/>
          </a:bodyPr>
          <a:lstStyle/>
          <a:p>
            <a:pPr algn="l">
              <a:spcAft>
                <a:spcPts val="400"/>
              </a:spcAft>
            </a:pPr>
            <a:r>
              <a:rPr sz="1700" b="1">
                <a:solidFill>
                  <a:srgbClr val="D4A84B"/>
                </a:solidFill>
                <a:latin typeface="Calibri"/>
              </a:rPr>
              <a:t>→ </a:t>
            </a:r>
            <a:r>
              <a:rPr sz="1700" b="1">
                <a:solidFill>
                  <a:srgbClr val="F2EDE6"/>
                </a:solidFill>
                <a:latin typeface="Calibri"/>
              </a:rPr>
              <a:t>D l'est, mais le GAN est génératif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VEILLE TECHNOLOGIQUE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Entraîner, puis converger</a:t>
            </a:r>
          </a:p>
        </p:txBody>
      </p:sp>
      <p:sp>
        <p:nvSpPr>
          <p:cNvPr id="4" name="Rounded Rectangle 3"/>
          <p:cNvSpPr/>
          <p:nvPr/>
        </p:nvSpPr>
        <p:spPr>
          <a:xfrm>
            <a:off x="548640" y="1645920"/>
            <a:ext cx="5394960" cy="36576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4846320" cy="411480"/>
          </a:xfrm>
          <a:prstGeom prst="rect">
            <a:avLst/>
          </a:prstGeom>
          <a:noFill/>
        </p:spPr>
        <p:txBody>
          <a:bodyPr wrap="square" lIns="0" rIns="0" tIns="0" bIns="0" anchor="ctr">
            <a:spAutoFit/>
          </a:bodyPr>
          <a:lstStyle/>
          <a:p>
            <a:pPr algn="l">
              <a:spcAft>
                <a:spcPts val="400"/>
              </a:spcAft>
            </a:pPr>
            <a:r>
              <a:rPr sz="2200" b="1">
                <a:solidFill>
                  <a:srgbClr val="D4A84B"/>
                </a:solidFill>
                <a:latin typeface="Calibri"/>
              </a:rPr>
              <a:t>1 · D apprend</a:t>
            </a:r>
          </a:p>
        </p:txBody>
      </p:sp>
      <p:sp>
        <p:nvSpPr>
          <p:cNvPr id="6" name="Rounded Rectangle 5"/>
          <p:cNvSpPr/>
          <p:nvPr/>
        </p:nvSpPr>
        <p:spPr>
          <a:xfrm>
            <a:off x="868680" y="2788920"/>
            <a:ext cx="1280160" cy="91440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788920"/>
            <a:ext cx="1280160" cy="914400"/>
          </a:xfrm>
          <a:prstGeom prst="rect">
            <a:avLst/>
          </a:prstGeom>
          <a:noFill/>
        </p:spPr>
        <p:txBody>
          <a:bodyPr wrap="square" lIns="0" rIns="0" tIns="0" bIns="0" anchor="ctr">
            <a:spAutoFit/>
          </a:bodyPr>
          <a:lstStyle/>
          <a:p>
            <a:pPr algn="ctr">
              <a:spcAft>
                <a:spcPts val="0"/>
              </a:spcAft>
            </a:pPr>
            <a:r>
              <a:rPr sz="2400" b="1">
                <a:solidFill>
                  <a:srgbClr val="F2EDE6"/>
                </a:solidFill>
                <a:latin typeface="Calibri"/>
              </a:rPr>
              <a:t>G</a:t>
            </a:r>
          </a:p>
          <a:p>
            <a:pPr algn="ctr">
              <a:spcAft>
                <a:spcPts val="0"/>
              </a:spcAft>
            </a:pPr>
            <a:r>
              <a:rPr sz="2000" b="0">
                <a:solidFill>
                  <a:srgbClr val="D4A84B"/>
                </a:solidFill>
                <a:latin typeface="Calibri"/>
              </a:rPr>
              <a:t>figé</a:t>
            </a:r>
          </a:p>
        </p:txBody>
      </p:sp>
      <p:sp>
        <p:nvSpPr>
          <p:cNvPr id="8" name="Right Arrow 7"/>
          <p:cNvSpPr/>
          <p:nvPr/>
        </p:nvSpPr>
        <p:spPr>
          <a:xfrm>
            <a:off x="2240280" y="3108960"/>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51760" y="2788920"/>
            <a:ext cx="1280160" cy="914400"/>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0" y="2788920"/>
            <a:ext cx="1280160" cy="914400"/>
          </a:xfrm>
          <a:prstGeom prst="rect">
            <a:avLst/>
          </a:prstGeom>
          <a:noFill/>
        </p:spPr>
        <p:txBody>
          <a:bodyPr wrap="square" lIns="0" rIns="0" tIns="0" bIns="0" anchor="ctr">
            <a:spAutoFit/>
          </a:bodyPr>
          <a:lstStyle/>
          <a:p>
            <a:pPr algn="ctr">
              <a:spcAft>
                <a:spcPts val="0"/>
              </a:spcAft>
            </a:pPr>
            <a:r>
              <a:rPr sz="2400" b="1">
                <a:solidFill>
                  <a:srgbClr val="F2EDE6"/>
                </a:solidFill>
                <a:latin typeface="Calibri"/>
              </a:rPr>
              <a:t>D</a:t>
            </a:r>
          </a:p>
          <a:p>
            <a:pPr algn="ctr">
              <a:spcAft>
                <a:spcPts val="0"/>
              </a:spcAft>
            </a:pPr>
            <a:r>
              <a:rPr sz="2000" b="0">
                <a:solidFill>
                  <a:srgbClr val="D4A84B"/>
                </a:solidFill>
                <a:latin typeface="Calibri"/>
              </a:rPr>
              <a:t>mis à jour</a:t>
            </a:r>
          </a:p>
        </p:txBody>
      </p:sp>
      <p:sp>
        <p:nvSpPr>
          <p:cNvPr id="11" name="Right Arrow 10"/>
          <p:cNvSpPr/>
          <p:nvPr/>
        </p:nvSpPr>
        <p:spPr>
          <a:xfrm>
            <a:off x="4023360" y="3108960"/>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34840" y="2788920"/>
            <a:ext cx="1234440" cy="91440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2788920"/>
            <a:ext cx="1234440" cy="914400"/>
          </a:xfrm>
          <a:prstGeom prst="rect">
            <a:avLst/>
          </a:prstGeom>
          <a:noFill/>
        </p:spPr>
        <p:txBody>
          <a:bodyPr wrap="square" lIns="0" rIns="0" tIns="0" bIns="0" anchor="ctr">
            <a:spAutoFit/>
          </a:bodyPr>
          <a:lstStyle/>
          <a:p>
            <a:pPr algn="ctr">
              <a:spcAft>
                <a:spcPts val="0"/>
              </a:spcAft>
            </a:pPr>
            <a:r>
              <a:rPr sz="1800" b="1">
                <a:solidFill>
                  <a:srgbClr val="F2EDE6"/>
                </a:solidFill>
                <a:latin typeface="Calibri"/>
              </a:rPr>
              <a:t>perte</a:t>
            </a:r>
          </a:p>
        </p:txBody>
      </p:sp>
      <p:cxnSp>
        <p:nvCxnSpPr>
          <p:cNvPr id="14" name="Connector 13"/>
          <p:cNvCxnSpPr/>
          <p:nvPr/>
        </p:nvCxnSpPr>
        <p:spPr>
          <a:xfrm>
            <a:off x="5029200" y="3886200"/>
            <a:ext cx="0" cy="457200"/>
          </a:xfrm>
          <a:prstGeom prst="line">
            <a:avLst/>
          </a:prstGeom>
          <a:ln w="38100">
            <a:solidFill>
              <a:srgbClr val="D4A84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291840" y="4343400"/>
            <a:ext cx="1737360" cy="0"/>
          </a:xfrm>
          <a:prstGeom prst="line">
            <a:avLst/>
          </a:prstGeom>
          <a:ln w="38100">
            <a:solidFill>
              <a:srgbClr val="D4A84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291840" y="3794760"/>
            <a:ext cx="0" cy="548640"/>
          </a:xfrm>
          <a:prstGeom prst="line">
            <a:avLst/>
          </a:prstGeom>
          <a:ln w="38100">
            <a:solidFill>
              <a:srgbClr val="D4A8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4480560"/>
            <a:ext cx="4846320" cy="411480"/>
          </a:xfrm>
          <a:prstGeom prst="rect">
            <a:avLst/>
          </a:prstGeom>
          <a:noFill/>
        </p:spPr>
        <p:txBody>
          <a:bodyPr wrap="square" lIns="0" rIns="0" tIns="0" bIns="0" anchor="ctr">
            <a:spAutoFit/>
          </a:bodyPr>
          <a:lstStyle/>
          <a:p>
            <a:pPr algn="ctr">
              <a:spcAft>
                <a:spcPts val="400"/>
              </a:spcAft>
            </a:pPr>
            <a:r>
              <a:rPr sz="1500" b="0">
                <a:solidFill>
                  <a:srgbClr val="D4A84B"/>
                </a:solidFill>
                <a:latin typeface="Calibri"/>
              </a:rPr>
              <a:t>gradient</a:t>
            </a:r>
          </a:p>
        </p:txBody>
      </p:sp>
      <p:sp>
        <p:nvSpPr>
          <p:cNvPr id="18" name="TextBox 17"/>
          <p:cNvSpPr txBox="1"/>
          <p:nvPr/>
        </p:nvSpPr>
        <p:spPr>
          <a:xfrm>
            <a:off x="2377440" y="2286000"/>
            <a:ext cx="1828800" cy="411480"/>
          </a:xfrm>
          <a:prstGeom prst="rect">
            <a:avLst/>
          </a:prstGeom>
          <a:noFill/>
        </p:spPr>
        <p:txBody>
          <a:bodyPr wrap="square" lIns="0" rIns="0" tIns="0" bIns="0" anchor="ctr">
            <a:spAutoFit/>
          </a:bodyPr>
          <a:lstStyle/>
          <a:p>
            <a:pPr algn="ctr">
              <a:spcAft>
                <a:spcPts val="400"/>
              </a:spcAft>
            </a:pPr>
            <a:r>
              <a:rPr sz="1300" b="0">
                <a:solidFill>
                  <a:srgbClr val="A39A90"/>
                </a:solidFill>
                <a:latin typeface="Calibri"/>
              </a:rPr>
              <a:t>vraies = 1 · fausses = 0</a:t>
            </a:r>
          </a:p>
        </p:txBody>
      </p:sp>
      <p:sp>
        <p:nvSpPr>
          <p:cNvPr id="19" name="Rounded Rectangle 18"/>
          <p:cNvSpPr/>
          <p:nvPr/>
        </p:nvSpPr>
        <p:spPr>
          <a:xfrm>
            <a:off x="6245352" y="1645920"/>
            <a:ext cx="5394960" cy="36576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9672" y="1783080"/>
            <a:ext cx="4846320" cy="411480"/>
          </a:xfrm>
          <a:prstGeom prst="rect">
            <a:avLst/>
          </a:prstGeom>
          <a:noFill/>
        </p:spPr>
        <p:txBody>
          <a:bodyPr wrap="square" lIns="0" rIns="0" tIns="0" bIns="0" anchor="ctr">
            <a:spAutoFit/>
          </a:bodyPr>
          <a:lstStyle/>
          <a:p>
            <a:pPr algn="l">
              <a:spcAft>
                <a:spcPts val="400"/>
              </a:spcAft>
            </a:pPr>
            <a:r>
              <a:rPr sz="2200" b="1">
                <a:solidFill>
                  <a:srgbClr val="D4A84B"/>
                </a:solidFill>
                <a:latin typeface="Calibri"/>
              </a:rPr>
              <a:t>2 · G apprend</a:t>
            </a:r>
          </a:p>
        </p:txBody>
      </p:sp>
      <p:sp>
        <p:nvSpPr>
          <p:cNvPr id="21" name="Rounded Rectangle 20"/>
          <p:cNvSpPr/>
          <p:nvPr/>
        </p:nvSpPr>
        <p:spPr>
          <a:xfrm>
            <a:off x="6565392" y="2788920"/>
            <a:ext cx="1280160" cy="914400"/>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2788920"/>
            <a:ext cx="1280160" cy="914400"/>
          </a:xfrm>
          <a:prstGeom prst="rect">
            <a:avLst/>
          </a:prstGeom>
          <a:noFill/>
        </p:spPr>
        <p:txBody>
          <a:bodyPr wrap="square" lIns="0" rIns="0" tIns="0" bIns="0" anchor="ctr">
            <a:spAutoFit/>
          </a:bodyPr>
          <a:lstStyle/>
          <a:p>
            <a:pPr algn="ctr">
              <a:spcAft>
                <a:spcPts val="0"/>
              </a:spcAft>
            </a:pPr>
            <a:r>
              <a:rPr sz="2400" b="1">
                <a:solidFill>
                  <a:srgbClr val="F2EDE6"/>
                </a:solidFill>
                <a:latin typeface="Calibri"/>
              </a:rPr>
              <a:t>G</a:t>
            </a:r>
          </a:p>
          <a:p>
            <a:pPr algn="ctr">
              <a:spcAft>
                <a:spcPts val="0"/>
              </a:spcAft>
            </a:pPr>
            <a:r>
              <a:rPr sz="2000" b="0">
                <a:solidFill>
                  <a:srgbClr val="D4A84B"/>
                </a:solidFill>
                <a:latin typeface="Calibri"/>
              </a:rPr>
              <a:t>mis à jour</a:t>
            </a:r>
          </a:p>
        </p:txBody>
      </p:sp>
      <p:sp>
        <p:nvSpPr>
          <p:cNvPr id="23" name="Right Arrow 22"/>
          <p:cNvSpPr/>
          <p:nvPr/>
        </p:nvSpPr>
        <p:spPr>
          <a:xfrm>
            <a:off x="7936992" y="3108960"/>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48472" y="2788920"/>
            <a:ext cx="1280160" cy="91440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48472" y="2788920"/>
            <a:ext cx="1280160" cy="914400"/>
          </a:xfrm>
          <a:prstGeom prst="rect">
            <a:avLst/>
          </a:prstGeom>
          <a:noFill/>
        </p:spPr>
        <p:txBody>
          <a:bodyPr wrap="square" lIns="0" rIns="0" tIns="0" bIns="0" anchor="ctr">
            <a:spAutoFit/>
          </a:bodyPr>
          <a:lstStyle/>
          <a:p>
            <a:pPr algn="ctr">
              <a:spcAft>
                <a:spcPts val="0"/>
              </a:spcAft>
            </a:pPr>
            <a:r>
              <a:rPr sz="2400" b="1">
                <a:solidFill>
                  <a:srgbClr val="F2EDE6"/>
                </a:solidFill>
                <a:latin typeface="Calibri"/>
              </a:rPr>
              <a:t>D</a:t>
            </a:r>
          </a:p>
          <a:p>
            <a:pPr algn="ctr">
              <a:spcAft>
                <a:spcPts val="0"/>
              </a:spcAft>
            </a:pPr>
            <a:r>
              <a:rPr sz="2000" b="0">
                <a:solidFill>
                  <a:srgbClr val="D4A84B"/>
                </a:solidFill>
                <a:latin typeface="Calibri"/>
              </a:rPr>
              <a:t>figé</a:t>
            </a:r>
          </a:p>
        </p:txBody>
      </p:sp>
      <p:sp>
        <p:nvSpPr>
          <p:cNvPr id="26" name="Right Arrow 25"/>
          <p:cNvSpPr/>
          <p:nvPr/>
        </p:nvSpPr>
        <p:spPr>
          <a:xfrm>
            <a:off x="9720072" y="3108960"/>
            <a:ext cx="320040" cy="274320"/>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131552" y="2788920"/>
            <a:ext cx="1234440" cy="91440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31552" y="2788920"/>
            <a:ext cx="1234440" cy="914400"/>
          </a:xfrm>
          <a:prstGeom prst="rect">
            <a:avLst/>
          </a:prstGeom>
          <a:noFill/>
        </p:spPr>
        <p:txBody>
          <a:bodyPr wrap="square" lIns="0" rIns="0" tIns="0" bIns="0" anchor="ctr">
            <a:spAutoFit/>
          </a:bodyPr>
          <a:lstStyle/>
          <a:p>
            <a:pPr algn="ctr">
              <a:spcAft>
                <a:spcPts val="0"/>
              </a:spcAft>
            </a:pPr>
            <a:r>
              <a:rPr sz="1800" b="1">
                <a:solidFill>
                  <a:srgbClr val="F2EDE6"/>
                </a:solidFill>
                <a:latin typeface="Calibri"/>
              </a:rPr>
              <a:t>perte</a:t>
            </a:r>
          </a:p>
        </p:txBody>
      </p:sp>
      <p:cxnSp>
        <p:nvCxnSpPr>
          <p:cNvPr id="29" name="Connector 28"/>
          <p:cNvCxnSpPr/>
          <p:nvPr/>
        </p:nvCxnSpPr>
        <p:spPr>
          <a:xfrm>
            <a:off x="10725912" y="3886200"/>
            <a:ext cx="0" cy="457200"/>
          </a:xfrm>
          <a:prstGeom prst="line">
            <a:avLst/>
          </a:prstGeom>
          <a:ln w="38100">
            <a:solidFill>
              <a:srgbClr val="D4A84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7205472" y="4343400"/>
            <a:ext cx="3520440" cy="0"/>
          </a:xfrm>
          <a:prstGeom prst="line">
            <a:avLst/>
          </a:prstGeom>
          <a:ln w="38100">
            <a:solidFill>
              <a:srgbClr val="D4A84B"/>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205472" y="3794760"/>
            <a:ext cx="0" cy="548640"/>
          </a:xfrm>
          <a:prstGeom prst="line">
            <a:avLst/>
          </a:prstGeom>
          <a:ln w="38100">
            <a:solidFill>
              <a:srgbClr val="D4A8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19672" y="4480560"/>
            <a:ext cx="4846320" cy="411480"/>
          </a:xfrm>
          <a:prstGeom prst="rect">
            <a:avLst/>
          </a:prstGeom>
          <a:noFill/>
        </p:spPr>
        <p:txBody>
          <a:bodyPr wrap="square" lIns="0" rIns="0" tIns="0" bIns="0" anchor="ctr">
            <a:spAutoFit/>
          </a:bodyPr>
          <a:lstStyle/>
          <a:p>
            <a:pPr algn="ctr">
              <a:spcAft>
                <a:spcPts val="400"/>
              </a:spcAft>
            </a:pPr>
            <a:r>
              <a:rPr sz="1500" b="0">
                <a:solidFill>
                  <a:srgbClr val="D4A84B"/>
                </a:solidFill>
                <a:latin typeface="Calibri"/>
              </a:rPr>
              <a:t>gradient à travers D</a:t>
            </a:r>
          </a:p>
        </p:txBody>
      </p:sp>
      <p:sp>
        <p:nvSpPr>
          <p:cNvPr id="33" name="TextBox 32"/>
          <p:cNvSpPr txBox="1"/>
          <p:nvPr/>
        </p:nvSpPr>
        <p:spPr>
          <a:xfrm>
            <a:off x="8074152" y="2286000"/>
            <a:ext cx="1828800" cy="411480"/>
          </a:xfrm>
          <a:prstGeom prst="rect">
            <a:avLst/>
          </a:prstGeom>
          <a:noFill/>
        </p:spPr>
        <p:txBody>
          <a:bodyPr wrap="square" lIns="0" rIns="0" tIns="0" bIns="0" anchor="ctr">
            <a:spAutoFit/>
          </a:bodyPr>
          <a:lstStyle/>
          <a:p>
            <a:pPr algn="ctr">
              <a:spcAft>
                <a:spcPts val="400"/>
              </a:spcAft>
            </a:pPr>
            <a:r>
              <a:rPr sz="1400" b="0">
                <a:solidFill>
                  <a:srgbClr val="A39A90"/>
                </a:solidFill>
                <a:latin typeface="Calibri"/>
              </a:rPr>
              <a:t>−log D(G(z))</a:t>
            </a:r>
          </a:p>
        </p:txBody>
      </p:sp>
      <p:sp>
        <p:nvSpPr>
          <p:cNvPr id="34" name="Rounded Rectangle 33"/>
          <p:cNvSpPr/>
          <p:nvPr/>
        </p:nvSpPr>
        <p:spPr>
          <a:xfrm>
            <a:off x="548640" y="5532120"/>
            <a:ext cx="11091672" cy="77724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31520" y="5687568"/>
            <a:ext cx="1600200" cy="45720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DÉCOUVERTE</a:t>
            </a:r>
          </a:p>
        </p:txBody>
      </p:sp>
      <p:sp>
        <p:nvSpPr>
          <p:cNvPr id="36" name="TextBox 35"/>
          <p:cNvSpPr txBox="1"/>
          <p:nvPr/>
        </p:nvSpPr>
        <p:spPr>
          <a:xfrm>
            <a:off x="2560320" y="5532120"/>
            <a:ext cx="4206240" cy="777240"/>
          </a:xfrm>
          <a:prstGeom prst="rect">
            <a:avLst/>
          </a:prstGeom>
          <a:noFill/>
        </p:spPr>
        <p:txBody>
          <a:bodyPr wrap="square" lIns="0" rIns="0" tIns="0" bIns="0" anchor="ctr">
            <a:spAutoFit/>
          </a:bodyPr>
          <a:lstStyle/>
          <a:p>
            <a:pPr algn="l">
              <a:spcAft>
                <a:spcPts val="400"/>
              </a:spcAft>
            </a:pPr>
            <a:r>
              <a:rPr sz="1600" b="1">
                <a:solidFill>
                  <a:srgbClr val="A39A90"/>
                </a:solidFill>
                <a:latin typeface="Calibri"/>
              </a:rPr>
              <a:t>Intuition : </a:t>
            </a:r>
            <a:r>
              <a:rPr sz="1600" b="1">
                <a:solidFill>
                  <a:srgbClr val="A39A90"/>
                </a:solidFill>
                <a:latin typeface="Calibri"/>
              </a:rPr>
              <a:t>La perte de G baisse : il progresse</a:t>
            </a:r>
          </a:p>
        </p:txBody>
      </p:sp>
      <p:sp>
        <p:nvSpPr>
          <p:cNvPr id="37" name="TextBox 36"/>
          <p:cNvSpPr txBox="1"/>
          <p:nvPr/>
        </p:nvSpPr>
        <p:spPr>
          <a:xfrm>
            <a:off x="6858000" y="5532120"/>
            <a:ext cx="4663440" cy="777240"/>
          </a:xfrm>
          <a:prstGeom prst="rect">
            <a:avLst/>
          </a:prstGeom>
          <a:noFill/>
        </p:spPr>
        <p:txBody>
          <a:bodyPr wrap="square" lIns="0" rIns="0" tIns="0" bIns="0" anchor="ctr">
            <a:spAutoFit/>
          </a:bodyPr>
          <a:lstStyle/>
          <a:p>
            <a:pPr algn="l">
              <a:spcAft>
                <a:spcPts val="400"/>
              </a:spcAft>
            </a:pPr>
            <a:r>
              <a:rPr sz="1700" b="1">
                <a:solidFill>
                  <a:srgbClr val="D4A84B"/>
                </a:solidFill>
                <a:latin typeface="Calibri"/>
              </a:rPr>
              <a:t>→ </a:t>
            </a:r>
            <a:r>
              <a:rPr sz="1700" b="1">
                <a:solidFill>
                  <a:srgbClr val="F2EDE6"/>
                </a:solidFill>
                <a:latin typeface="Calibri"/>
              </a:rPr>
              <a:t>On alterne G et D, on vise D = 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VEILLE TECHNOLOGIQUE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Évaluer, et avec combien d'images</a:t>
            </a:r>
          </a:p>
        </p:txBody>
      </p:sp>
      <p:sp>
        <p:nvSpPr>
          <p:cNvPr id="4" name="Rounded Rectangle 3"/>
          <p:cNvSpPr/>
          <p:nvPr/>
        </p:nvSpPr>
        <p:spPr>
          <a:xfrm>
            <a:off x="548640" y="1645920"/>
            <a:ext cx="6766560" cy="36576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45920" y="1920240"/>
            <a:ext cx="3108960" cy="3108960"/>
          </a:xfrm>
          <a:prstGeom prst="ellipse">
            <a:avLst/>
          </a:prstGeom>
          <a:noFill/>
          <a:ln w="28575">
            <a:solidFill>
              <a:srgbClr val="A39A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383280" y="2377440"/>
            <a:ext cx="2194560" cy="2194560"/>
          </a:xfrm>
          <a:prstGeom prst="ellipse">
            <a:avLst/>
          </a:prstGeom>
          <a:noFill/>
          <a:ln w="28575">
            <a:solidFill>
              <a:srgbClr val="D4A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783080"/>
            <a:ext cx="2194560" cy="411480"/>
          </a:xfrm>
          <a:prstGeom prst="rect">
            <a:avLst/>
          </a:prstGeom>
          <a:noFill/>
        </p:spPr>
        <p:txBody>
          <a:bodyPr wrap="square" lIns="0" rIns="0" tIns="0" bIns="0" anchor="ctr">
            <a:spAutoFit/>
          </a:bodyPr>
          <a:lstStyle/>
          <a:p>
            <a:pPr algn="ctr">
              <a:spcAft>
                <a:spcPts val="400"/>
              </a:spcAft>
            </a:pPr>
            <a:r>
              <a:rPr sz="1700" b="1">
                <a:solidFill>
                  <a:srgbClr val="A39A90"/>
                </a:solidFill>
                <a:latin typeface="Calibri"/>
              </a:rPr>
              <a:t>vraies</a:t>
            </a:r>
          </a:p>
        </p:txBody>
      </p:sp>
      <p:sp>
        <p:nvSpPr>
          <p:cNvPr id="8" name="TextBox 7"/>
          <p:cNvSpPr txBox="1"/>
          <p:nvPr/>
        </p:nvSpPr>
        <p:spPr>
          <a:xfrm>
            <a:off x="4663440" y="1783080"/>
            <a:ext cx="2194560" cy="411480"/>
          </a:xfrm>
          <a:prstGeom prst="rect">
            <a:avLst/>
          </a:prstGeom>
          <a:noFill/>
        </p:spPr>
        <p:txBody>
          <a:bodyPr wrap="square" lIns="0" rIns="0" tIns="0" bIns="0" anchor="ctr">
            <a:spAutoFit/>
          </a:bodyPr>
          <a:lstStyle/>
          <a:p>
            <a:pPr algn="ctr">
              <a:spcAft>
                <a:spcPts val="400"/>
              </a:spcAft>
            </a:pPr>
            <a:r>
              <a:rPr sz="1700" b="1">
                <a:solidFill>
                  <a:srgbClr val="D4A84B"/>
                </a:solidFill>
                <a:latin typeface="Calibri"/>
              </a:rPr>
              <a:t>générées</a:t>
            </a:r>
          </a:p>
        </p:txBody>
      </p:sp>
      <p:cxnSp>
        <p:nvCxnSpPr>
          <p:cNvPr id="9" name="Connector 8"/>
          <p:cNvCxnSpPr/>
          <p:nvPr/>
        </p:nvCxnSpPr>
        <p:spPr>
          <a:xfrm>
            <a:off x="3200400" y="3474720"/>
            <a:ext cx="1280160" cy="0"/>
          </a:xfrm>
          <a:prstGeom prst="line">
            <a:avLst/>
          </a:prstGeom>
          <a:ln w="38100">
            <a:solidFill>
              <a:srgbClr val="C050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063240" y="3520440"/>
            <a:ext cx="1554480" cy="411480"/>
          </a:xfrm>
          <a:prstGeom prst="rect">
            <a:avLst/>
          </a:prstGeom>
          <a:noFill/>
        </p:spPr>
        <p:txBody>
          <a:bodyPr wrap="square" lIns="0" rIns="0" tIns="0" bIns="0" anchor="ctr">
            <a:spAutoFit/>
          </a:bodyPr>
          <a:lstStyle/>
          <a:p>
            <a:pPr algn="ctr">
              <a:spcAft>
                <a:spcPts val="400"/>
              </a:spcAft>
            </a:pPr>
            <a:r>
              <a:rPr sz="1700" b="1">
                <a:solidFill>
                  <a:srgbClr val="C0505C"/>
                </a:solidFill>
                <a:latin typeface="Calibri"/>
              </a:rPr>
              <a:t>FID</a:t>
            </a:r>
          </a:p>
        </p:txBody>
      </p:sp>
      <p:sp>
        <p:nvSpPr>
          <p:cNvPr id="11" name="Rounded Rectangle 10"/>
          <p:cNvSpPr/>
          <p:nvPr/>
        </p:nvSpPr>
        <p:spPr>
          <a:xfrm>
            <a:off x="7589520" y="1645920"/>
            <a:ext cx="1828800" cy="59436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Précision</a:t>
            </a:r>
          </a:p>
        </p:txBody>
      </p:sp>
      <p:sp>
        <p:nvSpPr>
          <p:cNvPr id="12" name="TextBox 11"/>
          <p:cNvSpPr txBox="1"/>
          <p:nvPr/>
        </p:nvSpPr>
        <p:spPr>
          <a:xfrm>
            <a:off x="9555480" y="1737360"/>
            <a:ext cx="2103120" cy="411480"/>
          </a:xfrm>
          <a:prstGeom prst="rect">
            <a:avLst/>
          </a:prstGeom>
          <a:noFill/>
        </p:spPr>
        <p:txBody>
          <a:bodyPr wrap="square" lIns="0" rIns="0" tIns="0" bIns="0" anchor="ctr">
            <a:spAutoFit/>
          </a:bodyPr>
          <a:lstStyle/>
          <a:p>
            <a:pPr algn="l">
              <a:spcAft>
                <a:spcPts val="400"/>
              </a:spcAft>
            </a:pPr>
            <a:r>
              <a:rPr sz="1600" b="0">
                <a:solidFill>
                  <a:srgbClr val="A39A90"/>
                </a:solidFill>
                <a:latin typeface="Calibri"/>
              </a:rPr>
              <a:t>réalisme</a:t>
            </a:r>
          </a:p>
        </p:txBody>
      </p:sp>
      <p:sp>
        <p:nvSpPr>
          <p:cNvPr id="13" name="Rounded Rectangle 12"/>
          <p:cNvSpPr/>
          <p:nvPr/>
        </p:nvSpPr>
        <p:spPr>
          <a:xfrm>
            <a:off x="7589520" y="2395728"/>
            <a:ext cx="1828800"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Rappel</a:t>
            </a:r>
          </a:p>
        </p:txBody>
      </p:sp>
      <p:sp>
        <p:nvSpPr>
          <p:cNvPr id="14" name="TextBox 13"/>
          <p:cNvSpPr txBox="1"/>
          <p:nvPr/>
        </p:nvSpPr>
        <p:spPr>
          <a:xfrm>
            <a:off x="9555480" y="2487168"/>
            <a:ext cx="2103120" cy="411480"/>
          </a:xfrm>
          <a:prstGeom prst="rect">
            <a:avLst/>
          </a:prstGeom>
          <a:noFill/>
        </p:spPr>
        <p:txBody>
          <a:bodyPr wrap="square" lIns="0" rIns="0" tIns="0" bIns="0" anchor="ctr">
            <a:spAutoFit/>
          </a:bodyPr>
          <a:lstStyle/>
          <a:p>
            <a:pPr algn="l">
              <a:spcAft>
                <a:spcPts val="400"/>
              </a:spcAft>
            </a:pPr>
            <a:r>
              <a:rPr sz="1600" b="0">
                <a:solidFill>
                  <a:srgbClr val="A39A90"/>
                </a:solidFill>
                <a:latin typeface="Calibri"/>
              </a:rPr>
              <a:t>variété</a:t>
            </a:r>
          </a:p>
        </p:txBody>
      </p:sp>
      <p:sp>
        <p:nvSpPr>
          <p:cNvPr id="15" name="Rounded Rectangle 14"/>
          <p:cNvSpPr/>
          <p:nvPr/>
        </p:nvSpPr>
        <p:spPr>
          <a:xfrm>
            <a:off x="7589520" y="3145536"/>
            <a:ext cx="1828800"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FID · KID</a:t>
            </a:r>
          </a:p>
        </p:txBody>
      </p:sp>
      <p:sp>
        <p:nvSpPr>
          <p:cNvPr id="16" name="TextBox 15"/>
          <p:cNvSpPr txBox="1"/>
          <p:nvPr/>
        </p:nvSpPr>
        <p:spPr>
          <a:xfrm>
            <a:off x="9555480" y="3236976"/>
            <a:ext cx="2103120" cy="411480"/>
          </a:xfrm>
          <a:prstGeom prst="rect">
            <a:avLst/>
          </a:prstGeom>
          <a:noFill/>
        </p:spPr>
        <p:txBody>
          <a:bodyPr wrap="square" lIns="0" rIns="0" tIns="0" bIns="0" anchor="ctr">
            <a:spAutoFit/>
          </a:bodyPr>
          <a:lstStyle/>
          <a:p>
            <a:pPr algn="l">
              <a:spcAft>
                <a:spcPts val="400"/>
              </a:spcAft>
            </a:pPr>
            <a:r>
              <a:rPr sz="1600" b="0">
                <a:solidFill>
                  <a:srgbClr val="A39A90"/>
                </a:solidFill>
                <a:latin typeface="Calibri"/>
              </a:rPr>
              <a:t>distance</a:t>
            </a:r>
          </a:p>
        </p:txBody>
      </p:sp>
      <p:sp>
        <p:nvSpPr>
          <p:cNvPr id="17" name="Rounded Rectangle 16"/>
          <p:cNvSpPr/>
          <p:nvPr/>
        </p:nvSpPr>
        <p:spPr>
          <a:xfrm>
            <a:off x="7589520" y="3895344"/>
            <a:ext cx="1828800"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Œil</a:t>
            </a:r>
          </a:p>
        </p:txBody>
      </p:sp>
      <p:sp>
        <p:nvSpPr>
          <p:cNvPr id="18" name="TextBox 17"/>
          <p:cNvSpPr txBox="1"/>
          <p:nvPr/>
        </p:nvSpPr>
        <p:spPr>
          <a:xfrm>
            <a:off x="9555480" y="3986784"/>
            <a:ext cx="2103120" cy="411480"/>
          </a:xfrm>
          <a:prstGeom prst="rect">
            <a:avLst/>
          </a:prstGeom>
          <a:noFill/>
        </p:spPr>
        <p:txBody>
          <a:bodyPr wrap="square" lIns="0" rIns="0" tIns="0" bIns="0" anchor="ctr">
            <a:spAutoFit/>
          </a:bodyPr>
          <a:lstStyle/>
          <a:p>
            <a:pPr algn="l">
              <a:spcAft>
                <a:spcPts val="400"/>
              </a:spcAft>
            </a:pPr>
            <a:r>
              <a:rPr sz="1600" b="0">
                <a:solidFill>
                  <a:srgbClr val="A39A90"/>
                </a:solidFill>
                <a:latin typeface="Calibri"/>
              </a:rPr>
              <a:t>artefacts</a:t>
            </a:r>
          </a:p>
        </p:txBody>
      </p:sp>
      <p:sp>
        <p:nvSpPr>
          <p:cNvPr id="19" name="Rounded Rectangle 18"/>
          <p:cNvSpPr/>
          <p:nvPr/>
        </p:nvSpPr>
        <p:spPr>
          <a:xfrm>
            <a:off x="7589520" y="4645152"/>
            <a:ext cx="1828800"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Voisins</a:t>
            </a:r>
          </a:p>
        </p:txBody>
      </p:sp>
      <p:sp>
        <p:nvSpPr>
          <p:cNvPr id="20" name="TextBox 19"/>
          <p:cNvSpPr txBox="1"/>
          <p:nvPr/>
        </p:nvSpPr>
        <p:spPr>
          <a:xfrm>
            <a:off x="9555480" y="4736592"/>
            <a:ext cx="2103120" cy="411480"/>
          </a:xfrm>
          <a:prstGeom prst="rect">
            <a:avLst/>
          </a:prstGeom>
          <a:noFill/>
        </p:spPr>
        <p:txBody>
          <a:bodyPr wrap="square" lIns="0" rIns="0" tIns="0" bIns="0" anchor="ctr">
            <a:spAutoFit/>
          </a:bodyPr>
          <a:lstStyle/>
          <a:p>
            <a:pPr algn="l">
              <a:spcAft>
                <a:spcPts val="400"/>
              </a:spcAft>
            </a:pPr>
            <a:r>
              <a:rPr sz="1600" b="0">
                <a:solidFill>
                  <a:srgbClr val="A39A90"/>
                </a:solidFill>
                <a:latin typeface="Calibri"/>
              </a:rPr>
              <a:t>mémorisation</a:t>
            </a:r>
          </a:p>
        </p:txBody>
      </p:sp>
      <p:sp>
        <p:nvSpPr>
          <p:cNvPr id="21" name="Rounded Rectangle 20"/>
          <p:cNvSpPr/>
          <p:nvPr/>
        </p:nvSpPr>
        <p:spPr>
          <a:xfrm>
            <a:off x="548640" y="5532120"/>
            <a:ext cx="11091672" cy="77724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5687568"/>
            <a:ext cx="1600200" cy="45720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DÉCOUVERTE</a:t>
            </a:r>
          </a:p>
        </p:txBody>
      </p:sp>
      <p:sp>
        <p:nvSpPr>
          <p:cNvPr id="23" name="TextBox 22"/>
          <p:cNvSpPr txBox="1"/>
          <p:nvPr/>
        </p:nvSpPr>
        <p:spPr>
          <a:xfrm>
            <a:off x="2560320" y="5532120"/>
            <a:ext cx="4206240" cy="777240"/>
          </a:xfrm>
          <a:prstGeom prst="rect">
            <a:avLst/>
          </a:prstGeom>
          <a:noFill/>
        </p:spPr>
        <p:txBody>
          <a:bodyPr wrap="square" lIns="0" rIns="0" tIns="0" bIns="0" anchor="ctr">
            <a:spAutoFit/>
          </a:bodyPr>
          <a:lstStyle/>
          <a:p>
            <a:pPr algn="l">
              <a:spcAft>
                <a:spcPts val="400"/>
              </a:spcAft>
            </a:pPr>
            <a:r>
              <a:rPr sz="1600" b="1">
                <a:solidFill>
                  <a:srgbClr val="A39A90"/>
                </a:solidFill>
                <a:latin typeface="Calibri"/>
              </a:rPr>
              <a:t>Intuition : </a:t>
            </a:r>
            <a:r>
              <a:rPr sz="1600" b="1">
                <a:solidFill>
                  <a:srgbClr val="A39A90"/>
                </a:solidFill>
                <a:latin typeface="Calibri"/>
              </a:rPr>
              <a:t>Il faut des millions d'images</a:t>
            </a:r>
          </a:p>
        </p:txBody>
      </p:sp>
      <p:sp>
        <p:nvSpPr>
          <p:cNvPr id="24" name="TextBox 23"/>
          <p:cNvSpPr txBox="1"/>
          <p:nvPr/>
        </p:nvSpPr>
        <p:spPr>
          <a:xfrm>
            <a:off x="6858000" y="5532120"/>
            <a:ext cx="4663440" cy="777240"/>
          </a:xfrm>
          <a:prstGeom prst="rect">
            <a:avLst/>
          </a:prstGeom>
          <a:noFill/>
        </p:spPr>
        <p:txBody>
          <a:bodyPr wrap="square" lIns="0" rIns="0" tIns="0" bIns="0" anchor="ctr">
            <a:spAutoFit/>
          </a:bodyPr>
          <a:lstStyle/>
          <a:p>
            <a:pPr algn="l">
              <a:spcAft>
                <a:spcPts val="400"/>
              </a:spcAft>
            </a:pPr>
            <a:r>
              <a:rPr sz="1700" b="1">
                <a:solidFill>
                  <a:srgbClr val="D4A84B"/>
                </a:solidFill>
                <a:latin typeface="Calibri"/>
              </a:rPr>
              <a:t>→ </a:t>
            </a:r>
            <a:r>
              <a:rPr sz="1700" b="1">
                <a:solidFill>
                  <a:srgbClr val="F2EDE6"/>
                </a:solidFill>
                <a:latin typeface="Calibri"/>
              </a:rPr>
              <a:t>Ça dépend : nous en avons visé ~8 000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VEILLE TECHNOLOGIQUE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Variantes, et CNN contre GAN</a:t>
            </a:r>
          </a:p>
        </p:txBody>
      </p:sp>
      <p:cxnSp>
        <p:nvCxnSpPr>
          <p:cNvPr id="4" name="Connector 3"/>
          <p:cNvCxnSpPr/>
          <p:nvPr/>
        </p:nvCxnSpPr>
        <p:spPr>
          <a:xfrm>
            <a:off x="548640" y="3291840"/>
            <a:ext cx="11094415" cy="0"/>
          </a:xfrm>
          <a:prstGeom prst="line">
            <a:avLst/>
          </a:prstGeom>
          <a:ln w="38100">
            <a:solidFill>
              <a:srgbClr val="6E665E"/>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75201" y="3108960"/>
            <a:ext cx="365760" cy="36576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514600"/>
            <a:ext cx="2218883" cy="457200"/>
          </a:xfrm>
          <a:prstGeom prst="rect">
            <a:avLst/>
          </a:prstGeom>
          <a:noFill/>
        </p:spPr>
        <p:txBody>
          <a:bodyPr wrap="square" lIns="0" rIns="0" tIns="0" bIns="0" anchor="ctr">
            <a:spAutoFit/>
          </a:bodyPr>
          <a:lstStyle/>
          <a:p>
            <a:pPr algn="ctr">
              <a:spcAft>
                <a:spcPts val="400"/>
              </a:spcAft>
            </a:pPr>
            <a:r>
              <a:rPr sz="2400" b="1">
                <a:solidFill>
                  <a:srgbClr val="D4A84B"/>
                </a:solidFill>
                <a:latin typeface="Calibri"/>
              </a:rPr>
              <a:t>2014</a:t>
            </a:r>
          </a:p>
        </p:txBody>
      </p:sp>
      <p:sp>
        <p:nvSpPr>
          <p:cNvPr id="7" name="TextBox 6"/>
          <p:cNvSpPr txBox="1"/>
          <p:nvPr/>
        </p:nvSpPr>
        <p:spPr>
          <a:xfrm>
            <a:off x="548640" y="3657600"/>
            <a:ext cx="2218883" cy="457200"/>
          </a:xfrm>
          <a:prstGeom prst="rect">
            <a:avLst/>
          </a:prstGeom>
          <a:noFill/>
        </p:spPr>
        <p:txBody>
          <a:bodyPr wrap="square" lIns="0" rIns="0" tIns="0" bIns="0" anchor="ctr">
            <a:spAutoFit/>
          </a:bodyPr>
          <a:lstStyle/>
          <a:p>
            <a:pPr algn="ctr">
              <a:spcAft>
                <a:spcPts val="400"/>
              </a:spcAft>
            </a:pPr>
            <a:r>
              <a:rPr sz="1700" b="1">
                <a:solidFill>
                  <a:srgbClr val="F2EDE6"/>
                </a:solidFill>
                <a:latin typeface="Calibri"/>
              </a:rPr>
              <a:t>GAN · cGAN</a:t>
            </a:r>
          </a:p>
        </p:txBody>
      </p:sp>
      <p:sp>
        <p:nvSpPr>
          <p:cNvPr id="8" name="TextBox 7"/>
          <p:cNvSpPr txBox="1"/>
          <p:nvPr/>
        </p:nvSpPr>
        <p:spPr>
          <a:xfrm>
            <a:off x="548640" y="4114800"/>
            <a:ext cx="2218883" cy="411480"/>
          </a:xfrm>
          <a:prstGeom prst="rect">
            <a:avLst/>
          </a:prstGeom>
          <a:noFill/>
        </p:spPr>
        <p:txBody>
          <a:bodyPr wrap="square" lIns="0" rIns="0" tIns="0" bIns="0" anchor="ctr">
            <a:spAutoFit/>
          </a:bodyPr>
          <a:lstStyle/>
          <a:p>
            <a:pPr algn="ctr">
              <a:spcAft>
                <a:spcPts val="400"/>
              </a:spcAft>
            </a:pPr>
            <a:r>
              <a:rPr sz="1500" b="0">
                <a:solidFill>
                  <a:srgbClr val="A39A90"/>
                </a:solidFill>
                <a:latin typeface="Calibri"/>
              </a:rPr>
              <a:t>par classe</a:t>
            </a:r>
          </a:p>
        </p:txBody>
      </p:sp>
      <p:sp>
        <p:nvSpPr>
          <p:cNvPr id="9" name="Oval 8"/>
          <p:cNvSpPr/>
          <p:nvPr/>
        </p:nvSpPr>
        <p:spPr>
          <a:xfrm>
            <a:off x="3694084" y="3108960"/>
            <a:ext cx="365760" cy="365760"/>
          </a:xfrm>
          <a:prstGeom prst="ellipse">
            <a:avLst/>
          </a:prstGeom>
          <a:solidFill>
            <a:srgbClr val="D4A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67523" y="2514600"/>
            <a:ext cx="2218883" cy="457200"/>
          </a:xfrm>
          <a:prstGeom prst="rect">
            <a:avLst/>
          </a:prstGeom>
          <a:noFill/>
        </p:spPr>
        <p:txBody>
          <a:bodyPr wrap="square" lIns="0" rIns="0" tIns="0" bIns="0" anchor="ctr">
            <a:spAutoFit/>
          </a:bodyPr>
          <a:lstStyle/>
          <a:p>
            <a:pPr algn="ctr">
              <a:spcAft>
                <a:spcPts val="400"/>
              </a:spcAft>
            </a:pPr>
            <a:r>
              <a:rPr sz="2400" b="1">
                <a:solidFill>
                  <a:srgbClr val="D4A84B"/>
                </a:solidFill>
                <a:latin typeface="Calibri"/>
              </a:rPr>
              <a:t>2015</a:t>
            </a:r>
          </a:p>
        </p:txBody>
      </p:sp>
      <p:sp>
        <p:nvSpPr>
          <p:cNvPr id="11" name="TextBox 10"/>
          <p:cNvSpPr txBox="1"/>
          <p:nvPr/>
        </p:nvSpPr>
        <p:spPr>
          <a:xfrm>
            <a:off x="2767523" y="3657600"/>
            <a:ext cx="2218883" cy="457200"/>
          </a:xfrm>
          <a:prstGeom prst="rect">
            <a:avLst/>
          </a:prstGeom>
          <a:noFill/>
        </p:spPr>
        <p:txBody>
          <a:bodyPr wrap="square" lIns="0" rIns="0" tIns="0" bIns="0" anchor="ctr">
            <a:spAutoFit/>
          </a:bodyPr>
          <a:lstStyle/>
          <a:p>
            <a:pPr algn="ctr">
              <a:spcAft>
                <a:spcPts val="400"/>
              </a:spcAft>
            </a:pPr>
            <a:r>
              <a:rPr sz="1700" b="1">
                <a:solidFill>
                  <a:srgbClr val="F2EDE6"/>
                </a:solidFill>
                <a:latin typeface="Calibri"/>
              </a:rPr>
              <a:t>DCGAN</a:t>
            </a:r>
          </a:p>
        </p:txBody>
      </p:sp>
      <p:sp>
        <p:nvSpPr>
          <p:cNvPr id="12" name="TextBox 11"/>
          <p:cNvSpPr txBox="1"/>
          <p:nvPr/>
        </p:nvSpPr>
        <p:spPr>
          <a:xfrm>
            <a:off x="2767523" y="4114800"/>
            <a:ext cx="2218883" cy="411480"/>
          </a:xfrm>
          <a:prstGeom prst="rect">
            <a:avLst/>
          </a:prstGeom>
          <a:noFill/>
        </p:spPr>
        <p:txBody>
          <a:bodyPr wrap="square" lIns="0" rIns="0" tIns="0" bIns="0" anchor="ctr">
            <a:spAutoFit/>
          </a:bodyPr>
          <a:lstStyle/>
          <a:p>
            <a:pPr algn="ctr">
              <a:spcAft>
                <a:spcPts val="400"/>
              </a:spcAft>
            </a:pPr>
            <a:r>
              <a:rPr sz="1500" b="0">
                <a:solidFill>
                  <a:srgbClr val="A39A90"/>
                </a:solidFill>
                <a:latin typeface="Calibri"/>
              </a:rPr>
              <a:t>images</a:t>
            </a:r>
          </a:p>
        </p:txBody>
      </p:sp>
      <p:sp>
        <p:nvSpPr>
          <p:cNvPr id="13" name="Oval 12"/>
          <p:cNvSpPr/>
          <p:nvPr/>
        </p:nvSpPr>
        <p:spPr>
          <a:xfrm>
            <a:off x="5912967" y="3108960"/>
            <a:ext cx="365760" cy="36576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86406" y="2514600"/>
            <a:ext cx="2218883" cy="457200"/>
          </a:xfrm>
          <a:prstGeom prst="rect">
            <a:avLst/>
          </a:prstGeom>
          <a:noFill/>
        </p:spPr>
        <p:txBody>
          <a:bodyPr wrap="square" lIns="0" rIns="0" tIns="0" bIns="0" anchor="ctr">
            <a:spAutoFit/>
          </a:bodyPr>
          <a:lstStyle/>
          <a:p>
            <a:pPr algn="ctr">
              <a:spcAft>
                <a:spcPts val="400"/>
              </a:spcAft>
            </a:pPr>
            <a:r>
              <a:rPr sz="2400" b="1">
                <a:solidFill>
                  <a:srgbClr val="D4A84B"/>
                </a:solidFill>
                <a:latin typeface="Calibri"/>
              </a:rPr>
              <a:t>2016</a:t>
            </a:r>
          </a:p>
        </p:txBody>
      </p:sp>
      <p:sp>
        <p:nvSpPr>
          <p:cNvPr id="15" name="TextBox 14"/>
          <p:cNvSpPr txBox="1"/>
          <p:nvPr/>
        </p:nvSpPr>
        <p:spPr>
          <a:xfrm>
            <a:off x="4986406" y="3657600"/>
            <a:ext cx="2218883" cy="457200"/>
          </a:xfrm>
          <a:prstGeom prst="rect">
            <a:avLst/>
          </a:prstGeom>
          <a:noFill/>
        </p:spPr>
        <p:txBody>
          <a:bodyPr wrap="square" lIns="0" rIns="0" tIns="0" bIns="0" anchor="ctr">
            <a:spAutoFit/>
          </a:bodyPr>
          <a:lstStyle/>
          <a:p>
            <a:pPr algn="ctr">
              <a:spcAft>
                <a:spcPts val="400"/>
              </a:spcAft>
            </a:pPr>
            <a:r>
              <a:rPr sz="1700" b="1">
                <a:solidFill>
                  <a:srgbClr val="F2EDE6"/>
                </a:solidFill>
                <a:latin typeface="Calibri"/>
              </a:rPr>
              <a:t>Pix2Pix · SRGAN</a:t>
            </a:r>
          </a:p>
        </p:txBody>
      </p:sp>
      <p:sp>
        <p:nvSpPr>
          <p:cNvPr id="16" name="TextBox 15"/>
          <p:cNvSpPr txBox="1"/>
          <p:nvPr/>
        </p:nvSpPr>
        <p:spPr>
          <a:xfrm>
            <a:off x="4986406" y="4114800"/>
            <a:ext cx="2218883" cy="411480"/>
          </a:xfrm>
          <a:prstGeom prst="rect">
            <a:avLst/>
          </a:prstGeom>
          <a:noFill/>
        </p:spPr>
        <p:txBody>
          <a:bodyPr wrap="square" lIns="0" rIns="0" tIns="0" bIns="0" anchor="ctr">
            <a:spAutoFit/>
          </a:bodyPr>
          <a:lstStyle/>
          <a:p>
            <a:pPr algn="ctr">
              <a:spcAft>
                <a:spcPts val="400"/>
              </a:spcAft>
            </a:pPr>
            <a:r>
              <a:rPr sz="1500" b="0">
                <a:solidFill>
                  <a:srgbClr val="A39A90"/>
                </a:solidFill>
                <a:latin typeface="Calibri"/>
              </a:rPr>
              <a:t>croquis → photo</a:t>
            </a:r>
          </a:p>
        </p:txBody>
      </p:sp>
      <p:sp>
        <p:nvSpPr>
          <p:cNvPr id="17" name="Oval 16"/>
          <p:cNvSpPr/>
          <p:nvPr/>
        </p:nvSpPr>
        <p:spPr>
          <a:xfrm>
            <a:off x="8131850" y="3108960"/>
            <a:ext cx="365760" cy="36576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5289" y="2514600"/>
            <a:ext cx="2218883" cy="457200"/>
          </a:xfrm>
          <a:prstGeom prst="rect">
            <a:avLst/>
          </a:prstGeom>
          <a:noFill/>
        </p:spPr>
        <p:txBody>
          <a:bodyPr wrap="square" lIns="0" rIns="0" tIns="0" bIns="0" anchor="ctr">
            <a:spAutoFit/>
          </a:bodyPr>
          <a:lstStyle/>
          <a:p>
            <a:pPr algn="ctr">
              <a:spcAft>
                <a:spcPts val="400"/>
              </a:spcAft>
            </a:pPr>
            <a:r>
              <a:rPr sz="2400" b="1">
                <a:solidFill>
                  <a:srgbClr val="D4A84B"/>
                </a:solidFill>
                <a:latin typeface="Calibri"/>
              </a:rPr>
              <a:t>2017</a:t>
            </a:r>
          </a:p>
        </p:txBody>
      </p:sp>
      <p:sp>
        <p:nvSpPr>
          <p:cNvPr id="19" name="TextBox 18"/>
          <p:cNvSpPr txBox="1"/>
          <p:nvPr/>
        </p:nvSpPr>
        <p:spPr>
          <a:xfrm>
            <a:off x="7205289" y="3657600"/>
            <a:ext cx="2218883" cy="457200"/>
          </a:xfrm>
          <a:prstGeom prst="rect">
            <a:avLst/>
          </a:prstGeom>
          <a:noFill/>
        </p:spPr>
        <p:txBody>
          <a:bodyPr wrap="square" lIns="0" rIns="0" tIns="0" bIns="0" anchor="ctr">
            <a:spAutoFit/>
          </a:bodyPr>
          <a:lstStyle/>
          <a:p>
            <a:pPr algn="ctr">
              <a:spcAft>
                <a:spcPts val="400"/>
              </a:spcAft>
            </a:pPr>
            <a:r>
              <a:rPr sz="1700" b="1">
                <a:solidFill>
                  <a:srgbClr val="F2EDE6"/>
                </a:solidFill>
                <a:latin typeface="Calibri"/>
              </a:rPr>
              <a:t>CycleGAN · WGAN-GP</a:t>
            </a:r>
          </a:p>
        </p:txBody>
      </p:sp>
      <p:sp>
        <p:nvSpPr>
          <p:cNvPr id="20" name="TextBox 19"/>
          <p:cNvSpPr txBox="1"/>
          <p:nvPr/>
        </p:nvSpPr>
        <p:spPr>
          <a:xfrm>
            <a:off x="7205289" y="4114800"/>
            <a:ext cx="2218883" cy="411480"/>
          </a:xfrm>
          <a:prstGeom prst="rect">
            <a:avLst/>
          </a:prstGeom>
          <a:noFill/>
        </p:spPr>
        <p:txBody>
          <a:bodyPr wrap="square" lIns="0" rIns="0" tIns="0" bIns="0" anchor="ctr">
            <a:spAutoFit/>
          </a:bodyPr>
          <a:lstStyle/>
          <a:p>
            <a:pPr algn="ctr">
              <a:spcAft>
                <a:spcPts val="400"/>
              </a:spcAft>
            </a:pPr>
            <a:r>
              <a:rPr sz="1500" b="0">
                <a:solidFill>
                  <a:srgbClr val="A39A90"/>
                </a:solidFill>
                <a:latin typeface="Calibri"/>
              </a:rPr>
              <a:t>photo → Monet</a:t>
            </a:r>
          </a:p>
        </p:txBody>
      </p:sp>
      <p:sp>
        <p:nvSpPr>
          <p:cNvPr id="21" name="Oval 20"/>
          <p:cNvSpPr/>
          <p:nvPr/>
        </p:nvSpPr>
        <p:spPr>
          <a:xfrm>
            <a:off x="10350733" y="3108960"/>
            <a:ext cx="365760" cy="36576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24172" y="2514600"/>
            <a:ext cx="2218883" cy="457200"/>
          </a:xfrm>
          <a:prstGeom prst="rect">
            <a:avLst/>
          </a:prstGeom>
          <a:noFill/>
        </p:spPr>
        <p:txBody>
          <a:bodyPr wrap="square" lIns="0" rIns="0" tIns="0" bIns="0" anchor="ctr">
            <a:spAutoFit/>
          </a:bodyPr>
          <a:lstStyle/>
          <a:p>
            <a:pPr algn="ctr">
              <a:spcAft>
                <a:spcPts val="400"/>
              </a:spcAft>
            </a:pPr>
            <a:r>
              <a:rPr sz="2400" b="1">
                <a:solidFill>
                  <a:srgbClr val="D4A84B"/>
                </a:solidFill>
                <a:latin typeface="Calibri"/>
              </a:rPr>
              <a:t>2018</a:t>
            </a:r>
          </a:p>
        </p:txBody>
      </p:sp>
      <p:sp>
        <p:nvSpPr>
          <p:cNvPr id="23" name="TextBox 22"/>
          <p:cNvSpPr txBox="1"/>
          <p:nvPr/>
        </p:nvSpPr>
        <p:spPr>
          <a:xfrm>
            <a:off x="9424172" y="3657600"/>
            <a:ext cx="2218883" cy="457200"/>
          </a:xfrm>
          <a:prstGeom prst="rect">
            <a:avLst/>
          </a:prstGeom>
          <a:noFill/>
        </p:spPr>
        <p:txBody>
          <a:bodyPr wrap="square" lIns="0" rIns="0" tIns="0" bIns="0" anchor="ctr">
            <a:spAutoFit/>
          </a:bodyPr>
          <a:lstStyle/>
          <a:p>
            <a:pPr algn="ctr">
              <a:spcAft>
                <a:spcPts val="400"/>
              </a:spcAft>
            </a:pPr>
            <a:r>
              <a:rPr sz="1700" b="1">
                <a:solidFill>
                  <a:srgbClr val="F2EDE6"/>
                </a:solidFill>
                <a:latin typeface="Calibri"/>
              </a:rPr>
              <a:t>StyleGAN</a:t>
            </a:r>
          </a:p>
        </p:txBody>
      </p:sp>
      <p:sp>
        <p:nvSpPr>
          <p:cNvPr id="24" name="TextBox 23"/>
          <p:cNvSpPr txBox="1"/>
          <p:nvPr/>
        </p:nvSpPr>
        <p:spPr>
          <a:xfrm>
            <a:off x="9424172" y="4114800"/>
            <a:ext cx="2218883" cy="411480"/>
          </a:xfrm>
          <a:prstGeom prst="rect">
            <a:avLst/>
          </a:prstGeom>
          <a:noFill/>
        </p:spPr>
        <p:txBody>
          <a:bodyPr wrap="square" lIns="0" rIns="0" tIns="0" bIns="0" anchor="ctr">
            <a:spAutoFit/>
          </a:bodyPr>
          <a:lstStyle/>
          <a:p>
            <a:pPr algn="ctr">
              <a:spcAft>
                <a:spcPts val="400"/>
              </a:spcAft>
            </a:pPr>
            <a:r>
              <a:rPr sz="1500" b="0">
                <a:solidFill>
                  <a:srgbClr val="A39A90"/>
                </a:solidFill>
                <a:latin typeface="Calibri"/>
              </a:rPr>
              <a:t>visages</a:t>
            </a:r>
          </a:p>
        </p:txBody>
      </p:sp>
      <p:sp>
        <p:nvSpPr>
          <p:cNvPr id="25" name="Rounded Rectangle 24"/>
          <p:cNvSpPr/>
          <p:nvPr/>
        </p:nvSpPr>
        <p:spPr>
          <a:xfrm>
            <a:off x="548640" y="1691640"/>
            <a:ext cx="31089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 nettes · rapides</a:t>
            </a:r>
          </a:p>
        </p:txBody>
      </p:sp>
      <p:sp>
        <p:nvSpPr>
          <p:cNvPr id="26" name="Rounded Rectangle 25"/>
          <p:cNvSpPr/>
          <p:nvPr/>
        </p:nvSpPr>
        <p:spPr>
          <a:xfrm>
            <a:off x="3840480" y="1691640"/>
            <a:ext cx="310896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 instables · collapse</a:t>
            </a:r>
          </a:p>
        </p:txBody>
      </p:sp>
      <p:sp>
        <p:nvSpPr>
          <p:cNvPr id="27" name="Rounded Rectangle 26"/>
          <p:cNvSpPr/>
          <p:nvPr/>
        </p:nvSpPr>
        <p:spPr>
          <a:xfrm>
            <a:off x="548640" y="4846320"/>
            <a:ext cx="69494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D4A84B"/>
                </a:solidFill>
                <a:latin typeface="Calibri"/>
              </a:rPr>
              <a:t>CNN = architecture · GAN = méthode · DCGAN = les deux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VEILLE TECHNOLOGIQUE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ChatGPT, risques et intérêt</a:t>
            </a:r>
          </a:p>
        </p:txBody>
      </p:sp>
      <p:sp>
        <p:nvSpPr>
          <p:cNvPr id="4" name="TextBox 3"/>
          <p:cNvSpPr txBox="1"/>
          <p:nvPr/>
        </p:nvSpPr>
        <p:spPr>
          <a:xfrm>
            <a:off x="548640" y="1645920"/>
            <a:ext cx="5486400" cy="411480"/>
          </a:xfrm>
          <a:prstGeom prst="rect">
            <a:avLst/>
          </a:prstGeom>
          <a:noFill/>
        </p:spPr>
        <p:txBody>
          <a:bodyPr wrap="square" lIns="0" rIns="0" tIns="0" bIns="0" anchor="ctr">
            <a:spAutoFit/>
          </a:bodyPr>
          <a:lstStyle/>
          <a:p>
            <a:pPr algn="l">
              <a:spcAft>
                <a:spcPts val="400"/>
              </a:spcAft>
            </a:pPr>
            <a:r>
              <a:rPr sz="2200" b="1">
                <a:solidFill>
                  <a:srgbClr val="D4A84B"/>
                </a:solidFill>
                <a:latin typeface="Calibri"/>
              </a:rPr>
              <a:t>Dangers</a:t>
            </a:r>
          </a:p>
        </p:txBody>
      </p:sp>
      <p:sp>
        <p:nvSpPr>
          <p:cNvPr id="5" name="Rounded Rectangle 4"/>
          <p:cNvSpPr/>
          <p:nvPr/>
        </p:nvSpPr>
        <p:spPr>
          <a:xfrm>
            <a:off x="548640" y="2286000"/>
            <a:ext cx="2560320" cy="64008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800" b="1">
                <a:solidFill>
                  <a:srgbClr val="F2EDE6"/>
                </a:solidFill>
                <a:latin typeface="Calibri"/>
              </a:rPr>
              <a:t>Deepfakes</a:t>
            </a:r>
          </a:p>
        </p:txBody>
      </p:sp>
      <p:sp>
        <p:nvSpPr>
          <p:cNvPr id="6" name="Rounded Rectangle 5"/>
          <p:cNvSpPr/>
          <p:nvPr/>
        </p:nvSpPr>
        <p:spPr>
          <a:xfrm>
            <a:off x="3291840" y="2286000"/>
            <a:ext cx="2560320" cy="64008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800" b="1">
                <a:solidFill>
                  <a:srgbClr val="F2EDE6"/>
                </a:solidFill>
                <a:latin typeface="Calibri"/>
              </a:rPr>
              <a:t>Désinformation</a:t>
            </a:r>
          </a:p>
        </p:txBody>
      </p:sp>
      <p:sp>
        <p:nvSpPr>
          <p:cNvPr id="7" name="Rounded Rectangle 6"/>
          <p:cNvSpPr/>
          <p:nvPr/>
        </p:nvSpPr>
        <p:spPr>
          <a:xfrm>
            <a:off x="548640" y="3154680"/>
            <a:ext cx="2560320" cy="64008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800" b="1">
                <a:solidFill>
                  <a:srgbClr val="F2EDE6"/>
                </a:solidFill>
                <a:latin typeface="Calibri"/>
              </a:rPr>
              <a:t>Biais</a:t>
            </a:r>
          </a:p>
        </p:txBody>
      </p:sp>
      <p:sp>
        <p:nvSpPr>
          <p:cNvPr id="8" name="Rounded Rectangle 7"/>
          <p:cNvSpPr/>
          <p:nvPr/>
        </p:nvSpPr>
        <p:spPr>
          <a:xfrm>
            <a:off x="3291840" y="3154680"/>
            <a:ext cx="2560320" cy="64008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800" b="1">
                <a:solidFill>
                  <a:srgbClr val="F2EDE6"/>
                </a:solidFill>
                <a:latin typeface="Calibri"/>
              </a:rPr>
              <a:t>Droits d'auteur</a:t>
            </a:r>
          </a:p>
        </p:txBody>
      </p:sp>
      <p:sp>
        <p:nvSpPr>
          <p:cNvPr id="9" name="Rounded Rectangle 8"/>
          <p:cNvSpPr/>
          <p:nvPr/>
        </p:nvSpPr>
        <p:spPr>
          <a:xfrm>
            <a:off x="548640" y="4023360"/>
            <a:ext cx="2560320" cy="64008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800" b="1">
                <a:solidFill>
                  <a:srgbClr val="F2EDE6"/>
                </a:solidFill>
                <a:latin typeface="Calibri"/>
              </a:rPr>
              <a:t>Vie privée</a:t>
            </a:r>
          </a:p>
        </p:txBody>
      </p:sp>
      <p:sp>
        <p:nvSpPr>
          <p:cNvPr id="10" name="Rounded Rectangle 9"/>
          <p:cNvSpPr/>
          <p:nvPr/>
        </p:nvSpPr>
        <p:spPr>
          <a:xfrm>
            <a:off x="6400800" y="1645920"/>
            <a:ext cx="5239512" cy="36576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783080"/>
            <a:ext cx="4572000" cy="411480"/>
          </a:xfrm>
          <a:prstGeom prst="rect">
            <a:avLst/>
          </a:prstGeom>
          <a:noFill/>
        </p:spPr>
        <p:txBody>
          <a:bodyPr wrap="square" lIns="0" rIns="0" tIns="0" bIns="0" anchor="ctr">
            <a:spAutoFit/>
          </a:bodyPr>
          <a:lstStyle/>
          <a:p>
            <a:pPr algn="l">
              <a:spcAft>
                <a:spcPts val="400"/>
              </a:spcAft>
            </a:pPr>
            <a:r>
              <a:rPr sz="2200" b="1">
                <a:solidFill>
                  <a:srgbClr val="D4A84B"/>
                </a:solidFill>
                <a:latin typeface="Calibri"/>
              </a:rPr>
              <a:t>Pourquoi générer ?</a:t>
            </a:r>
          </a:p>
        </p:txBody>
      </p:sp>
      <p:sp>
        <p:nvSpPr>
          <p:cNvPr id="12" name="Rounded Rectangle 11"/>
          <p:cNvSpPr/>
          <p:nvPr/>
        </p:nvSpPr>
        <p:spPr>
          <a:xfrm>
            <a:off x="6675120" y="2514600"/>
            <a:ext cx="4663440"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800" b="1">
                <a:solidFill>
                  <a:srgbClr val="F2EDE6"/>
                </a:solidFill>
                <a:latin typeface="Calibri"/>
              </a:rPr>
              <a:t>Données rares</a:t>
            </a:r>
          </a:p>
        </p:txBody>
      </p:sp>
      <p:sp>
        <p:nvSpPr>
          <p:cNvPr id="13" name="Rounded Rectangle 12"/>
          <p:cNvSpPr/>
          <p:nvPr/>
        </p:nvSpPr>
        <p:spPr>
          <a:xfrm>
            <a:off x="6675120" y="3291840"/>
            <a:ext cx="4663440"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800" b="1">
                <a:solidFill>
                  <a:srgbClr val="F2EDE6"/>
                </a:solidFill>
                <a:latin typeface="Calibri"/>
              </a:rPr>
              <a:t>Anonymisation</a:t>
            </a:r>
          </a:p>
        </p:txBody>
      </p:sp>
      <p:sp>
        <p:nvSpPr>
          <p:cNvPr id="14" name="Rounded Rectangle 13"/>
          <p:cNvSpPr/>
          <p:nvPr/>
        </p:nvSpPr>
        <p:spPr>
          <a:xfrm>
            <a:off x="6675120" y="4069080"/>
            <a:ext cx="4663440"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800" b="1">
                <a:solidFill>
                  <a:srgbClr val="F2EDE6"/>
                </a:solidFill>
                <a:latin typeface="Calibri"/>
              </a:rPr>
              <a:t>Création artistique</a:t>
            </a:r>
          </a:p>
        </p:txBody>
      </p:sp>
      <p:sp>
        <p:nvSpPr>
          <p:cNvPr id="15" name="TextBox 14"/>
          <p:cNvSpPr txBox="1"/>
          <p:nvPr/>
        </p:nvSpPr>
        <p:spPr>
          <a:xfrm>
            <a:off x="6675120" y="4800600"/>
            <a:ext cx="4663440" cy="411480"/>
          </a:xfrm>
          <a:prstGeom prst="rect">
            <a:avLst/>
          </a:prstGeom>
          <a:noFill/>
        </p:spPr>
        <p:txBody>
          <a:bodyPr wrap="square" lIns="0" rIns="0" tIns="0" bIns="0" anchor="ctr">
            <a:spAutoFit/>
          </a:bodyPr>
          <a:lstStyle/>
          <a:p>
            <a:pPr algn="ctr">
              <a:spcAft>
                <a:spcPts val="400"/>
              </a:spcAft>
            </a:pPr>
            <a:r>
              <a:rPr sz="1600" b="0">
                <a:solidFill>
                  <a:srgbClr val="D4A84B"/>
                </a:solidFill>
                <a:latin typeface="Calibri"/>
              </a:rPr>
              <a:t>si le synthétique est signalé</a:t>
            </a:r>
          </a:p>
        </p:txBody>
      </p:sp>
      <p:sp>
        <p:nvSpPr>
          <p:cNvPr id="16" name="Rounded Rectangle 15"/>
          <p:cNvSpPr/>
          <p:nvPr/>
        </p:nvSpPr>
        <p:spPr>
          <a:xfrm>
            <a:off x="548640" y="4937760"/>
            <a:ext cx="5303520" cy="59436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ChatGPT = GPT, un transformer d'OpenAI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ANALYSE DE DONNÉES (EDA)</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Les chiffres clés</a:t>
            </a:r>
          </a:p>
        </p:txBody>
      </p:sp>
      <p:sp>
        <p:nvSpPr>
          <p:cNvPr id="4" name="Rounded Rectangle 3"/>
          <p:cNvSpPr/>
          <p:nvPr/>
        </p:nvSpPr>
        <p:spPr>
          <a:xfrm>
            <a:off x="548640" y="1691640"/>
            <a:ext cx="2560320" cy="16002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874520"/>
            <a:ext cx="2560320" cy="868680"/>
          </a:xfrm>
          <a:prstGeom prst="rect">
            <a:avLst/>
          </a:prstGeom>
          <a:noFill/>
        </p:spPr>
        <p:txBody>
          <a:bodyPr wrap="square" lIns="0" rIns="0" tIns="0" bIns="0" anchor="t">
            <a:spAutoFit/>
          </a:bodyPr>
          <a:lstStyle/>
          <a:p>
            <a:pPr algn="ctr">
              <a:spcAft>
                <a:spcPts val="400"/>
              </a:spcAft>
            </a:pPr>
            <a:r>
              <a:rPr sz="4000" b="1">
                <a:solidFill>
                  <a:srgbClr val="D4A84B"/>
                </a:solidFill>
                <a:latin typeface="Cambria"/>
              </a:rPr>
              <a:t>52 867</a:t>
            </a:r>
          </a:p>
        </p:txBody>
      </p:sp>
      <p:sp>
        <p:nvSpPr>
          <p:cNvPr id="6" name="TextBox 5"/>
          <p:cNvSpPr txBox="1"/>
          <p:nvPr/>
        </p:nvSpPr>
        <p:spPr>
          <a:xfrm>
            <a:off x="548640" y="2788920"/>
            <a:ext cx="256032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œuvres</a:t>
            </a:r>
          </a:p>
        </p:txBody>
      </p:sp>
      <p:sp>
        <p:nvSpPr>
          <p:cNvPr id="7" name="Rounded Rectangle 6"/>
          <p:cNvSpPr/>
          <p:nvPr/>
        </p:nvSpPr>
        <p:spPr>
          <a:xfrm>
            <a:off x="3246120" y="1691640"/>
            <a:ext cx="2560320" cy="16002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46120" y="1874520"/>
            <a:ext cx="2560320" cy="868680"/>
          </a:xfrm>
          <a:prstGeom prst="rect">
            <a:avLst/>
          </a:prstGeom>
          <a:noFill/>
        </p:spPr>
        <p:txBody>
          <a:bodyPr wrap="square" lIns="0" rIns="0" tIns="0" bIns="0" anchor="t">
            <a:spAutoFit/>
          </a:bodyPr>
          <a:lstStyle/>
          <a:p>
            <a:pPr algn="ctr">
              <a:spcAft>
                <a:spcPts val="400"/>
              </a:spcAft>
            </a:pPr>
            <a:r>
              <a:rPr sz="4000" b="1">
                <a:solidFill>
                  <a:srgbClr val="D4A84B"/>
                </a:solidFill>
                <a:latin typeface="Cambria"/>
              </a:rPr>
              <a:t>32 438</a:t>
            </a:r>
          </a:p>
        </p:txBody>
      </p:sp>
      <p:sp>
        <p:nvSpPr>
          <p:cNvPr id="9" name="TextBox 8"/>
          <p:cNvSpPr txBox="1"/>
          <p:nvPr/>
        </p:nvSpPr>
        <p:spPr>
          <a:xfrm>
            <a:off x="3246120" y="2788920"/>
            <a:ext cx="256032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peintures</a:t>
            </a:r>
          </a:p>
        </p:txBody>
      </p:sp>
      <p:sp>
        <p:nvSpPr>
          <p:cNvPr id="10" name="Rounded Rectangle 9"/>
          <p:cNvSpPr/>
          <p:nvPr/>
        </p:nvSpPr>
        <p:spPr>
          <a:xfrm>
            <a:off x="548640" y="3474720"/>
            <a:ext cx="2560320" cy="16002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657600"/>
            <a:ext cx="2560320" cy="868680"/>
          </a:xfrm>
          <a:prstGeom prst="rect">
            <a:avLst/>
          </a:prstGeom>
          <a:noFill/>
        </p:spPr>
        <p:txBody>
          <a:bodyPr wrap="square" lIns="0" rIns="0" tIns="0" bIns="0" anchor="t">
            <a:spAutoFit/>
          </a:bodyPr>
          <a:lstStyle/>
          <a:p>
            <a:pPr algn="ctr">
              <a:spcAft>
                <a:spcPts val="400"/>
              </a:spcAft>
            </a:pPr>
            <a:r>
              <a:rPr sz="4000" b="1">
                <a:solidFill>
                  <a:srgbClr val="D4A84B"/>
                </a:solidFill>
                <a:latin typeface="Cambria"/>
              </a:rPr>
              <a:t>3 663</a:t>
            </a:r>
          </a:p>
        </p:txBody>
      </p:sp>
      <p:sp>
        <p:nvSpPr>
          <p:cNvPr id="12" name="TextBox 11"/>
          <p:cNvSpPr txBox="1"/>
          <p:nvPr/>
        </p:nvSpPr>
        <p:spPr>
          <a:xfrm>
            <a:off x="548640" y="4572000"/>
            <a:ext cx="256032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artistes</a:t>
            </a:r>
          </a:p>
        </p:txBody>
      </p:sp>
      <p:sp>
        <p:nvSpPr>
          <p:cNvPr id="13" name="Rounded Rectangle 12"/>
          <p:cNvSpPr/>
          <p:nvPr/>
        </p:nvSpPr>
        <p:spPr>
          <a:xfrm>
            <a:off x="3246120" y="3474720"/>
            <a:ext cx="2560320" cy="16002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3657600"/>
            <a:ext cx="2560320" cy="868680"/>
          </a:xfrm>
          <a:prstGeom prst="rect">
            <a:avLst/>
          </a:prstGeom>
          <a:noFill/>
        </p:spPr>
        <p:txBody>
          <a:bodyPr wrap="square" lIns="0" rIns="0" tIns="0" bIns="0" anchor="t">
            <a:spAutoFit/>
          </a:bodyPr>
          <a:lstStyle/>
          <a:p>
            <a:pPr algn="ctr">
              <a:spcAft>
                <a:spcPts val="400"/>
              </a:spcAft>
            </a:pPr>
            <a:r>
              <a:rPr sz="4000" b="1">
                <a:solidFill>
                  <a:srgbClr val="D4A84B"/>
                </a:solidFill>
                <a:latin typeface="Cambria"/>
              </a:rPr>
              <a:t>88 %</a:t>
            </a:r>
          </a:p>
        </p:txBody>
      </p:sp>
      <p:sp>
        <p:nvSpPr>
          <p:cNvPr id="15" name="TextBox 14"/>
          <p:cNvSpPr txBox="1"/>
          <p:nvPr/>
        </p:nvSpPr>
        <p:spPr>
          <a:xfrm>
            <a:off x="3246120" y="4572000"/>
            <a:ext cx="256032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datées</a:t>
            </a:r>
          </a:p>
        </p:txBody>
      </p:sp>
      <p:pic>
        <p:nvPicPr>
          <p:cNvPr id="16" name="Picture 15" descr="01_forms.png"/>
          <p:cNvPicPr>
            <a:picLocks noChangeAspect="1"/>
          </p:cNvPicPr>
          <p:nvPr/>
        </p:nvPicPr>
        <p:blipFill>
          <a:blip r:embed="rId3"/>
          <a:stretch>
            <a:fillRect/>
          </a:stretch>
        </p:blipFill>
        <p:spPr>
          <a:xfrm>
            <a:off x="6035040" y="1600200"/>
            <a:ext cx="5577840" cy="3701450"/>
          </a:xfrm>
          <a:prstGeom prst="rect">
            <a:avLst/>
          </a:prstGeom>
        </p:spPr>
      </p:pic>
      <p:sp>
        <p:nvSpPr>
          <p:cNvPr id="17" name="TextBox 16"/>
          <p:cNvSpPr txBox="1"/>
          <p:nvPr/>
        </p:nvSpPr>
        <p:spPr>
          <a:xfrm>
            <a:off x="6035040" y="5347370"/>
            <a:ext cx="5577840"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Formes d'art du catalogue · notebook 01_eda</a:t>
            </a:r>
          </a:p>
        </p:txBody>
      </p:sp>
      <p:sp>
        <p:nvSpPr>
          <p:cNvPr id="18" name="Rounded Rectangle 17"/>
          <p:cNvSpPr/>
          <p:nvPr/>
        </p:nvSpPr>
        <p:spPr>
          <a:xfrm>
            <a:off x="548640" y="5440680"/>
            <a:ext cx="16916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URL unique</a:t>
            </a:r>
          </a:p>
        </p:txBody>
      </p:sp>
      <p:sp>
        <p:nvSpPr>
          <p:cNvPr id="19" name="Rounded Rectangle 18"/>
          <p:cNvSpPr/>
          <p:nvPr/>
        </p:nvSpPr>
        <p:spPr>
          <a:xfrm>
            <a:off x="2350008" y="5440680"/>
            <a:ext cx="16916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Texte libre</a:t>
            </a:r>
          </a:p>
        </p:txBody>
      </p:sp>
      <p:sp>
        <p:nvSpPr>
          <p:cNvPr id="20" name="Rounded Rectangle 19"/>
          <p:cNvSpPr/>
          <p:nvPr/>
        </p:nvSpPr>
        <p:spPr>
          <a:xfrm>
            <a:off x="4151376" y="5440680"/>
            <a:ext cx="16916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Inconnu = « -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ANALYSE DE DONNÉES (EDA)</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Déséquilibre des genres</a:t>
            </a:r>
          </a:p>
        </p:txBody>
      </p:sp>
      <p:pic>
        <p:nvPicPr>
          <p:cNvPr id="4" name="Picture 3" descr="02_types.png"/>
          <p:cNvPicPr>
            <a:picLocks noChangeAspect="1"/>
          </p:cNvPicPr>
          <p:nvPr/>
        </p:nvPicPr>
        <p:blipFill>
          <a:blip r:embed="rId3"/>
          <a:stretch>
            <a:fillRect/>
          </a:stretch>
        </p:blipFill>
        <p:spPr>
          <a:xfrm>
            <a:off x="606287" y="1600200"/>
            <a:ext cx="7474226" cy="4297680"/>
          </a:xfrm>
          <a:prstGeom prst="rect">
            <a:avLst/>
          </a:prstGeom>
        </p:spPr>
      </p:pic>
      <p:sp>
        <p:nvSpPr>
          <p:cNvPr id="5" name="TextBox 4"/>
          <p:cNvSpPr txBox="1"/>
          <p:nvPr/>
        </p:nvSpPr>
        <p:spPr>
          <a:xfrm>
            <a:off x="606287" y="5943600"/>
            <a:ext cx="7474226"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Graphique du notebook 01_eda</a:t>
            </a:r>
          </a:p>
        </p:txBody>
      </p:sp>
      <p:sp>
        <p:nvSpPr>
          <p:cNvPr id="6" name="TextBox 5"/>
          <p:cNvSpPr txBox="1"/>
          <p:nvPr/>
        </p:nvSpPr>
        <p:spPr>
          <a:xfrm>
            <a:off x="8412480" y="2194560"/>
            <a:ext cx="3200400" cy="868680"/>
          </a:xfrm>
          <a:prstGeom prst="rect">
            <a:avLst/>
          </a:prstGeom>
          <a:noFill/>
        </p:spPr>
        <p:txBody>
          <a:bodyPr wrap="square" lIns="0" rIns="0" tIns="0" bIns="0" anchor="t">
            <a:spAutoFit/>
          </a:bodyPr>
          <a:lstStyle/>
          <a:p>
            <a:pPr algn="ctr">
              <a:spcAft>
                <a:spcPts val="400"/>
              </a:spcAft>
            </a:pPr>
            <a:r>
              <a:rPr sz="6000" b="1">
                <a:solidFill>
                  <a:srgbClr val="C0505C"/>
                </a:solidFill>
                <a:latin typeface="Cambria"/>
              </a:rPr>
              <a:t>42 %</a:t>
            </a:r>
          </a:p>
        </p:txBody>
      </p:sp>
      <p:sp>
        <p:nvSpPr>
          <p:cNvPr id="7" name="TextBox 6"/>
          <p:cNvSpPr txBox="1"/>
          <p:nvPr/>
        </p:nvSpPr>
        <p:spPr>
          <a:xfrm>
            <a:off x="8412480" y="3108960"/>
            <a:ext cx="320040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religieux</a:t>
            </a:r>
          </a:p>
        </p:txBody>
      </p:sp>
      <p:sp>
        <p:nvSpPr>
          <p:cNvPr id="8" name="Rounded Rectangle 7"/>
          <p:cNvSpPr/>
          <p:nvPr/>
        </p:nvSpPr>
        <p:spPr>
          <a:xfrm>
            <a:off x="8686800" y="4206240"/>
            <a:ext cx="26517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 quotas par genre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ANALYSE DE DONNÉES (EDA)</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Quatre découvertes dans les données</a:t>
            </a:r>
          </a:p>
        </p:txBody>
      </p:sp>
      <p:sp>
        <p:nvSpPr>
          <p:cNvPr id="4" name="Rounded Rectangle 3"/>
          <p:cNvSpPr/>
          <p:nvPr/>
        </p:nvSpPr>
        <p:spPr>
          <a:xfrm>
            <a:off x="548640" y="1783080"/>
            <a:ext cx="2606040" cy="429768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2606040" cy="868680"/>
          </a:xfrm>
          <a:prstGeom prst="rect">
            <a:avLst/>
          </a:prstGeom>
          <a:noFill/>
        </p:spPr>
        <p:txBody>
          <a:bodyPr wrap="square" lIns="0" rIns="0" tIns="0" bIns="0" anchor="t">
            <a:spAutoFit/>
          </a:bodyPr>
          <a:lstStyle/>
          <a:p>
            <a:pPr algn="ctr">
              <a:spcAft>
                <a:spcPts val="400"/>
              </a:spcAft>
            </a:pPr>
            <a:r>
              <a:rPr sz="5000" b="1">
                <a:solidFill>
                  <a:srgbClr val="D4A84B"/>
                </a:solidFill>
                <a:latin typeface="Cambria"/>
              </a:rPr>
              <a:t>15 %</a:t>
            </a:r>
          </a:p>
        </p:txBody>
      </p:sp>
      <p:sp>
        <p:nvSpPr>
          <p:cNvPr id="6" name="TextBox 5"/>
          <p:cNvSpPr txBox="1"/>
          <p:nvPr/>
        </p:nvSpPr>
        <p:spPr>
          <a:xfrm>
            <a:off x="548640" y="3200400"/>
            <a:ext cx="260604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détails</a:t>
            </a:r>
          </a:p>
        </p:txBody>
      </p:sp>
      <p:sp>
        <p:nvSpPr>
          <p:cNvPr id="7" name="Rounded Rectangle 6"/>
          <p:cNvSpPr/>
          <p:nvPr/>
        </p:nvSpPr>
        <p:spPr>
          <a:xfrm>
            <a:off x="868680" y="4572000"/>
            <a:ext cx="196596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 exclus</a:t>
            </a:r>
          </a:p>
        </p:txBody>
      </p:sp>
      <p:sp>
        <p:nvSpPr>
          <p:cNvPr id="8" name="Rounded Rectangle 7"/>
          <p:cNvSpPr/>
          <p:nvPr/>
        </p:nvSpPr>
        <p:spPr>
          <a:xfrm>
            <a:off x="3364992" y="1783080"/>
            <a:ext cx="2606040" cy="429768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64992" y="2286000"/>
            <a:ext cx="2606040" cy="868680"/>
          </a:xfrm>
          <a:prstGeom prst="rect">
            <a:avLst/>
          </a:prstGeom>
          <a:noFill/>
        </p:spPr>
        <p:txBody>
          <a:bodyPr wrap="square" lIns="0" rIns="0" tIns="0" bIns="0" anchor="t">
            <a:spAutoFit/>
          </a:bodyPr>
          <a:lstStyle/>
          <a:p>
            <a:pPr algn="ctr">
              <a:spcAft>
                <a:spcPts val="400"/>
              </a:spcAft>
            </a:pPr>
            <a:r>
              <a:rPr sz="5000" b="1">
                <a:solidFill>
                  <a:srgbClr val="D4A84B"/>
                </a:solidFill>
                <a:latin typeface="Cambria"/>
              </a:rPr>
              <a:t>14 %</a:t>
            </a:r>
          </a:p>
        </p:txBody>
      </p:sp>
      <p:sp>
        <p:nvSpPr>
          <p:cNvPr id="10" name="TextBox 9"/>
          <p:cNvSpPr txBox="1"/>
          <p:nvPr/>
        </p:nvSpPr>
        <p:spPr>
          <a:xfrm>
            <a:off x="3364992" y="3200400"/>
            <a:ext cx="260604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fresques</a:t>
            </a:r>
          </a:p>
        </p:txBody>
      </p:sp>
      <p:sp>
        <p:nvSpPr>
          <p:cNvPr id="11" name="Rounded Rectangle 10"/>
          <p:cNvSpPr/>
          <p:nvPr/>
        </p:nvSpPr>
        <p:spPr>
          <a:xfrm>
            <a:off x="3685032" y="4572000"/>
            <a:ext cx="196596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 exclues</a:t>
            </a:r>
          </a:p>
        </p:txBody>
      </p:sp>
      <p:sp>
        <p:nvSpPr>
          <p:cNvPr id="12" name="Rounded Rectangle 11"/>
          <p:cNvSpPr/>
          <p:nvPr/>
        </p:nvSpPr>
        <p:spPr>
          <a:xfrm>
            <a:off x="6181344" y="1783080"/>
            <a:ext cx="2606040" cy="429768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2286000"/>
            <a:ext cx="2606040" cy="868680"/>
          </a:xfrm>
          <a:prstGeom prst="rect">
            <a:avLst/>
          </a:prstGeom>
          <a:noFill/>
        </p:spPr>
        <p:txBody>
          <a:bodyPr wrap="square" lIns="0" rIns="0" tIns="0" bIns="0" anchor="t">
            <a:spAutoFit/>
          </a:bodyPr>
          <a:lstStyle/>
          <a:p>
            <a:pPr algn="ctr">
              <a:spcAft>
                <a:spcPts val="400"/>
              </a:spcAft>
            </a:pPr>
            <a:r>
              <a:rPr sz="5000" b="1">
                <a:solidFill>
                  <a:srgbClr val="D4A84B"/>
                </a:solidFill>
                <a:latin typeface="Cambria"/>
              </a:rPr>
              <a:t>18 %</a:t>
            </a:r>
          </a:p>
        </p:txBody>
      </p:sp>
      <p:sp>
        <p:nvSpPr>
          <p:cNvPr id="14" name="TextBox 13"/>
          <p:cNvSpPr txBox="1"/>
          <p:nvPr/>
        </p:nvSpPr>
        <p:spPr>
          <a:xfrm>
            <a:off x="6181344" y="3200400"/>
            <a:ext cx="260604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dates incohérentes</a:t>
            </a:r>
          </a:p>
        </p:txBody>
      </p:sp>
      <p:sp>
        <p:nvSpPr>
          <p:cNvPr id="15" name="Rounded Rectangle 14"/>
          <p:cNvSpPr/>
          <p:nvPr/>
        </p:nvSpPr>
        <p:spPr>
          <a:xfrm>
            <a:off x="6501384" y="4572000"/>
            <a:ext cx="196596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 DATE</a:t>
            </a:r>
          </a:p>
        </p:txBody>
      </p:sp>
      <p:sp>
        <p:nvSpPr>
          <p:cNvPr id="16" name="Rounded Rectangle 15"/>
          <p:cNvSpPr/>
          <p:nvPr/>
        </p:nvSpPr>
        <p:spPr>
          <a:xfrm>
            <a:off x="8997696" y="1783080"/>
            <a:ext cx="2606040" cy="429768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696" y="2286000"/>
            <a:ext cx="2606040" cy="868680"/>
          </a:xfrm>
          <a:prstGeom prst="rect">
            <a:avLst/>
          </a:prstGeom>
          <a:noFill/>
        </p:spPr>
        <p:txBody>
          <a:bodyPr wrap="square" lIns="0" rIns="0" tIns="0" bIns="0" anchor="t">
            <a:spAutoFit/>
          </a:bodyPr>
          <a:lstStyle/>
          <a:p>
            <a:pPr algn="ctr">
              <a:spcAft>
                <a:spcPts val="400"/>
              </a:spcAft>
            </a:pPr>
            <a:r>
              <a:rPr sz="5000" b="1">
                <a:solidFill>
                  <a:srgbClr val="D4A84B"/>
                </a:solidFill>
                <a:latin typeface="Cambria"/>
              </a:rPr>
              <a:t>0,85</a:t>
            </a:r>
          </a:p>
        </p:txBody>
      </p:sp>
      <p:sp>
        <p:nvSpPr>
          <p:cNvPr id="18" name="TextBox 17"/>
          <p:cNvSpPr txBox="1"/>
          <p:nvPr/>
        </p:nvSpPr>
        <p:spPr>
          <a:xfrm>
            <a:off x="8997696" y="3200400"/>
            <a:ext cx="260604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ratio médian</a:t>
            </a:r>
          </a:p>
        </p:txBody>
      </p:sp>
      <p:sp>
        <p:nvSpPr>
          <p:cNvPr id="19" name="Rounded Rectangle 18"/>
          <p:cNvSpPr/>
          <p:nvPr/>
        </p:nvSpPr>
        <p:spPr>
          <a:xfrm>
            <a:off x="9317736" y="4572000"/>
            <a:ext cx="196596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 carré central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PRÉTRAITEMENT DE DONNÉES</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De 32 438 peintures à notre jeu d'images</a:t>
            </a:r>
          </a:p>
        </p:txBody>
      </p:sp>
      <p:sp>
        <p:nvSpPr>
          <p:cNvPr id="4" name="Rounded Rectangle 3"/>
          <p:cNvSpPr/>
          <p:nvPr/>
        </p:nvSpPr>
        <p:spPr>
          <a:xfrm>
            <a:off x="548640" y="1645920"/>
            <a:ext cx="5303520" cy="676656"/>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0"/>
            <a:ext cx="5303520" cy="676656"/>
          </a:xfrm>
          <a:prstGeom prst="rect">
            <a:avLst/>
          </a:prstGeom>
          <a:noFill/>
        </p:spPr>
        <p:txBody>
          <a:bodyPr wrap="square" lIns="0" rIns="0" tIns="0" bIns="0" anchor="ctr">
            <a:spAutoFit/>
          </a:bodyPr>
          <a:lstStyle/>
          <a:p>
            <a:pPr algn="ctr">
              <a:spcAft>
                <a:spcPts val="400"/>
              </a:spcAft>
            </a:pPr>
            <a:r>
              <a:rPr sz="2400" b="1">
                <a:solidFill>
                  <a:srgbClr val="D4A84B"/>
                </a:solidFill>
                <a:latin typeface="Cambria"/>
              </a:rPr>
              <a:t>32 438</a:t>
            </a:r>
          </a:p>
        </p:txBody>
      </p:sp>
      <p:sp>
        <p:nvSpPr>
          <p:cNvPr id="6" name="TextBox 5"/>
          <p:cNvSpPr txBox="1"/>
          <p:nvPr/>
        </p:nvSpPr>
        <p:spPr>
          <a:xfrm>
            <a:off x="6080760" y="1645920"/>
            <a:ext cx="2926080" cy="676656"/>
          </a:xfrm>
          <a:prstGeom prst="rect">
            <a:avLst/>
          </a:prstGeom>
          <a:noFill/>
        </p:spPr>
        <p:txBody>
          <a:bodyPr wrap="square" lIns="0" rIns="0" tIns="0" bIns="0" anchor="ctr">
            <a:spAutoFit/>
          </a:bodyPr>
          <a:lstStyle/>
          <a:p>
            <a:pPr algn="l">
              <a:spcAft>
                <a:spcPts val="0"/>
              </a:spcAft>
            </a:pPr>
            <a:r>
              <a:rPr sz="1500" b="1">
                <a:solidFill>
                  <a:srgbClr val="F2EDE6"/>
                </a:solidFill>
                <a:latin typeface="Calibri"/>
              </a:rPr>
              <a:t>peintures dans le catalogue</a:t>
            </a:r>
          </a:p>
        </p:txBody>
      </p:sp>
      <p:sp>
        <p:nvSpPr>
          <p:cNvPr id="7" name="Rounded Rectangle 6"/>
          <p:cNvSpPr/>
          <p:nvPr/>
        </p:nvSpPr>
        <p:spPr>
          <a:xfrm>
            <a:off x="937260" y="2487168"/>
            <a:ext cx="4526280" cy="676656"/>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7260" y="2487168"/>
            <a:ext cx="4526280" cy="676656"/>
          </a:xfrm>
          <a:prstGeom prst="rect">
            <a:avLst/>
          </a:prstGeom>
          <a:noFill/>
        </p:spPr>
        <p:txBody>
          <a:bodyPr wrap="square" lIns="0" rIns="0" tIns="0" bIns="0" anchor="ctr">
            <a:spAutoFit/>
          </a:bodyPr>
          <a:lstStyle/>
          <a:p>
            <a:pPr algn="ctr">
              <a:spcAft>
                <a:spcPts val="400"/>
              </a:spcAft>
            </a:pPr>
            <a:r>
              <a:rPr sz="2400" b="1">
                <a:solidFill>
                  <a:srgbClr val="D4A84B"/>
                </a:solidFill>
                <a:latin typeface="Cambria"/>
              </a:rPr>
              <a:t>27 451</a:t>
            </a:r>
          </a:p>
        </p:txBody>
      </p:sp>
      <p:sp>
        <p:nvSpPr>
          <p:cNvPr id="9" name="TextBox 8"/>
          <p:cNvSpPr txBox="1"/>
          <p:nvPr/>
        </p:nvSpPr>
        <p:spPr>
          <a:xfrm>
            <a:off x="6080760" y="2487168"/>
            <a:ext cx="2926080" cy="676656"/>
          </a:xfrm>
          <a:prstGeom prst="rect">
            <a:avLst/>
          </a:prstGeom>
          <a:noFill/>
        </p:spPr>
        <p:txBody>
          <a:bodyPr wrap="square" lIns="0" rIns="0" tIns="0" bIns="0" anchor="ctr">
            <a:spAutoFit/>
          </a:bodyPr>
          <a:lstStyle/>
          <a:p>
            <a:pPr algn="l">
              <a:spcAft>
                <a:spcPts val="0"/>
              </a:spcAft>
            </a:pPr>
            <a:r>
              <a:rPr sz="1500" b="1">
                <a:solidFill>
                  <a:srgbClr val="C0505C"/>
                </a:solidFill>
                <a:latin typeface="Calibri"/>
              </a:rPr>
              <a:t>− 4 987 vues de détail</a:t>
            </a:r>
          </a:p>
          <a:p>
            <a:pPr algn="l">
              <a:spcAft>
                <a:spcPts val="0"/>
              </a:spcAft>
            </a:pPr>
            <a:r>
              <a:rPr sz="1200" b="0">
                <a:solidFill>
                  <a:srgbClr val="A39A90"/>
                </a:solidFill>
                <a:latin typeface="Calibri"/>
              </a:rPr>
              <a:t>zooms sur un autre tableau</a:t>
            </a:r>
          </a:p>
        </p:txBody>
      </p:sp>
      <p:sp>
        <p:nvSpPr>
          <p:cNvPr id="10" name="Rounded Rectangle 9"/>
          <p:cNvSpPr/>
          <p:nvPr/>
        </p:nvSpPr>
        <p:spPr>
          <a:xfrm>
            <a:off x="1325880" y="3328416"/>
            <a:ext cx="3749040" cy="676656"/>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3328416"/>
            <a:ext cx="3749040" cy="676656"/>
          </a:xfrm>
          <a:prstGeom prst="rect">
            <a:avLst/>
          </a:prstGeom>
          <a:noFill/>
        </p:spPr>
        <p:txBody>
          <a:bodyPr wrap="square" lIns="0" rIns="0" tIns="0" bIns="0" anchor="ctr">
            <a:spAutoFit/>
          </a:bodyPr>
          <a:lstStyle/>
          <a:p>
            <a:pPr algn="ctr">
              <a:spcAft>
                <a:spcPts val="400"/>
              </a:spcAft>
            </a:pPr>
            <a:r>
              <a:rPr sz="2400" b="1">
                <a:solidFill>
                  <a:srgbClr val="D4A84B"/>
                </a:solidFill>
                <a:latin typeface="Cambria"/>
              </a:rPr>
              <a:t>24 379</a:t>
            </a:r>
          </a:p>
        </p:txBody>
      </p:sp>
      <p:sp>
        <p:nvSpPr>
          <p:cNvPr id="12" name="TextBox 11"/>
          <p:cNvSpPr txBox="1"/>
          <p:nvPr/>
        </p:nvSpPr>
        <p:spPr>
          <a:xfrm>
            <a:off x="6080760" y="3328416"/>
            <a:ext cx="2926080" cy="676656"/>
          </a:xfrm>
          <a:prstGeom prst="rect">
            <a:avLst/>
          </a:prstGeom>
          <a:noFill/>
        </p:spPr>
        <p:txBody>
          <a:bodyPr wrap="square" lIns="0" rIns="0" tIns="0" bIns="0" anchor="ctr">
            <a:spAutoFit/>
          </a:bodyPr>
          <a:lstStyle/>
          <a:p>
            <a:pPr algn="l">
              <a:spcAft>
                <a:spcPts val="0"/>
              </a:spcAft>
            </a:pPr>
            <a:r>
              <a:rPr sz="1500" b="1">
                <a:solidFill>
                  <a:srgbClr val="C0505C"/>
                </a:solidFill>
                <a:latin typeface="Calibri"/>
              </a:rPr>
              <a:t>− 3 072 fresques</a:t>
            </a:r>
          </a:p>
          <a:p>
            <a:pPr algn="l">
              <a:spcAft>
                <a:spcPts val="0"/>
              </a:spcAft>
            </a:pPr>
            <a:r>
              <a:rPr sz="1200" b="0">
                <a:solidFill>
                  <a:srgbClr val="A39A90"/>
                </a:solidFill>
                <a:latin typeface="Calibri"/>
              </a:rPr>
              <a:t>photos de murs et de voûtes</a:t>
            </a:r>
          </a:p>
        </p:txBody>
      </p:sp>
      <p:sp>
        <p:nvSpPr>
          <p:cNvPr id="13" name="Rounded Rectangle 12"/>
          <p:cNvSpPr/>
          <p:nvPr/>
        </p:nvSpPr>
        <p:spPr>
          <a:xfrm>
            <a:off x="1714500" y="4169664"/>
            <a:ext cx="2971800" cy="676656"/>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14500" y="4169664"/>
            <a:ext cx="2971800" cy="676656"/>
          </a:xfrm>
          <a:prstGeom prst="rect">
            <a:avLst/>
          </a:prstGeom>
          <a:noFill/>
        </p:spPr>
        <p:txBody>
          <a:bodyPr wrap="square" lIns="0" rIns="0" tIns="0" bIns="0" anchor="ctr">
            <a:spAutoFit/>
          </a:bodyPr>
          <a:lstStyle/>
          <a:p>
            <a:pPr algn="ctr">
              <a:spcAft>
                <a:spcPts val="400"/>
              </a:spcAft>
            </a:pPr>
            <a:r>
              <a:rPr sz="2400" b="1">
                <a:solidFill>
                  <a:srgbClr val="D4A84B"/>
                </a:solidFill>
                <a:latin typeface="Cambria"/>
              </a:rPr>
              <a:t>23 228</a:t>
            </a:r>
          </a:p>
        </p:txBody>
      </p:sp>
      <p:sp>
        <p:nvSpPr>
          <p:cNvPr id="15" name="TextBox 14"/>
          <p:cNvSpPr txBox="1"/>
          <p:nvPr/>
        </p:nvSpPr>
        <p:spPr>
          <a:xfrm>
            <a:off x="6080760" y="4169664"/>
            <a:ext cx="2926080" cy="676656"/>
          </a:xfrm>
          <a:prstGeom prst="rect">
            <a:avLst/>
          </a:prstGeom>
          <a:noFill/>
        </p:spPr>
        <p:txBody>
          <a:bodyPr wrap="square" lIns="0" rIns="0" tIns="0" bIns="0" anchor="ctr">
            <a:spAutoFit/>
          </a:bodyPr>
          <a:lstStyle/>
          <a:p>
            <a:pPr algn="l">
              <a:spcAft>
                <a:spcPts val="0"/>
              </a:spcAft>
            </a:pPr>
            <a:r>
              <a:rPr sz="1500" b="1">
                <a:solidFill>
                  <a:srgbClr val="C0505C"/>
                </a:solidFill>
                <a:latin typeface="Calibri"/>
              </a:rPr>
              <a:t>− 1 151 formats trop allongés</a:t>
            </a:r>
          </a:p>
          <a:p>
            <a:pPr algn="l">
              <a:spcAft>
                <a:spcPts val="0"/>
              </a:spcAft>
            </a:pPr>
            <a:r>
              <a:rPr sz="1200" b="0">
                <a:solidFill>
                  <a:srgbClr val="A39A90"/>
                </a:solidFill>
                <a:latin typeface="Calibri"/>
              </a:rPr>
              <a:t>frises, panneaux étroits</a:t>
            </a:r>
          </a:p>
        </p:txBody>
      </p:sp>
      <p:sp>
        <p:nvSpPr>
          <p:cNvPr id="16" name="Rounded Rectangle 15"/>
          <p:cNvSpPr/>
          <p:nvPr/>
        </p:nvSpPr>
        <p:spPr>
          <a:xfrm>
            <a:off x="2103120" y="5010912"/>
            <a:ext cx="2194560" cy="676656"/>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03120" y="5010912"/>
            <a:ext cx="2194560" cy="676656"/>
          </a:xfrm>
          <a:prstGeom prst="rect">
            <a:avLst/>
          </a:prstGeom>
          <a:noFill/>
        </p:spPr>
        <p:txBody>
          <a:bodyPr wrap="square" lIns="0" rIns="0" tIns="0" bIns="0" anchor="ctr">
            <a:spAutoFit/>
          </a:bodyPr>
          <a:lstStyle/>
          <a:p>
            <a:pPr algn="ctr">
              <a:spcAft>
                <a:spcPts val="400"/>
              </a:spcAft>
            </a:pPr>
            <a:r>
              <a:rPr sz="2400" b="1">
                <a:solidFill>
                  <a:srgbClr val="F2EDE6"/>
                </a:solidFill>
                <a:latin typeface="Cambria"/>
              </a:rPr>
              <a:t>8 000</a:t>
            </a:r>
          </a:p>
        </p:txBody>
      </p:sp>
      <p:sp>
        <p:nvSpPr>
          <p:cNvPr id="18" name="TextBox 17"/>
          <p:cNvSpPr txBox="1"/>
          <p:nvPr/>
        </p:nvSpPr>
        <p:spPr>
          <a:xfrm>
            <a:off x="6080760" y="5010912"/>
            <a:ext cx="2926080" cy="676656"/>
          </a:xfrm>
          <a:prstGeom prst="rect">
            <a:avLst/>
          </a:prstGeom>
          <a:noFill/>
        </p:spPr>
        <p:txBody>
          <a:bodyPr wrap="square" lIns="0" rIns="0" tIns="0" bIns="0" anchor="ctr">
            <a:spAutoFit/>
          </a:bodyPr>
          <a:lstStyle/>
          <a:p>
            <a:pPr algn="l">
              <a:spcAft>
                <a:spcPts val="0"/>
              </a:spcAft>
            </a:pPr>
            <a:r>
              <a:rPr sz="1500" b="1">
                <a:solidFill>
                  <a:srgbClr val="F2EDE6"/>
                </a:solidFill>
                <a:latin typeface="Calibri"/>
              </a:rPr>
              <a:t>tirées au sort</a:t>
            </a:r>
          </a:p>
          <a:p>
            <a:pPr algn="l">
              <a:spcAft>
                <a:spcPts val="0"/>
              </a:spcAft>
            </a:pPr>
            <a:r>
              <a:rPr sz="1200" b="0">
                <a:solidFill>
                  <a:srgbClr val="A39A90"/>
                </a:solidFill>
                <a:latin typeface="Calibri"/>
              </a:rPr>
              <a:t>genres équilibrés · 30 max. par artiste</a:t>
            </a:r>
          </a:p>
        </p:txBody>
      </p:sp>
      <p:sp>
        <p:nvSpPr>
          <p:cNvPr id="19" name="TextBox 18"/>
          <p:cNvSpPr txBox="1"/>
          <p:nvPr/>
        </p:nvSpPr>
        <p:spPr>
          <a:xfrm>
            <a:off x="9098280" y="1600200"/>
            <a:ext cx="2542032" cy="411480"/>
          </a:xfrm>
          <a:prstGeom prst="rect">
            <a:avLst/>
          </a:prstGeom>
          <a:noFill/>
        </p:spPr>
        <p:txBody>
          <a:bodyPr wrap="square" lIns="0" rIns="0" tIns="0" bIns="0" anchor="ctr">
            <a:spAutoFit/>
          </a:bodyPr>
          <a:lstStyle/>
          <a:p>
            <a:pPr algn="ctr">
              <a:spcAft>
                <a:spcPts val="400"/>
              </a:spcAft>
            </a:pPr>
            <a:r>
              <a:rPr sz="1800" b="1">
                <a:solidFill>
                  <a:srgbClr val="D4A84B"/>
                </a:solidFill>
                <a:latin typeface="Calibri"/>
              </a:rPr>
              <a:t>Résultat</a:t>
            </a:r>
          </a:p>
        </p:txBody>
      </p:sp>
      <p:sp>
        <p:nvSpPr>
          <p:cNvPr id="20" name="Rounded Rectangle 19"/>
          <p:cNvSpPr/>
          <p:nvPr/>
        </p:nvSpPr>
        <p:spPr>
          <a:xfrm>
            <a:off x="9098280" y="2057400"/>
            <a:ext cx="2542032" cy="73152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057400"/>
            <a:ext cx="2542032" cy="731520"/>
          </a:xfrm>
          <a:prstGeom prst="rect">
            <a:avLst/>
          </a:prstGeom>
          <a:noFill/>
        </p:spPr>
        <p:txBody>
          <a:bodyPr wrap="square" lIns="0" rIns="0" tIns="0" bIns="0" anchor="ctr">
            <a:spAutoFit/>
          </a:bodyPr>
          <a:lstStyle/>
          <a:p>
            <a:pPr algn="ctr">
              <a:spcAft>
                <a:spcPts val="0"/>
              </a:spcAft>
            </a:pPr>
            <a:r>
              <a:rPr sz="2000" b="1">
                <a:solidFill>
                  <a:srgbClr val="D4A84B"/>
                </a:solidFill>
                <a:latin typeface="Cambria"/>
              </a:rPr>
              <a:t>8 000</a:t>
            </a:r>
          </a:p>
          <a:p>
            <a:pPr algn="ctr">
              <a:spcAft>
                <a:spcPts val="0"/>
              </a:spcAft>
            </a:pPr>
            <a:r>
              <a:rPr sz="1100" b="0">
                <a:solidFill>
                  <a:srgbClr val="A39A90"/>
                </a:solidFill>
                <a:latin typeface="Calibri"/>
              </a:rPr>
              <a:t>sélectionnées</a:t>
            </a:r>
          </a:p>
        </p:txBody>
      </p:sp>
      <p:sp>
        <p:nvSpPr>
          <p:cNvPr id="22" name="Down Arrow 21"/>
          <p:cNvSpPr/>
          <p:nvPr/>
        </p:nvSpPr>
        <p:spPr>
          <a:xfrm>
            <a:off x="10232136" y="2834640"/>
            <a:ext cx="274320" cy="256032"/>
          </a:xfrm>
          <a:prstGeom prst="down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8280" y="3108960"/>
            <a:ext cx="2542032" cy="73152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3108960"/>
            <a:ext cx="2542032" cy="731520"/>
          </a:xfrm>
          <a:prstGeom prst="rect">
            <a:avLst/>
          </a:prstGeom>
          <a:noFill/>
        </p:spPr>
        <p:txBody>
          <a:bodyPr wrap="square" lIns="0" rIns="0" tIns="0" bIns="0" anchor="ctr">
            <a:spAutoFit/>
          </a:bodyPr>
          <a:lstStyle/>
          <a:p>
            <a:pPr algn="ctr">
              <a:spcAft>
                <a:spcPts val="0"/>
              </a:spcAft>
            </a:pPr>
            <a:r>
              <a:rPr sz="2000" b="1">
                <a:solidFill>
                  <a:srgbClr val="D4A84B"/>
                </a:solidFill>
                <a:latin typeface="Cambria"/>
              </a:rPr>
              <a:t>6 779</a:t>
            </a:r>
          </a:p>
          <a:p>
            <a:pPr algn="ctr">
              <a:spcAft>
                <a:spcPts val="0"/>
              </a:spcAft>
            </a:pPr>
            <a:r>
              <a:rPr sz="1100" b="0">
                <a:solidFill>
                  <a:srgbClr val="A39A90"/>
                </a:solidFill>
                <a:latin typeface="Calibri"/>
              </a:rPr>
              <a:t>récupérées</a:t>
            </a:r>
          </a:p>
        </p:txBody>
      </p:sp>
      <p:sp>
        <p:nvSpPr>
          <p:cNvPr id="25" name="Down Arrow 24"/>
          <p:cNvSpPr/>
          <p:nvPr/>
        </p:nvSpPr>
        <p:spPr>
          <a:xfrm>
            <a:off x="10232136" y="3886200"/>
            <a:ext cx="274320" cy="256032"/>
          </a:xfrm>
          <a:prstGeom prst="down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098280" y="4160520"/>
            <a:ext cx="2542032" cy="73152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98280" y="4160520"/>
            <a:ext cx="2542032" cy="731520"/>
          </a:xfrm>
          <a:prstGeom prst="rect">
            <a:avLst/>
          </a:prstGeom>
          <a:noFill/>
        </p:spPr>
        <p:txBody>
          <a:bodyPr wrap="square" lIns="0" rIns="0" tIns="0" bIns="0" anchor="ctr">
            <a:spAutoFit/>
          </a:bodyPr>
          <a:lstStyle/>
          <a:p>
            <a:pPr algn="ctr">
              <a:spcAft>
                <a:spcPts val="0"/>
              </a:spcAft>
            </a:pPr>
            <a:r>
              <a:rPr sz="2000" b="1">
                <a:solidFill>
                  <a:srgbClr val="D4A84B"/>
                </a:solidFill>
                <a:latin typeface="Cambria"/>
              </a:rPr>
              <a:t>6 762</a:t>
            </a:r>
          </a:p>
          <a:p>
            <a:pPr algn="ctr">
              <a:spcAft>
                <a:spcPts val="0"/>
              </a:spcAft>
            </a:pPr>
            <a:r>
              <a:rPr sz="1100" b="0">
                <a:solidFill>
                  <a:srgbClr val="A39A90"/>
                </a:solidFill>
                <a:latin typeface="Calibri"/>
              </a:rPr>
              <a:t>après contrôle (noir et blanc, doublons)</a:t>
            </a:r>
          </a:p>
        </p:txBody>
      </p:sp>
      <p:sp>
        <p:nvSpPr>
          <p:cNvPr id="28" name="Down Arrow 27"/>
          <p:cNvSpPr/>
          <p:nvPr/>
        </p:nvSpPr>
        <p:spPr>
          <a:xfrm>
            <a:off x="10232136" y="4937760"/>
            <a:ext cx="274320" cy="256032"/>
          </a:xfrm>
          <a:prstGeom prst="down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098280" y="5212080"/>
            <a:ext cx="1225296" cy="731520"/>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98280" y="5212080"/>
            <a:ext cx="1225296" cy="731520"/>
          </a:xfrm>
          <a:prstGeom prst="rect">
            <a:avLst/>
          </a:prstGeom>
          <a:noFill/>
        </p:spPr>
        <p:txBody>
          <a:bodyPr wrap="square" lIns="0" rIns="0" tIns="0" bIns="0" anchor="ctr">
            <a:spAutoFit/>
          </a:bodyPr>
          <a:lstStyle/>
          <a:p>
            <a:pPr algn="ctr">
              <a:spcAft>
                <a:spcPts val="0"/>
              </a:spcAft>
            </a:pPr>
            <a:r>
              <a:rPr sz="1800" b="1">
                <a:solidFill>
                  <a:srgbClr val="F2EDE6"/>
                </a:solidFill>
                <a:latin typeface="Cambria"/>
              </a:rPr>
              <a:t>6 105</a:t>
            </a:r>
          </a:p>
          <a:p>
            <a:pPr algn="ctr">
              <a:spcAft>
                <a:spcPts val="0"/>
              </a:spcAft>
            </a:pPr>
            <a:r>
              <a:rPr sz="1100" b="0">
                <a:solidFill>
                  <a:srgbClr val="F2EDE6"/>
                </a:solidFill>
                <a:latin typeface="Calibri"/>
              </a:rPr>
              <a:t>entraînement</a:t>
            </a:r>
          </a:p>
        </p:txBody>
      </p:sp>
      <p:sp>
        <p:nvSpPr>
          <p:cNvPr id="31" name="Rounded Rectangle 30"/>
          <p:cNvSpPr/>
          <p:nvPr/>
        </p:nvSpPr>
        <p:spPr>
          <a:xfrm>
            <a:off x="10415016" y="5212080"/>
            <a:ext cx="1225296" cy="73152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15016" y="5212080"/>
            <a:ext cx="1225296" cy="731520"/>
          </a:xfrm>
          <a:prstGeom prst="rect">
            <a:avLst/>
          </a:prstGeom>
          <a:noFill/>
        </p:spPr>
        <p:txBody>
          <a:bodyPr wrap="square" lIns="0" rIns="0" tIns="0" bIns="0" anchor="ctr">
            <a:spAutoFit/>
          </a:bodyPr>
          <a:lstStyle/>
          <a:p>
            <a:pPr algn="ctr">
              <a:spcAft>
                <a:spcPts val="0"/>
              </a:spcAft>
            </a:pPr>
            <a:r>
              <a:rPr sz="1800" b="1">
                <a:solidFill>
                  <a:srgbClr val="F2EDE6"/>
                </a:solidFill>
                <a:latin typeface="Cambria"/>
              </a:rPr>
              <a:t>657</a:t>
            </a:r>
          </a:p>
          <a:p>
            <a:pPr algn="ctr">
              <a:spcAft>
                <a:spcPts val="0"/>
              </a:spcAft>
            </a:pPr>
            <a:r>
              <a:rPr sz="1100" b="0">
                <a:solidFill>
                  <a:srgbClr val="F2EDE6"/>
                </a:solidFill>
                <a:latin typeface="Calibri"/>
              </a:rPr>
              <a:t>évaluation</a:t>
            </a:r>
          </a:p>
        </p:txBody>
      </p:sp>
      <p:sp>
        <p:nvSpPr>
          <p:cNvPr id="33" name="TextBox 32"/>
          <p:cNvSpPr txBox="1"/>
          <p:nvPr/>
        </p:nvSpPr>
        <p:spPr>
          <a:xfrm>
            <a:off x="548640" y="5943600"/>
            <a:ext cx="8229600" cy="320040"/>
          </a:xfrm>
          <a:prstGeom prst="rect">
            <a:avLst/>
          </a:prstGeom>
          <a:noFill/>
        </p:spPr>
        <p:txBody>
          <a:bodyPr wrap="square" lIns="0" rIns="0" tIns="0" bIns="0" anchor="t">
            <a:spAutoFit/>
          </a:bodyPr>
          <a:lstStyle/>
          <a:p>
            <a:pPr algn="l">
              <a:spcAft>
                <a:spcPts val="400"/>
              </a:spcAft>
            </a:pPr>
            <a:r>
              <a:rPr sz="1200" b="0">
                <a:solidFill>
                  <a:srgbClr val="A39A90"/>
                </a:solidFill>
                <a:latin typeface="Calibri"/>
              </a:rPr>
              <a:t>Tirage reproductible · une image par œuvre · évaluation sur des œuvres jamais vues à l'entraînement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PRÉTRAITEMENT DE DONNÉES</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Ce que montrent les images, et le prétraitement</a:t>
            </a:r>
          </a:p>
        </p:txBody>
      </p:sp>
      <p:sp>
        <p:nvSpPr>
          <p:cNvPr id="4" name="TextBox 3"/>
          <p:cNvSpPr txBox="1"/>
          <p:nvPr/>
        </p:nvSpPr>
        <p:spPr>
          <a:xfrm>
            <a:off x="548640" y="1600200"/>
            <a:ext cx="1463040" cy="868680"/>
          </a:xfrm>
          <a:prstGeom prst="rect">
            <a:avLst/>
          </a:prstGeom>
          <a:noFill/>
        </p:spPr>
        <p:txBody>
          <a:bodyPr wrap="square" lIns="0" rIns="0" tIns="0" bIns="0" anchor="ctr">
            <a:spAutoFit/>
          </a:bodyPr>
          <a:lstStyle/>
          <a:p>
            <a:pPr algn="l">
              <a:spcAft>
                <a:spcPts val="400"/>
              </a:spcAft>
            </a:pPr>
            <a:r>
              <a:rPr sz="1400" b="1">
                <a:solidFill>
                  <a:srgbClr val="A39A90"/>
                </a:solidFill>
                <a:latin typeface="Calibri"/>
              </a:rPr>
              <a:t>portrait</a:t>
            </a:r>
          </a:p>
        </p:txBody>
      </p:sp>
      <p:pic>
        <p:nvPicPr>
          <p:cNvPr id="5" name="Picture 4" descr="01253.jpg"/>
          <p:cNvPicPr>
            <a:picLocks noChangeAspect="1"/>
          </p:cNvPicPr>
          <p:nvPr/>
        </p:nvPicPr>
        <p:blipFill>
          <a:blip r:embed="rId3"/>
          <a:stretch>
            <a:fillRect/>
          </a:stretch>
        </p:blipFill>
        <p:spPr>
          <a:xfrm>
            <a:off x="2011680" y="1600200"/>
            <a:ext cx="868680" cy="868680"/>
          </a:xfrm>
          <a:prstGeom prst="rect">
            <a:avLst/>
          </a:prstGeom>
        </p:spPr>
      </p:pic>
      <p:pic>
        <p:nvPicPr>
          <p:cNvPr id="6" name="Picture 5" descr="01909.jpg"/>
          <p:cNvPicPr>
            <a:picLocks noChangeAspect="1"/>
          </p:cNvPicPr>
          <p:nvPr/>
        </p:nvPicPr>
        <p:blipFill>
          <a:blip r:embed="rId4"/>
          <a:stretch>
            <a:fillRect/>
          </a:stretch>
        </p:blipFill>
        <p:spPr>
          <a:xfrm>
            <a:off x="2953512" y="1600200"/>
            <a:ext cx="868680" cy="868680"/>
          </a:xfrm>
          <a:prstGeom prst="rect">
            <a:avLst/>
          </a:prstGeom>
        </p:spPr>
      </p:pic>
      <p:pic>
        <p:nvPicPr>
          <p:cNvPr id="7" name="Picture 6" descr="00286.jpg"/>
          <p:cNvPicPr>
            <a:picLocks noChangeAspect="1"/>
          </p:cNvPicPr>
          <p:nvPr/>
        </p:nvPicPr>
        <p:blipFill>
          <a:blip r:embed="rId5"/>
          <a:stretch>
            <a:fillRect/>
          </a:stretch>
        </p:blipFill>
        <p:spPr>
          <a:xfrm>
            <a:off x="3895344" y="1600200"/>
            <a:ext cx="868680" cy="868680"/>
          </a:xfrm>
          <a:prstGeom prst="rect">
            <a:avLst/>
          </a:prstGeom>
        </p:spPr>
      </p:pic>
      <p:pic>
        <p:nvPicPr>
          <p:cNvPr id="8" name="Picture 7" descr="01664.jpg"/>
          <p:cNvPicPr>
            <a:picLocks noChangeAspect="1"/>
          </p:cNvPicPr>
          <p:nvPr/>
        </p:nvPicPr>
        <p:blipFill>
          <a:blip r:embed="rId6"/>
          <a:stretch>
            <a:fillRect/>
          </a:stretch>
        </p:blipFill>
        <p:spPr>
          <a:xfrm>
            <a:off x="4837176" y="1600200"/>
            <a:ext cx="868680" cy="868680"/>
          </a:xfrm>
          <a:prstGeom prst="rect">
            <a:avLst/>
          </a:prstGeom>
        </p:spPr>
      </p:pic>
      <p:pic>
        <p:nvPicPr>
          <p:cNvPr id="9" name="Picture 8" descr="01903.jpg"/>
          <p:cNvPicPr>
            <a:picLocks noChangeAspect="1"/>
          </p:cNvPicPr>
          <p:nvPr/>
        </p:nvPicPr>
        <p:blipFill>
          <a:blip r:embed="rId7"/>
          <a:stretch>
            <a:fillRect/>
          </a:stretch>
        </p:blipFill>
        <p:spPr>
          <a:xfrm>
            <a:off x="5779008" y="1600200"/>
            <a:ext cx="868680" cy="868680"/>
          </a:xfrm>
          <a:prstGeom prst="rect">
            <a:avLst/>
          </a:prstGeom>
        </p:spPr>
      </p:pic>
      <p:pic>
        <p:nvPicPr>
          <p:cNvPr id="10" name="Picture 9" descr="00686.jpg"/>
          <p:cNvPicPr>
            <a:picLocks noChangeAspect="1"/>
          </p:cNvPicPr>
          <p:nvPr/>
        </p:nvPicPr>
        <p:blipFill>
          <a:blip r:embed="rId8"/>
          <a:stretch>
            <a:fillRect/>
          </a:stretch>
        </p:blipFill>
        <p:spPr>
          <a:xfrm>
            <a:off x="6720840" y="1600200"/>
            <a:ext cx="868680" cy="868680"/>
          </a:xfrm>
          <a:prstGeom prst="rect">
            <a:avLst/>
          </a:prstGeom>
        </p:spPr>
      </p:pic>
      <p:sp>
        <p:nvSpPr>
          <p:cNvPr id="11" name="TextBox 10"/>
          <p:cNvSpPr txBox="1"/>
          <p:nvPr/>
        </p:nvSpPr>
        <p:spPr>
          <a:xfrm>
            <a:off x="548640" y="2542032"/>
            <a:ext cx="1463040" cy="868680"/>
          </a:xfrm>
          <a:prstGeom prst="rect">
            <a:avLst/>
          </a:prstGeom>
          <a:noFill/>
        </p:spPr>
        <p:txBody>
          <a:bodyPr wrap="square" lIns="0" rIns="0" tIns="0" bIns="0" anchor="ctr">
            <a:spAutoFit/>
          </a:bodyPr>
          <a:lstStyle/>
          <a:p>
            <a:pPr algn="l">
              <a:spcAft>
                <a:spcPts val="400"/>
              </a:spcAft>
            </a:pPr>
            <a:r>
              <a:rPr sz="1400" b="1">
                <a:solidFill>
                  <a:srgbClr val="A39A90"/>
                </a:solidFill>
                <a:latin typeface="Calibri"/>
              </a:rPr>
              <a:t>paysage</a:t>
            </a:r>
          </a:p>
        </p:txBody>
      </p:sp>
      <p:pic>
        <p:nvPicPr>
          <p:cNvPr id="12" name="Picture 11" descr="01082.jpg"/>
          <p:cNvPicPr>
            <a:picLocks noChangeAspect="1"/>
          </p:cNvPicPr>
          <p:nvPr/>
        </p:nvPicPr>
        <p:blipFill>
          <a:blip r:embed="rId9"/>
          <a:stretch>
            <a:fillRect/>
          </a:stretch>
        </p:blipFill>
        <p:spPr>
          <a:xfrm>
            <a:off x="2011680" y="2542032"/>
            <a:ext cx="868680" cy="868680"/>
          </a:xfrm>
          <a:prstGeom prst="rect">
            <a:avLst/>
          </a:prstGeom>
        </p:spPr>
      </p:pic>
      <p:pic>
        <p:nvPicPr>
          <p:cNvPr id="13" name="Picture 12" descr="00445.jpg"/>
          <p:cNvPicPr>
            <a:picLocks noChangeAspect="1"/>
          </p:cNvPicPr>
          <p:nvPr/>
        </p:nvPicPr>
        <p:blipFill>
          <a:blip r:embed="rId10"/>
          <a:stretch>
            <a:fillRect/>
          </a:stretch>
        </p:blipFill>
        <p:spPr>
          <a:xfrm>
            <a:off x="2953512" y="2542032"/>
            <a:ext cx="868680" cy="868680"/>
          </a:xfrm>
          <a:prstGeom prst="rect">
            <a:avLst/>
          </a:prstGeom>
        </p:spPr>
      </p:pic>
      <p:pic>
        <p:nvPicPr>
          <p:cNvPr id="14" name="Picture 13" descr="01033.jpg"/>
          <p:cNvPicPr>
            <a:picLocks noChangeAspect="1"/>
          </p:cNvPicPr>
          <p:nvPr/>
        </p:nvPicPr>
        <p:blipFill>
          <a:blip r:embed="rId11"/>
          <a:stretch>
            <a:fillRect/>
          </a:stretch>
        </p:blipFill>
        <p:spPr>
          <a:xfrm>
            <a:off x="3895344" y="2542032"/>
            <a:ext cx="868680" cy="868680"/>
          </a:xfrm>
          <a:prstGeom prst="rect">
            <a:avLst/>
          </a:prstGeom>
        </p:spPr>
      </p:pic>
      <p:pic>
        <p:nvPicPr>
          <p:cNvPr id="15" name="Picture 14" descr="01545.jpg"/>
          <p:cNvPicPr>
            <a:picLocks noChangeAspect="1"/>
          </p:cNvPicPr>
          <p:nvPr/>
        </p:nvPicPr>
        <p:blipFill>
          <a:blip r:embed="rId12"/>
          <a:stretch>
            <a:fillRect/>
          </a:stretch>
        </p:blipFill>
        <p:spPr>
          <a:xfrm>
            <a:off x="4837176" y="2542032"/>
            <a:ext cx="868680" cy="868680"/>
          </a:xfrm>
          <a:prstGeom prst="rect">
            <a:avLst/>
          </a:prstGeom>
        </p:spPr>
      </p:pic>
      <p:pic>
        <p:nvPicPr>
          <p:cNvPr id="16" name="Picture 15" descr="01096.jpg"/>
          <p:cNvPicPr>
            <a:picLocks noChangeAspect="1"/>
          </p:cNvPicPr>
          <p:nvPr/>
        </p:nvPicPr>
        <p:blipFill>
          <a:blip r:embed="rId13"/>
          <a:stretch>
            <a:fillRect/>
          </a:stretch>
        </p:blipFill>
        <p:spPr>
          <a:xfrm>
            <a:off x="5779008" y="2542032"/>
            <a:ext cx="868680" cy="868680"/>
          </a:xfrm>
          <a:prstGeom prst="rect">
            <a:avLst/>
          </a:prstGeom>
        </p:spPr>
      </p:pic>
      <p:pic>
        <p:nvPicPr>
          <p:cNvPr id="17" name="Picture 16" descr="02088.jpg"/>
          <p:cNvPicPr>
            <a:picLocks noChangeAspect="1"/>
          </p:cNvPicPr>
          <p:nvPr/>
        </p:nvPicPr>
        <p:blipFill>
          <a:blip r:embed="rId14"/>
          <a:stretch>
            <a:fillRect/>
          </a:stretch>
        </p:blipFill>
        <p:spPr>
          <a:xfrm>
            <a:off x="6720840" y="2542032"/>
            <a:ext cx="868680" cy="868680"/>
          </a:xfrm>
          <a:prstGeom prst="rect">
            <a:avLst/>
          </a:prstGeom>
        </p:spPr>
      </p:pic>
      <p:sp>
        <p:nvSpPr>
          <p:cNvPr id="18" name="TextBox 17"/>
          <p:cNvSpPr txBox="1"/>
          <p:nvPr/>
        </p:nvSpPr>
        <p:spPr>
          <a:xfrm>
            <a:off x="548640" y="3483864"/>
            <a:ext cx="1463040" cy="868680"/>
          </a:xfrm>
          <a:prstGeom prst="rect">
            <a:avLst/>
          </a:prstGeom>
          <a:noFill/>
        </p:spPr>
        <p:txBody>
          <a:bodyPr wrap="square" lIns="0" rIns="0" tIns="0" bIns="0" anchor="ctr">
            <a:spAutoFit/>
          </a:bodyPr>
          <a:lstStyle/>
          <a:p>
            <a:pPr algn="l">
              <a:spcAft>
                <a:spcPts val="400"/>
              </a:spcAft>
            </a:pPr>
            <a:r>
              <a:rPr sz="1400" b="1">
                <a:solidFill>
                  <a:srgbClr val="A39A90"/>
                </a:solidFill>
                <a:latin typeface="Calibri"/>
              </a:rPr>
              <a:t>nature morte</a:t>
            </a:r>
          </a:p>
        </p:txBody>
      </p:sp>
      <p:pic>
        <p:nvPicPr>
          <p:cNvPr id="19" name="Picture 18" descr="02050.jpg"/>
          <p:cNvPicPr>
            <a:picLocks noChangeAspect="1"/>
          </p:cNvPicPr>
          <p:nvPr/>
        </p:nvPicPr>
        <p:blipFill>
          <a:blip r:embed="rId15"/>
          <a:stretch>
            <a:fillRect/>
          </a:stretch>
        </p:blipFill>
        <p:spPr>
          <a:xfrm>
            <a:off x="2011680" y="3483864"/>
            <a:ext cx="868680" cy="868680"/>
          </a:xfrm>
          <a:prstGeom prst="rect">
            <a:avLst/>
          </a:prstGeom>
        </p:spPr>
      </p:pic>
      <p:pic>
        <p:nvPicPr>
          <p:cNvPr id="20" name="Picture 19" descr="00044.jpg"/>
          <p:cNvPicPr>
            <a:picLocks noChangeAspect="1"/>
          </p:cNvPicPr>
          <p:nvPr/>
        </p:nvPicPr>
        <p:blipFill>
          <a:blip r:embed="rId16"/>
          <a:stretch>
            <a:fillRect/>
          </a:stretch>
        </p:blipFill>
        <p:spPr>
          <a:xfrm>
            <a:off x="2953512" y="3483864"/>
            <a:ext cx="868680" cy="868680"/>
          </a:xfrm>
          <a:prstGeom prst="rect">
            <a:avLst/>
          </a:prstGeom>
        </p:spPr>
      </p:pic>
      <p:pic>
        <p:nvPicPr>
          <p:cNvPr id="21" name="Picture 20" descr="00544.jpg"/>
          <p:cNvPicPr>
            <a:picLocks noChangeAspect="1"/>
          </p:cNvPicPr>
          <p:nvPr/>
        </p:nvPicPr>
        <p:blipFill>
          <a:blip r:embed="rId17"/>
          <a:stretch>
            <a:fillRect/>
          </a:stretch>
        </p:blipFill>
        <p:spPr>
          <a:xfrm>
            <a:off x="3895344" y="3483864"/>
            <a:ext cx="868680" cy="868680"/>
          </a:xfrm>
          <a:prstGeom prst="rect">
            <a:avLst/>
          </a:prstGeom>
        </p:spPr>
      </p:pic>
      <p:pic>
        <p:nvPicPr>
          <p:cNvPr id="22" name="Picture 21" descr="01685.jpg"/>
          <p:cNvPicPr>
            <a:picLocks noChangeAspect="1"/>
          </p:cNvPicPr>
          <p:nvPr/>
        </p:nvPicPr>
        <p:blipFill>
          <a:blip r:embed="rId18"/>
          <a:stretch>
            <a:fillRect/>
          </a:stretch>
        </p:blipFill>
        <p:spPr>
          <a:xfrm>
            <a:off x="4837176" y="3483864"/>
            <a:ext cx="868680" cy="868680"/>
          </a:xfrm>
          <a:prstGeom prst="rect">
            <a:avLst/>
          </a:prstGeom>
        </p:spPr>
      </p:pic>
      <p:pic>
        <p:nvPicPr>
          <p:cNvPr id="23" name="Picture 22" descr="00696.jpg"/>
          <p:cNvPicPr>
            <a:picLocks noChangeAspect="1"/>
          </p:cNvPicPr>
          <p:nvPr/>
        </p:nvPicPr>
        <p:blipFill>
          <a:blip r:embed="rId19"/>
          <a:stretch>
            <a:fillRect/>
          </a:stretch>
        </p:blipFill>
        <p:spPr>
          <a:xfrm>
            <a:off x="5779008" y="3483864"/>
            <a:ext cx="868680" cy="868680"/>
          </a:xfrm>
          <a:prstGeom prst="rect">
            <a:avLst/>
          </a:prstGeom>
        </p:spPr>
      </p:pic>
      <p:pic>
        <p:nvPicPr>
          <p:cNvPr id="24" name="Picture 23" descr="01480.jpg"/>
          <p:cNvPicPr>
            <a:picLocks noChangeAspect="1"/>
          </p:cNvPicPr>
          <p:nvPr/>
        </p:nvPicPr>
        <p:blipFill>
          <a:blip r:embed="rId20"/>
          <a:stretch>
            <a:fillRect/>
          </a:stretch>
        </p:blipFill>
        <p:spPr>
          <a:xfrm>
            <a:off x="6720840" y="3483864"/>
            <a:ext cx="868680" cy="868680"/>
          </a:xfrm>
          <a:prstGeom prst="rect">
            <a:avLst/>
          </a:prstGeom>
        </p:spPr>
      </p:pic>
      <p:sp>
        <p:nvSpPr>
          <p:cNvPr id="25" name="TextBox 24"/>
          <p:cNvSpPr txBox="1"/>
          <p:nvPr/>
        </p:nvSpPr>
        <p:spPr>
          <a:xfrm>
            <a:off x="548640" y="4425696"/>
            <a:ext cx="1463040" cy="868680"/>
          </a:xfrm>
          <a:prstGeom prst="rect">
            <a:avLst/>
          </a:prstGeom>
          <a:noFill/>
        </p:spPr>
        <p:txBody>
          <a:bodyPr wrap="square" lIns="0" rIns="0" tIns="0" bIns="0" anchor="ctr">
            <a:spAutoFit/>
          </a:bodyPr>
          <a:lstStyle/>
          <a:p>
            <a:pPr algn="l">
              <a:spcAft>
                <a:spcPts val="400"/>
              </a:spcAft>
            </a:pPr>
            <a:r>
              <a:rPr sz="1400" b="1">
                <a:solidFill>
                  <a:srgbClr val="A39A90"/>
                </a:solidFill>
                <a:latin typeface="Calibri"/>
              </a:rPr>
              <a:t>intérieur</a:t>
            </a:r>
          </a:p>
        </p:txBody>
      </p:sp>
      <p:pic>
        <p:nvPicPr>
          <p:cNvPr id="26" name="Picture 25" descr="01065.jpg"/>
          <p:cNvPicPr>
            <a:picLocks noChangeAspect="1"/>
          </p:cNvPicPr>
          <p:nvPr/>
        </p:nvPicPr>
        <p:blipFill>
          <a:blip r:embed="rId21"/>
          <a:stretch>
            <a:fillRect/>
          </a:stretch>
        </p:blipFill>
        <p:spPr>
          <a:xfrm>
            <a:off x="2011680" y="4425696"/>
            <a:ext cx="868680" cy="868680"/>
          </a:xfrm>
          <a:prstGeom prst="rect">
            <a:avLst/>
          </a:prstGeom>
        </p:spPr>
      </p:pic>
      <p:pic>
        <p:nvPicPr>
          <p:cNvPr id="27" name="Picture 26" descr="00399.jpg"/>
          <p:cNvPicPr>
            <a:picLocks noChangeAspect="1"/>
          </p:cNvPicPr>
          <p:nvPr/>
        </p:nvPicPr>
        <p:blipFill>
          <a:blip r:embed="rId22"/>
          <a:stretch>
            <a:fillRect/>
          </a:stretch>
        </p:blipFill>
        <p:spPr>
          <a:xfrm>
            <a:off x="2953512" y="4425696"/>
            <a:ext cx="868680" cy="868680"/>
          </a:xfrm>
          <a:prstGeom prst="rect">
            <a:avLst/>
          </a:prstGeom>
        </p:spPr>
      </p:pic>
      <p:pic>
        <p:nvPicPr>
          <p:cNvPr id="28" name="Picture 27" descr="00884.jpg"/>
          <p:cNvPicPr>
            <a:picLocks noChangeAspect="1"/>
          </p:cNvPicPr>
          <p:nvPr/>
        </p:nvPicPr>
        <p:blipFill>
          <a:blip r:embed="rId23"/>
          <a:stretch>
            <a:fillRect/>
          </a:stretch>
        </p:blipFill>
        <p:spPr>
          <a:xfrm>
            <a:off x="3895344" y="4425696"/>
            <a:ext cx="868680" cy="868680"/>
          </a:xfrm>
          <a:prstGeom prst="rect">
            <a:avLst/>
          </a:prstGeom>
        </p:spPr>
      </p:pic>
      <p:pic>
        <p:nvPicPr>
          <p:cNvPr id="29" name="Picture 28" descr="00596.jpg"/>
          <p:cNvPicPr>
            <a:picLocks noChangeAspect="1"/>
          </p:cNvPicPr>
          <p:nvPr/>
        </p:nvPicPr>
        <p:blipFill>
          <a:blip r:embed="rId24"/>
          <a:stretch>
            <a:fillRect/>
          </a:stretch>
        </p:blipFill>
        <p:spPr>
          <a:xfrm>
            <a:off x="4837176" y="4425696"/>
            <a:ext cx="868680" cy="868680"/>
          </a:xfrm>
          <a:prstGeom prst="rect">
            <a:avLst/>
          </a:prstGeom>
        </p:spPr>
      </p:pic>
      <p:pic>
        <p:nvPicPr>
          <p:cNvPr id="30" name="Picture 29" descr="01995.jpg"/>
          <p:cNvPicPr>
            <a:picLocks noChangeAspect="1"/>
          </p:cNvPicPr>
          <p:nvPr/>
        </p:nvPicPr>
        <p:blipFill>
          <a:blip r:embed="rId25"/>
          <a:stretch>
            <a:fillRect/>
          </a:stretch>
        </p:blipFill>
        <p:spPr>
          <a:xfrm>
            <a:off x="5779008" y="4425696"/>
            <a:ext cx="868680" cy="868680"/>
          </a:xfrm>
          <a:prstGeom prst="rect">
            <a:avLst/>
          </a:prstGeom>
        </p:spPr>
      </p:pic>
      <p:pic>
        <p:nvPicPr>
          <p:cNvPr id="31" name="Picture 30" descr="01736.jpg"/>
          <p:cNvPicPr>
            <a:picLocks noChangeAspect="1"/>
          </p:cNvPicPr>
          <p:nvPr/>
        </p:nvPicPr>
        <p:blipFill>
          <a:blip r:embed="rId26"/>
          <a:stretch>
            <a:fillRect/>
          </a:stretch>
        </p:blipFill>
        <p:spPr>
          <a:xfrm>
            <a:off x="6720840" y="4425696"/>
            <a:ext cx="868680" cy="868680"/>
          </a:xfrm>
          <a:prstGeom prst="rect">
            <a:avLst/>
          </a:prstGeom>
        </p:spPr>
      </p:pic>
      <p:sp>
        <p:nvSpPr>
          <p:cNvPr id="32" name="TextBox 31"/>
          <p:cNvSpPr txBox="1"/>
          <p:nvPr/>
        </p:nvSpPr>
        <p:spPr>
          <a:xfrm>
            <a:off x="548640" y="5367528"/>
            <a:ext cx="1463040" cy="868680"/>
          </a:xfrm>
          <a:prstGeom prst="rect">
            <a:avLst/>
          </a:prstGeom>
          <a:noFill/>
        </p:spPr>
        <p:txBody>
          <a:bodyPr wrap="square" lIns="0" rIns="0" tIns="0" bIns="0" anchor="ctr">
            <a:spAutoFit/>
          </a:bodyPr>
          <a:lstStyle/>
          <a:p>
            <a:pPr algn="l">
              <a:spcAft>
                <a:spcPts val="400"/>
              </a:spcAft>
            </a:pPr>
            <a:r>
              <a:rPr sz="1400" b="1">
                <a:solidFill>
                  <a:srgbClr val="A39A90"/>
                </a:solidFill>
                <a:latin typeface="Calibri"/>
              </a:rPr>
              <a:t>scène de genre</a:t>
            </a:r>
          </a:p>
        </p:txBody>
      </p:sp>
      <p:pic>
        <p:nvPicPr>
          <p:cNvPr id="33" name="Picture 32" descr="01547.jpg"/>
          <p:cNvPicPr>
            <a:picLocks noChangeAspect="1"/>
          </p:cNvPicPr>
          <p:nvPr/>
        </p:nvPicPr>
        <p:blipFill>
          <a:blip r:embed="rId27"/>
          <a:stretch>
            <a:fillRect/>
          </a:stretch>
        </p:blipFill>
        <p:spPr>
          <a:xfrm>
            <a:off x="2011680" y="5367528"/>
            <a:ext cx="868680" cy="868680"/>
          </a:xfrm>
          <a:prstGeom prst="rect">
            <a:avLst/>
          </a:prstGeom>
        </p:spPr>
      </p:pic>
      <p:pic>
        <p:nvPicPr>
          <p:cNvPr id="34" name="Picture 33" descr="01984.jpg"/>
          <p:cNvPicPr>
            <a:picLocks noChangeAspect="1"/>
          </p:cNvPicPr>
          <p:nvPr/>
        </p:nvPicPr>
        <p:blipFill>
          <a:blip r:embed="rId28"/>
          <a:stretch>
            <a:fillRect/>
          </a:stretch>
        </p:blipFill>
        <p:spPr>
          <a:xfrm>
            <a:off x="2953512" y="5367528"/>
            <a:ext cx="868680" cy="868680"/>
          </a:xfrm>
          <a:prstGeom prst="rect">
            <a:avLst/>
          </a:prstGeom>
        </p:spPr>
      </p:pic>
      <p:pic>
        <p:nvPicPr>
          <p:cNvPr id="35" name="Picture 34" descr="00477.jpg"/>
          <p:cNvPicPr>
            <a:picLocks noChangeAspect="1"/>
          </p:cNvPicPr>
          <p:nvPr/>
        </p:nvPicPr>
        <p:blipFill>
          <a:blip r:embed="rId29"/>
          <a:stretch>
            <a:fillRect/>
          </a:stretch>
        </p:blipFill>
        <p:spPr>
          <a:xfrm>
            <a:off x="3895344" y="5367528"/>
            <a:ext cx="868680" cy="868680"/>
          </a:xfrm>
          <a:prstGeom prst="rect">
            <a:avLst/>
          </a:prstGeom>
        </p:spPr>
      </p:pic>
      <p:pic>
        <p:nvPicPr>
          <p:cNvPr id="36" name="Picture 35" descr="01864.jpg"/>
          <p:cNvPicPr>
            <a:picLocks noChangeAspect="1"/>
          </p:cNvPicPr>
          <p:nvPr/>
        </p:nvPicPr>
        <p:blipFill>
          <a:blip r:embed="rId30"/>
          <a:stretch>
            <a:fillRect/>
          </a:stretch>
        </p:blipFill>
        <p:spPr>
          <a:xfrm>
            <a:off x="4837176" y="5367528"/>
            <a:ext cx="868680" cy="868680"/>
          </a:xfrm>
          <a:prstGeom prst="rect">
            <a:avLst/>
          </a:prstGeom>
        </p:spPr>
      </p:pic>
      <p:pic>
        <p:nvPicPr>
          <p:cNvPr id="37" name="Picture 36" descr="01614.jpg"/>
          <p:cNvPicPr>
            <a:picLocks noChangeAspect="1"/>
          </p:cNvPicPr>
          <p:nvPr/>
        </p:nvPicPr>
        <p:blipFill>
          <a:blip r:embed="rId31"/>
          <a:stretch>
            <a:fillRect/>
          </a:stretch>
        </p:blipFill>
        <p:spPr>
          <a:xfrm>
            <a:off x="5779008" y="5367528"/>
            <a:ext cx="868680" cy="868680"/>
          </a:xfrm>
          <a:prstGeom prst="rect">
            <a:avLst/>
          </a:prstGeom>
        </p:spPr>
      </p:pic>
      <p:pic>
        <p:nvPicPr>
          <p:cNvPr id="38" name="Picture 37" descr="00488.jpg"/>
          <p:cNvPicPr>
            <a:picLocks noChangeAspect="1"/>
          </p:cNvPicPr>
          <p:nvPr/>
        </p:nvPicPr>
        <p:blipFill>
          <a:blip r:embed="rId32"/>
          <a:stretch>
            <a:fillRect/>
          </a:stretch>
        </p:blipFill>
        <p:spPr>
          <a:xfrm>
            <a:off x="6720840" y="5367528"/>
            <a:ext cx="868680" cy="868680"/>
          </a:xfrm>
          <a:prstGeom prst="rect">
            <a:avLst/>
          </a:prstGeom>
        </p:spPr>
      </p:pic>
      <p:sp>
        <p:nvSpPr>
          <p:cNvPr id="39" name="Rounded Rectangle 38"/>
          <p:cNvSpPr/>
          <p:nvPr/>
        </p:nvSpPr>
        <p:spPr>
          <a:xfrm>
            <a:off x="7863840" y="1691640"/>
            <a:ext cx="3776472"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Formats variés → carré central</a:t>
            </a:r>
          </a:p>
        </p:txBody>
      </p:sp>
      <p:sp>
        <p:nvSpPr>
          <p:cNvPr id="40" name="Rounded Rectangle 39"/>
          <p:cNvSpPr/>
          <p:nvPr/>
        </p:nvSpPr>
        <p:spPr>
          <a:xfrm>
            <a:off x="7863840" y="2441448"/>
            <a:ext cx="3776472"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Tons sombres → couleurs gardées</a:t>
            </a:r>
          </a:p>
        </p:txBody>
      </p:sp>
      <p:sp>
        <p:nvSpPr>
          <p:cNvPr id="41" name="Rounded Rectangle 40"/>
          <p:cNvSpPr/>
          <p:nvPr/>
        </p:nvSpPr>
        <p:spPr>
          <a:xfrm>
            <a:off x="7863840" y="3191256"/>
            <a:ext cx="3776472"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Cadres visibles → bruit toléré</a:t>
            </a:r>
          </a:p>
        </p:txBody>
      </p:sp>
      <p:sp>
        <p:nvSpPr>
          <p:cNvPr id="42" name="Rounded Rectangle 41"/>
          <p:cNvSpPr/>
          <p:nvPr/>
        </p:nvSpPr>
        <p:spPr>
          <a:xfrm>
            <a:off x="7863840" y="3941064"/>
            <a:ext cx="3776472"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Haute résolution → 64×64</a:t>
            </a:r>
          </a:p>
        </p:txBody>
      </p:sp>
      <p:sp>
        <p:nvSpPr>
          <p:cNvPr id="43" name="Rounded Rectangle 42"/>
          <p:cNvSpPr/>
          <p:nvPr/>
        </p:nvSpPr>
        <p:spPr>
          <a:xfrm>
            <a:off x="7863840" y="4690872"/>
            <a:ext cx="3776472" cy="59436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Pixels → [−1, 1] (tanh)</a:t>
            </a:r>
          </a:p>
        </p:txBody>
      </p:sp>
      <p:sp>
        <p:nvSpPr>
          <p:cNvPr id="44" name="Rounded Rectangle 43"/>
          <p:cNvSpPr/>
          <p:nvPr/>
        </p:nvSpPr>
        <p:spPr>
          <a:xfrm>
            <a:off x="7863840" y="5440680"/>
            <a:ext cx="3776472"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Miroir horizontal seulement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PRÉTRAITEMENT DE DONNÉES</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Un bug révélé par les visuels</a:t>
            </a:r>
          </a:p>
        </p:txBody>
      </p:sp>
      <p:pic>
        <p:nvPicPr>
          <p:cNvPr id="4" name="Picture 3" descr="07_near_duplicate_check.png"/>
          <p:cNvPicPr>
            <a:picLocks noChangeAspect="1"/>
          </p:cNvPicPr>
          <p:nvPr/>
        </p:nvPicPr>
        <p:blipFill>
          <a:blip r:embed="rId3"/>
          <a:stretch>
            <a:fillRect/>
          </a:stretch>
        </p:blipFill>
        <p:spPr>
          <a:xfrm>
            <a:off x="548640" y="1600200"/>
            <a:ext cx="6949440" cy="3261084"/>
          </a:xfrm>
          <a:prstGeom prst="rect">
            <a:avLst/>
          </a:prstGeom>
        </p:spPr>
      </p:pic>
      <p:sp>
        <p:nvSpPr>
          <p:cNvPr id="5" name="TextBox 4"/>
          <p:cNvSpPr txBox="1"/>
          <p:nvPr/>
        </p:nvSpPr>
        <p:spPr>
          <a:xfrm>
            <a:off x="548640" y="4907004"/>
            <a:ext cx="6949440"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Contrôle des quasi-doublons · notebook 02_dataset</a:t>
            </a:r>
          </a:p>
        </p:txBody>
      </p:sp>
      <p:sp>
        <p:nvSpPr>
          <p:cNvPr id="6" name="TextBox 5"/>
          <p:cNvSpPr txBox="1"/>
          <p:nvPr/>
        </p:nvSpPr>
        <p:spPr>
          <a:xfrm>
            <a:off x="7772400" y="1783080"/>
            <a:ext cx="3840480" cy="868680"/>
          </a:xfrm>
          <a:prstGeom prst="rect">
            <a:avLst/>
          </a:prstGeom>
          <a:noFill/>
        </p:spPr>
        <p:txBody>
          <a:bodyPr wrap="square" lIns="0" rIns="0" tIns="0" bIns="0" anchor="t">
            <a:spAutoFit/>
          </a:bodyPr>
          <a:lstStyle/>
          <a:p>
            <a:pPr algn="ctr">
              <a:spcAft>
                <a:spcPts val="400"/>
              </a:spcAft>
            </a:pPr>
            <a:r>
              <a:rPr sz="4400" b="1">
                <a:solidFill>
                  <a:srgbClr val="A39A90"/>
                </a:solidFill>
                <a:latin typeface="Cambria"/>
              </a:rPr>
              <a:t>1 615</a:t>
            </a:r>
          </a:p>
        </p:txBody>
      </p:sp>
      <p:sp>
        <p:nvSpPr>
          <p:cNvPr id="7" name="TextBox 6"/>
          <p:cNvSpPr txBox="1"/>
          <p:nvPr/>
        </p:nvSpPr>
        <p:spPr>
          <a:xfrm>
            <a:off x="7772400" y="2697480"/>
            <a:ext cx="384048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paires candidates</a:t>
            </a:r>
          </a:p>
        </p:txBody>
      </p:sp>
      <p:sp>
        <p:nvSpPr>
          <p:cNvPr id="8" name="TextBox 7"/>
          <p:cNvSpPr txBox="1"/>
          <p:nvPr/>
        </p:nvSpPr>
        <p:spPr>
          <a:xfrm>
            <a:off x="7772400" y="3429000"/>
            <a:ext cx="3840480" cy="868680"/>
          </a:xfrm>
          <a:prstGeom prst="rect">
            <a:avLst/>
          </a:prstGeom>
          <a:noFill/>
        </p:spPr>
        <p:txBody>
          <a:bodyPr wrap="square" lIns="0" rIns="0" tIns="0" bIns="0" anchor="t">
            <a:spAutoFit/>
          </a:bodyPr>
          <a:lstStyle/>
          <a:p>
            <a:pPr algn="ctr">
              <a:spcAft>
                <a:spcPts val="400"/>
              </a:spcAft>
            </a:pPr>
            <a:r>
              <a:rPr sz="4400" b="1">
                <a:solidFill>
                  <a:srgbClr val="D4A84B"/>
                </a:solidFill>
                <a:latin typeface="Cambria"/>
              </a:rPr>
              <a:t>3</a:t>
            </a:r>
          </a:p>
        </p:txBody>
      </p:sp>
      <p:sp>
        <p:nvSpPr>
          <p:cNvPr id="9" name="TextBox 8"/>
          <p:cNvSpPr txBox="1"/>
          <p:nvPr/>
        </p:nvSpPr>
        <p:spPr>
          <a:xfrm>
            <a:off x="7772400" y="4343400"/>
            <a:ext cx="384048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vrai doublon</a:t>
            </a:r>
          </a:p>
        </p:txBody>
      </p:sp>
      <p:sp>
        <p:nvSpPr>
          <p:cNvPr id="10" name="Rounded Rectangle 9"/>
          <p:cNvSpPr/>
          <p:nvPr/>
        </p:nvSpPr>
        <p:spPr>
          <a:xfrm>
            <a:off x="7955279" y="5120640"/>
            <a:ext cx="347472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 confirmation par pixels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ARCHITECTURE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Architecture et fonctions de perte</a:t>
            </a:r>
          </a:p>
        </p:txBody>
      </p:sp>
      <p:sp>
        <p:nvSpPr>
          <p:cNvPr id="4" name="TextBox 3"/>
          <p:cNvSpPr txBox="1"/>
          <p:nvPr/>
        </p:nvSpPr>
        <p:spPr>
          <a:xfrm>
            <a:off x="548640" y="1508760"/>
            <a:ext cx="7315200" cy="411480"/>
          </a:xfrm>
          <a:prstGeom prst="rect">
            <a:avLst/>
          </a:prstGeom>
          <a:noFill/>
        </p:spPr>
        <p:txBody>
          <a:bodyPr wrap="square" lIns="0" rIns="0" tIns="0" bIns="0" anchor="ctr">
            <a:spAutoFit/>
          </a:bodyPr>
          <a:lstStyle/>
          <a:p>
            <a:pPr algn="l">
              <a:spcAft>
                <a:spcPts val="400"/>
              </a:spcAft>
            </a:pPr>
            <a:r>
              <a:rPr sz="1800" b="1">
                <a:solidFill>
                  <a:srgbClr val="D4A84B"/>
                </a:solidFill>
                <a:latin typeface="Calibri"/>
              </a:rPr>
              <a:t>Générateur : agrandit le bruit</a:t>
            </a:r>
          </a:p>
        </p:txBody>
      </p:sp>
      <p:sp>
        <p:nvSpPr>
          <p:cNvPr id="5" name="Rounded Rectangle 4"/>
          <p:cNvSpPr/>
          <p:nvPr/>
        </p:nvSpPr>
        <p:spPr>
          <a:xfrm>
            <a:off x="548640" y="1920240"/>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z</a:t>
            </a:r>
          </a:p>
          <a:p>
            <a:pPr algn="ctr">
              <a:spcAft>
                <a:spcPts val="0"/>
              </a:spcAft>
            </a:pPr>
            <a:r>
              <a:rPr sz="1100" b="0">
                <a:solidFill>
                  <a:srgbClr val="F2EDE6"/>
                </a:solidFill>
                <a:latin typeface="Calibri"/>
              </a:rPr>
              <a:t>100</a:t>
            </a:r>
          </a:p>
        </p:txBody>
      </p:sp>
      <p:sp>
        <p:nvSpPr>
          <p:cNvPr id="7" name="Right Arrow 6"/>
          <p:cNvSpPr/>
          <p:nvPr/>
        </p:nvSpPr>
        <p:spPr>
          <a:xfrm>
            <a:off x="1600200" y="2221992"/>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74520" y="1920240"/>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74520" y="1920240"/>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4×4</a:t>
            </a:r>
          </a:p>
          <a:p>
            <a:pPr algn="ctr">
              <a:spcAft>
                <a:spcPts val="0"/>
              </a:spcAft>
            </a:pPr>
            <a:r>
              <a:rPr sz="1100" b="0">
                <a:solidFill>
                  <a:srgbClr val="F2EDE6"/>
                </a:solidFill>
                <a:latin typeface="Calibri"/>
              </a:rPr>
              <a:t>512</a:t>
            </a:r>
          </a:p>
        </p:txBody>
      </p:sp>
      <p:sp>
        <p:nvSpPr>
          <p:cNvPr id="10" name="Right Arrow 9"/>
          <p:cNvSpPr/>
          <p:nvPr/>
        </p:nvSpPr>
        <p:spPr>
          <a:xfrm>
            <a:off x="2926080" y="2221992"/>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00400" y="1920240"/>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0" y="1920240"/>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8×8</a:t>
            </a:r>
          </a:p>
          <a:p>
            <a:pPr algn="ctr">
              <a:spcAft>
                <a:spcPts val="0"/>
              </a:spcAft>
            </a:pPr>
            <a:r>
              <a:rPr sz="1100" b="0">
                <a:solidFill>
                  <a:srgbClr val="F2EDE6"/>
                </a:solidFill>
                <a:latin typeface="Calibri"/>
              </a:rPr>
              <a:t>256</a:t>
            </a:r>
          </a:p>
        </p:txBody>
      </p:sp>
      <p:sp>
        <p:nvSpPr>
          <p:cNvPr id="13" name="Right Arrow 12"/>
          <p:cNvSpPr/>
          <p:nvPr/>
        </p:nvSpPr>
        <p:spPr>
          <a:xfrm>
            <a:off x="4251960" y="2221992"/>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26280" y="1920240"/>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920240"/>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16×16</a:t>
            </a:r>
          </a:p>
          <a:p>
            <a:pPr algn="ctr">
              <a:spcAft>
                <a:spcPts val="0"/>
              </a:spcAft>
            </a:pPr>
            <a:r>
              <a:rPr sz="1100" b="0">
                <a:solidFill>
                  <a:srgbClr val="F2EDE6"/>
                </a:solidFill>
                <a:latin typeface="Calibri"/>
              </a:rPr>
              <a:t>128</a:t>
            </a:r>
          </a:p>
        </p:txBody>
      </p:sp>
      <p:sp>
        <p:nvSpPr>
          <p:cNvPr id="16" name="Right Arrow 15"/>
          <p:cNvSpPr/>
          <p:nvPr/>
        </p:nvSpPr>
        <p:spPr>
          <a:xfrm>
            <a:off x="5577840" y="2221992"/>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852160" y="1920240"/>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0" y="1920240"/>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32×32</a:t>
            </a:r>
          </a:p>
          <a:p>
            <a:pPr algn="ctr">
              <a:spcAft>
                <a:spcPts val="0"/>
              </a:spcAft>
            </a:pPr>
            <a:r>
              <a:rPr sz="1100" b="0">
                <a:solidFill>
                  <a:srgbClr val="F2EDE6"/>
                </a:solidFill>
                <a:latin typeface="Calibri"/>
              </a:rPr>
              <a:t>64</a:t>
            </a:r>
          </a:p>
        </p:txBody>
      </p:sp>
      <p:sp>
        <p:nvSpPr>
          <p:cNvPr id="19" name="Right Arrow 18"/>
          <p:cNvSpPr/>
          <p:nvPr/>
        </p:nvSpPr>
        <p:spPr>
          <a:xfrm>
            <a:off x="6903720" y="2221992"/>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178040" y="1920240"/>
            <a:ext cx="1024128" cy="868680"/>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78040" y="1920240"/>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64×64</a:t>
            </a:r>
          </a:p>
          <a:p>
            <a:pPr algn="ctr">
              <a:spcAft>
                <a:spcPts val="0"/>
              </a:spcAft>
            </a:pPr>
            <a:r>
              <a:rPr sz="1100" b="0">
                <a:solidFill>
                  <a:srgbClr val="F2EDE6"/>
                </a:solidFill>
                <a:latin typeface="Calibri"/>
              </a:rPr>
              <a:t>3 · tanh</a:t>
            </a:r>
          </a:p>
        </p:txBody>
      </p:sp>
      <p:sp>
        <p:nvSpPr>
          <p:cNvPr id="22" name="TextBox 21"/>
          <p:cNvSpPr txBox="1"/>
          <p:nvPr/>
        </p:nvSpPr>
        <p:spPr>
          <a:xfrm>
            <a:off x="548640" y="2852928"/>
            <a:ext cx="7498079" cy="320040"/>
          </a:xfrm>
          <a:prstGeom prst="rect">
            <a:avLst/>
          </a:prstGeom>
          <a:noFill/>
        </p:spPr>
        <p:txBody>
          <a:bodyPr wrap="square" lIns="0" rIns="0" tIns="0" bIns="0" anchor="t">
            <a:spAutoFit/>
          </a:bodyPr>
          <a:lstStyle/>
          <a:p>
            <a:pPr algn="l">
              <a:spcAft>
                <a:spcPts val="400"/>
              </a:spcAft>
            </a:pPr>
            <a:r>
              <a:rPr sz="1200" b="0">
                <a:solidFill>
                  <a:srgbClr val="A39A90"/>
                </a:solidFill>
                <a:latin typeface="Calibri"/>
              </a:rPr>
              <a:t>Convolutions transposées (pas 2) · BatchNorm · ReLU · sortie tanh dans [−1, 1]</a:t>
            </a:r>
          </a:p>
        </p:txBody>
      </p:sp>
      <p:sp>
        <p:nvSpPr>
          <p:cNvPr id="23" name="TextBox 22"/>
          <p:cNvSpPr txBox="1"/>
          <p:nvPr/>
        </p:nvSpPr>
        <p:spPr>
          <a:xfrm>
            <a:off x="548640" y="3337559"/>
            <a:ext cx="7315200" cy="411480"/>
          </a:xfrm>
          <a:prstGeom prst="rect">
            <a:avLst/>
          </a:prstGeom>
          <a:noFill/>
        </p:spPr>
        <p:txBody>
          <a:bodyPr wrap="square" lIns="0" rIns="0" tIns="0" bIns="0" anchor="ctr">
            <a:spAutoFit/>
          </a:bodyPr>
          <a:lstStyle/>
          <a:p>
            <a:pPr algn="l">
              <a:spcAft>
                <a:spcPts val="400"/>
              </a:spcAft>
            </a:pPr>
            <a:r>
              <a:rPr sz="1800" b="1">
                <a:solidFill>
                  <a:srgbClr val="D4A84B"/>
                </a:solidFill>
                <a:latin typeface="Calibri"/>
              </a:rPr>
              <a:t>Discriminateur : le chemin inverse</a:t>
            </a:r>
          </a:p>
        </p:txBody>
      </p:sp>
      <p:sp>
        <p:nvSpPr>
          <p:cNvPr id="24" name="Rounded Rectangle 23"/>
          <p:cNvSpPr/>
          <p:nvPr/>
        </p:nvSpPr>
        <p:spPr>
          <a:xfrm>
            <a:off x="548640" y="3749039"/>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49039"/>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64×64</a:t>
            </a:r>
          </a:p>
          <a:p>
            <a:pPr algn="ctr">
              <a:spcAft>
                <a:spcPts val="0"/>
              </a:spcAft>
            </a:pPr>
            <a:r>
              <a:rPr sz="1100" b="0">
                <a:solidFill>
                  <a:srgbClr val="F2EDE6"/>
                </a:solidFill>
                <a:latin typeface="Calibri"/>
              </a:rPr>
              <a:t>3</a:t>
            </a:r>
          </a:p>
        </p:txBody>
      </p:sp>
      <p:sp>
        <p:nvSpPr>
          <p:cNvPr id="26" name="Right Arrow 25"/>
          <p:cNvSpPr/>
          <p:nvPr/>
        </p:nvSpPr>
        <p:spPr>
          <a:xfrm>
            <a:off x="1600200" y="4050791"/>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874520" y="3749039"/>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74520" y="3749039"/>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32×32</a:t>
            </a:r>
          </a:p>
          <a:p>
            <a:pPr algn="ctr">
              <a:spcAft>
                <a:spcPts val="0"/>
              </a:spcAft>
            </a:pPr>
            <a:r>
              <a:rPr sz="1100" b="0">
                <a:solidFill>
                  <a:srgbClr val="F2EDE6"/>
                </a:solidFill>
                <a:latin typeface="Calibri"/>
              </a:rPr>
              <a:t>64</a:t>
            </a:r>
          </a:p>
        </p:txBody>
      </p:sp>
      <p:sp>
        <p:nvSpPr>
          <p:cNvPr id="29" name="Right Arrow 28"/>
          <p:cNvSpPr/>
          <p:nvPr/>
        </p:nvSpPr>
        <p:spPr>
          <a:xfrm>
            <a:off x="2926080" y="4050791"/>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3200400" y="3749039"/>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0" y="3749039"/>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16×16</a:t>
            </a:r>
          </a:p>
          <a:p>
            <a:pPr algn="ctr">
              <a:spcAft>
                <a:spcPts val="0"/>
              </a:spcAft>
            </a:pPr>
            <a:r>
              <a:rPr sz="1100" b="0">
                <a:solidFill>
                  <a:srgbClr val="F2EDE6"/>
                </a:solidFill>
                <a:latin typeface="Calibri"/>
              </a:rPr>
              <a:t>128</a:t>
            </a:r>
          </a:p>
        </p:txBody>
      </p:sp>
      <p:sp>
        <p:nvSpPr>
          <p:cNvPr id="32" name="Right Arrow 31"/>
          <p:cNvSpPr/>
          <p:nvPr/>
        </p:nvSpPr>
        <p:spPr>
          <a:xfrm>
            <a:off x="4251960" y="4050791"/>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526280" y="3749039"/>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26280" y="3749039"/>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8×8</a:t>
            </a:r>
          </a:p>
          <a:p>
            <a:pPr algn="ctr">
              <a:spcAft>
                <a:spcPts val="0"/>
              </a:spcAft>
            </a:pPr>
            <a:r>
              <a:rPr sz="1100" b="0">
                <a:solidFill>
                  <a:srgbClr val="F2EDE6"/>
                </a:solidFill>
                <a:latin typeface="Calibri"/>
              </a:rPr>
              <a:t>256</a:t>
            </a:r>
          </a:p>
        </p:txBody>
      </p:sp>
      <p:sp>
        <p:nvSpPr>
          <p:cNvPr id="35" name="Right Arrow 34"/>
          <p:cNvSpPr/>
          <p:nvPr/>
        </p:nvSpPr>
        <p:spPr>
          <a:xfrm>
            <a:off x="5577840" y="4050791"/>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852160" y="3749039"/>
            <a:ext cx="1024128" cy="868680"/>
          </a:xfrm>
          <a:prstGeom prst="roundRect">
            <a:avLst>
              <a:gd name="adj" fmla="val 6000"/>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3749039"/>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4×4</a:t>
            </a:r>
          </a:p>
          <a:p>
            <a:pPr algn="ctr">
              <a:spcAft>
                <a:spcPts val="0"/>
              </a:spcAft>
            </a:pPr>
            <a:r>
              <a:rPr sz="1100" b="0">
                <a:solidFill>
                  <a:srgbClr val="F2EDE6"/>
                </a:solidFill>
                <a:latin typeface="Calibri"/>
              </a:rPr>
              <a:t>512</a:t>
            </a:r>
          </a:p>
        </p:txBody>
      </p:sp>
      <p:sp>
        <p:nvSpPr>
          <p:cNvPr id="38" name="Right Arrow 37"/>
          <p:cNvSpPr/>
          <p:nvPr/>
        </p:nvSpPr>
        <p:spPr>
          <a:xfrm>
            <a:off x="6903720" y="4050791"/>
            <a:ext cx="246888" cy="256032"/>
          </a:xfrm>
          <a:prstGeom prst="rightArrow">
            <a:avLst/>
          </a:prstGeom>
          <a:solidFill>
            <a:srgbClr val="6E6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178040" y="3749039"/>
            <a:ext cx="1024128" cy="868680"/>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78040" y="3749039"/>
            <a:ext cx="1024128" cy="868680"/>
          </a:xfrm>
          <a:prstGeom prst="rect">
            <a:avLst/>
          </a:prstGeom>
          <a:noFill/>
        </p:spPr>
        <p:txBody>
          <a:bodyPr wrap="square" lIns="0" rIns="0" tIns="0" bIns="0" anchor="ctr">
            <a:spAutoFit/>
          </a:bodyPr>
          <a:lstStyle/>
          <a:p>
            <a:pPr algn="ctr">
              <a:spcAft>
                <a:spcPts val="0"/>
              </a:spcAft>
            </a:pPr>
            <a:r>
              <a:rPr sz="1500" b="1">
                <a:solidFill>
                  <a:srgbClr val="F2EDE6"/>
                </a:solidFill>
                <a:latin typeface="Calibri"/>
              </a:rPr>
              <a:t>1</a:t>
            </a:r>
          </a:p>
          <a:p>
            <a:pPr algn="ctr">
              <a:spcAft>
                <a:spcPts val="0"/>
              </a:spcAft>
            </a:pPr>
            <a:r>
              <a:rPr sz="1100" b="0">
                <a:solidFill>
                  <a:srgbClr val="F2EDE6"/>
                </a:solidFill>
                <a:latin typeface="Calibri"/>
              </a:rPr>
              <a:t>logit</a:t>
            </a:r>
          </a:p>
        </p:txBody>
      </p:sp>
      <p:sp>
        <p:nvSpPr>
          <p:cNvPr id="41" name="TextBox 40"/>
          <p:cNvSpPr txBox="1"/>
          <p:nvPr/>
        </p:nvSpPr>
        <p:spPr>
          <a:xfrm>
            <a:off x="548640" y="4681727"/>
            <a:ext cx="7498079" cy="320040"/>
          </a:xfrm>
          <a:prstGeom prst="rect">
            <a:avLst/>
          </a:prstGeom>
          <a:noFill/>
        </p:spPr>
        <p:txBody>
          <a:bodyPr wrap="square" lIns="0" rIns="0" tIns="0" bIns="0" anchor="t">
            <a:spAutoFit/>
          </a:bodyPr>
          <a:lstStyle/>
          <a:p>
            <a:pPr algn="l">
              <a:spcAft>
                <a:spcPts val="400"/>
              </a:spcAft>
            </a:pPr>
            <a:r>
              <a:rPr sz="1200" b="0">
                <a:solidFill>
                  <a:srgbClr val="A39A90"/>
                </a:solidFill>
                <a:latin typeface="Calibri"/>
              </a:rPr>
              <a:t>Convolutions (pas 2, sans pooling) · BatchNorm sauf 1re couche · LeakyReLU 0,2</a:t>
            </a:r>
          </a:p>
        </p:txBody>
      </p:sp>
      <p:sp>
        <p:nvSpPr>
          <p:cNvPr id="42" name="Rounded Rectangle 41"/>
          <p:cNvSpPr/>
          <p:nvPr/>
        </p:nvSpPr>
        <p:spPr>
          <a:xfrm>
            <a:off x="548640" y="5349240"/>
            <a:ext cx="7498079" cy="54864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128×128 : une couche de plus dans G et D · 12,8 M paramètres (G) contre 3,6 M</a:t>
            </a:r>
          </a:p>
        </p:txBody>
      </p:sp>
      <p:sp>
        <p:nvSpPr>
          <p:cNvPr id="43" name="Rounded Rectangle 42"/>
          <p:cNvSpPr/>
          <p:nvPr/>
        </p:nvSpPr>
        <p:spPr>
          <a:xfrm>
            <a:off x="8321040" y="1645920"/>
            <a:ext cx="3319272" cy="42519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03920" y="1783080"/>
            <a:ext cx="2926080" cy="411480"/>
          </a:xfrm>
          <a:prstGeom prst="rect">
            <a:avLst/>
          </a:prstGeom>
          <a:noFill/>
        </p:spPr>
        <p:txBody>
          <a:bodyPr wrap="square" lIns="0" rIns="0" tIns="0" bIns="0" anchor="ctr">
            <a:spAutoFit/>
          </a:bodyPr>
          <a:lstStyle/>
          <a:p>
            <a:pPr algn="l">
              <a:spcAft>
                <a:spcPts val="400"/>
              </a:spcAft>
            </a:pPr>
            <a:r>
              <a:rPr sz="2000" b="1">
                <a:solidFill>
                  <a:srgbClr val="D4A84B"/>
                </a:solidFill>
                <a:latin typeface="Calibri"/>
              </a:rPr>
              <a:t>Pertes</a:t>
            </a:r>
          </a:p>
        </p:txBody>
      </p:sp>
      <p:sp>
        <p:nvSpPr>
          <p:cNvPr id="45" name="Rounded Rectangle 44"/>
          <p:cNvSpPr/>
          <p:nvPr/>
        </p:nvSpPr>
        <p:spPr>
          <a:xfrm>
            <a:off x="8503920" y="2423160"/>
            <a:ext cx="2953512" cy="59436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BCE</a:t>
            </a:r>
          </a:p>
        </p:txBody>
      </p:sp>
      <p:sp>
        <p:nvSpPr>
          <p:cNvPr id="46" name="Rounded Rectangle 45"/>
          <p:cNvSpPr/>
          <p:nvPr/>
        </p:nvSpPr>
        <p:spPr>
          <a:xfrm>
            <a:off x="8503920" y="3246120"/>
            <a:ext cx="2953512"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D : vrai = 1, faux = 0</a:t>
            </a:r>
          </a:p>
        </p:txBody>
      </p:sp>
      <p:sp>
        <p:nvSpPr>
          <p:cNvPr id="47" name="Rounded Rectangle 46"/>
          <p:cNvSpPr/>
          <p:nvPr/>
        </p:nvSpPr>
        <p:spPr>
          <a:xfrm>
            <a:off x="8503920" y="4069080"/>
            <a:ext cx="2953512"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G : −log D(G(z))</a:t>
            </a:r>
          </a:p>
        </p:txBody>
      </p:sp>
      <p:sp>
        <p:nvSpPr>
          <p:cNvPr id="48" name="Rounded Rectangle 47"/>
          <p:cNvSpPr/>
          <p:nvPr/>
        </p:nvSpPr>
        <p:spPr>
          <a:xfrm>
            <a:off x="8503920" y="4892040"/>
            <a:ext cx="2953512" cy="59436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Plan B : WGAN-GP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ARCHITECTURE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Un DCGAN, avec les réglages du papier</a:t>
            </a:r>
          </a:p>
        </p:txBody>
      </p:sp>
      <p:sp>
        <p:nvSpPr>
          <p:cNvPr id="4" name="Rounded Rectangle 3"/>
          <p:cNvSpPr/>
          <p:nvPr/>
        </p:nvSpPr>
        <p:spPr>
          <a:xfrm>
            <a:off x="548640" y="1783080"/>
            <a:ext cx="2651760" cy="18288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57400"/>
            <a:ext cx="2651760" cy="868680"/>
          </a:xfrm>
          <a:prstGeom prst="rect">
            <a:avLst/>
          </a:prstGeom>
          <a:noFill/>
        </p:spPr>
        <p:txBody>
          <a:bodyPr wrap="square" lIns="0" rIns="0" tIns="0" bIns="0" anchor="t">
            <a:spAutoFit/>
          </a:bodyPr>
          <a:lstStyle/>
          <a:p>
            <a:pPr algn="ctr">
              <a:spcAft>
                <a:spcPts val="400"/>
              </a:spcAft>
            </a:pPr>
            <a:r>
              <a:rPr sz="3400" b="1">
                <a:solidFill>
                  <a:srgbClr val="D4A84B"/>
                </a:solidFill>
                <a:latin typeface="Cambria"/>
              </a:rPr>
              <a:t>DCGAN</a:t>
            </a:r>
          </a:p>
        </p:txBody>
      </p:sp>
      <p:sp>
        <p:nvSpPr>
          <p:cNvPr id="6" name="TextBox 5"/>
          <p:cNvSpPr txBox="1"/>
          <p:nvPr/>
        </p:nvSpPr>
        <p:spPr>
          <a:xfrm>
            <a:off x="548640" y="2971800"/>
            <a:ext cx="265176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Type</a:t>
            </a:r>
          </a:p>
        </p:txBody>
      </p:sp>
      <p:sp>
        <p:nvSpPr>
          <p:cNvPr id="7" name="Rounded Rectangle 6"/>
          <p:cNvSpPr/>
          <p:nvPr/>
        </p:nvSpPr>
        <p:spPr>
          <a:xfrm>
            <a:off x="3364992" y="1783080"/>
            <a:ext cx="2651760" cy="18288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64992" y="2057400"/>
            <a:ext cx="2651760" cy="868680"/>
          </a:xfrm>
          <a:prstGeom prst="rect">
            <a:avLst/>
          </a:prstGeom>
          <a:noFill/>
        </p:spPr>
        <p:txBody>
          <a:bodyPr wrap="square" lIns="0" rIns="0" tIns="0" bIns="0" anchor="t">
            <a:spAutoFit/>
          </a:bodyPr>
          <a:lstStyle/>
          <a:p>
            <a:pPr algn="ctr">
              <a:spcAft>
                <a:spcPts val="400"/>
              </a:spcAft>
            </a:pPr>
            <a:r>
              <a:rPr sz="3400" b="1">
                <a:solidFill>
                  <a:srgbClr val="D4A84B"/>
                </a:solidFill>
                <a:latin typeface="Cambria"/>
              </a:rPr>
              <a:t>Adam</a:t>
            </a:r>
          </a:p>
        </p:txBody>
      </p:sp>
      <p:sp>
        <p:nvSpPr>
          <p:cNvPr id="9" name="TextBox 8"/>
          <p:cNvSpPr txBox="1"/>
          <p:nvPr/>
        </p:nvSpPr>
        <p:spPr>
          <a:xfrm>
            <a:off x="3364992" y="2971800"/>
            <a:ext cx="265176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Optimiseur</a:t>
            </a:r>
          </a:p>
        </p:txBody>
      </p:sp>
      <p:sp>
        <p:nvSpPr>
          <p:cNvPr id="10" name="Rounded Rectangle 9"/>
          <p:cNvSpPr/>
          <p:nvPr/>
        </p:nvSpPr>
        <p:spPr>
          <a:xfrm>
            <a:off x="6181344" y="1783080"/>
            <a:ext cx="2651760" cy="18288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1344" y="2057400"/>
            <a:ext cx="2651760" cy="868680"/>
          </a:xfrm>
          <a:prstGeom prst="rect">
            <a:avLst/>
          </a:prstGeom>
          <a:noFill/>
        </p:spPr>
        <p:txBody>
          <a:bodyPr wrap="square" lIns="0" rIns="0" tIns="0" bIns="0" anchor="t">
            <a:spAutoFit/>
          </a:bodyPr>
          <a:lstStyle/>
          <a:p>
            <a:pPr algn="ctr">
              <a:spcAft>
                <a:spcPts val="400"/>
              </a:spcAft>
            </a:pPr>
            <a:r>
              <a:rPr sz="3400" b="1">
                <a:solidFill>
                  <a:srgbClr val="D4A84B"/>
                </a:solidFill>
                <a:latin typeface="Cambria"/>
              </a:rPr>
              <a:t>0,0002</a:t>
            </a:r>
          </a:p>
        </p:txBody>
      </p:sp>
      <p:sp>
        <p:nvSpPr>
          <p:cNvPr id="12" name="TextBox 11"/>
          <p:cNvSpPr txBox="1"/>
          <p:nvPr/>
        </p:nvSpPr>
        <p:spPr>
          <a:xfrm>
            <a:off x="6181344" y="2971800"/>
            <a:ext cx="265176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Taux d'apprentissage</a:t>
            </a:r>
          </a:p>
        </p:txBody>
      </p:sp>
      <p:sp>
        <p:nvSpPr>
          <p:cNvPr id="13" name="Rounded Rectangle 12"/>
          <p:cNvSpPr/>
          <p:nvPr/>
        </p:nvSpPr>
        <p:spPr>
          <a:xfrm>
            <a:off x="8997696" y="1783080"/>
            <a:ext cx="2651760" cy="18288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97696" y="2057400"/>
            <a:ext cx="2651760" cy="868680"/>
          </a:xfrm>
          <a:prstGeom prst="rect">
            <a:avLst/>
          </a:prstGeom>
          <a:noFill/>
        </p:spPr>
        <p:txBody>
          <a:bodyPr wrap="square" lIns="0" rIns="0" tIns="0" bIns="0" anchor="t">
            <a:spAutoFit/>
          </a:bodyPr>
          <a:lstStyle/>
          <a:p>
            <a:pPr algn="ctr">
              <a:spcAft>
                <a:spcPts val="400"/>
              </a:spcAft>
            </a:pPr>
            <a:r>
              <a:rPr sz="3400" b="1">
                <a:solidFill>
                  <a:srgbClr val="D4A84B"/>
                </a:solidFill>
                <a:latin typeface="Cambria"/>
              </a:rPr>
              <a:t>0,5</a:t>
            </a:r>
          </a:p>
        </p:txBody>
      </p:sp>
      <p:sp>
        <p:nvSpPr>
          <p:cNvPr id="15" name="TextBox 14"/>
          <p:cNvSpPr txBox="1"/>
          <p:nvPr/>
        </p:nvSpPr>
        <p:spPr>
          <a:xfrm>
            <a:off x="8997696" y="2971800"/>
            <a:ext cx="265176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β1</a:t>
            </a:r>
          </a:p>
        </p:txBody>
      </p:sp>
      <p:sp>
        <p:nvSpPr>
          <p:cNvPr id="16" name="Rounded Rectangle 15"/>
          <p:cNvSpPr/>
          <p:nvPr/>
        </p:nvSpPr>
        <p:spPr>
          <a:xfrm>
            <a:off x="548640" y="3886200"/>
            <a:ext cx="2651760" cy="18288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160520"/>
            <a:ext cx="2651760" cy="868680"/>
          </a:xfrm>
          <a:prstGeom prst="rect">
            <a:avLst/>
          </a:prstGeom>
          <a:noFill/>
        </p:spPr>
        <p:txBody>
          <a:bodyPr wrap="square" lIns="0" rIns="0" tIns="0" bIns="0" anchor="t">
            <a:spAutoFit/>
          </a:bodyPr>
          <a:lstStyle/>
          <a:p>
            <a:pPr algn="ctr">
              <a:spcAft>
                <a:spcPts val="400"/>
              </a:spcAft>
            </a:pPr>
            <a:r>
              <a:rPr sz="3400" b="1">
                <a:solidFill>
                  <a:srgbClr val="D4A84B"/>
                </a:solidFill>
                <a:latin typeface="Cambria"/>
              </a:rPr>
              <a:t>128</a:t>
            </a:r>
          </a:p>
        </p:txBody>
      </p:sp>
      <p:sp>
        <p:nvSpPr>
          <p:cNvPr id="18" name="TextBox 17"/>
          <p:cNvSpPr txBox="1"/>
          <p:nvPr/>
        </p:nvSpPr>
        <p:spPr>
          <a:xfrm>
            <a:off x="548640" y="5074920"/>
            <a:ext cx="265176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Lot</a:t>
            </a:r>
          </a:p>
        </p:txBody>
      </p:sp>
      <p:sp>
        <p:nvSpPr>
          <p:cNvPr id="19" name="Rounded Rectangle 18"/>
          <p:cNvSpPr/>
          <p:nvPr/>
        </p:nvSpPr>
        <p:spPr>
          <a:xfrm>
            <a:off x="3364992" y="3886200"/>
            <a:ext cx="2651760" cy="18288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64992" y="4160520"/>
            <a:ext cx="2651760" cy="868680"/>
          </a:xfrm>
          <a:prstGeom prst="rect">
            <a:avLst/>
          </a:prstGeom>
          <a:noFill/>
        </p:spPr>
        <p:txBody>
          <a:bodyPr wrap="square" lIns="0" rIns="0" tIns="0" bIns="0" anchor="t">
            <a:spAutoFit/>
          </a:bodyPr>
          <a:lstStyle/>
          <a:p>
            <a:pPr algn="ctr">
              <a:spcAft>
                <a:spcPts val="400"/>
              </a:spcAft>
            </a:pPr>
            <a:r>
              <a:rPr sz="3400" b="1">
                <a:solidFill>
                  <a:srgbClr val="D4A84B"/>
                </a:solidFill>
                <a:latin typeface="Cambria"/>
              </a:rPr>
              <a:t>100</a:t>
            </a:r>
          </a:p>
        </p:txBody>
      </p:sp>
      <p:sp>
        <p:nvSpPr>
          <p:cNvPr id="21" name="TextBox 20"/>
          <p:cNvSpPr txBox="1"/>
          <p:nvPr/>
        </p:nvSpPr>
        <p:spPr>
          <a:xfrm>
            <a:off x="3364992" y="5074920"/>
            <a:ext cx="265176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Bruit z</a:t>
            </a:r>
          </a:p>
        </p:txBody>
      </p:sp>
      <p:sp>
        <p:nvSpPr>
          <p:cNvPr id="22" name="Rounded Rectangle 21"/>
          <p:cNvSpPr/>
          <p:nvPr/>
        </p:nvSpPr>
        <p:spPr>
          <a:xfrm>
            <a:off x="6181344" y="3886200"/>
            <a:ext cx="2651760" cy="18288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81344" y="4160520"/>
            <a:ext cx="2651760" cy="868680"/>
          </a:xfrm>
          <a:prstGeom prst="rect">
            <a:avLst/>
          </a:prstGeom>
          <a:noFill/>
        </p:spPr>
        <p:txBody>
          <a:bodyPr wrap="square" lIns="0" rIns="0" tIns="0" bIns="0" anchor="t">
            <a:spAutoFit/>
          </a:bodyPr>
          <a:lstStyle/>
          <a:p>
            <a:pPr algn="ctr">
              <a:spcAft>
                <a:spcPts val="400"/>
              </a:spcAft>
            </a:pPr>
            <a:r>
              <a:rPr sz="3400" b="1">
                <a:solidFill>
                  <a:srgbClr val="D4A84B"/>
                </a:solidFill>
                <a:latin typeface="Cambria"/>
              </a:rPr>
              <a:t>100</a:t>
            </a:r>
          </a:p>
        </p:txBody>
      </p:sp>
      <p:sp>
        <p:nvSpPr>
          <p:cNvPr id="24" name="TextBox 23"/>
          <p:cNvSpPr txBox="1"/>
          <p:nvPr/>
        </p:nvSpPr>
        <p:spPr>
          <a:xfrm>
            <a:off x="6181344" y="5074920"/>
            <a:ext cx="265176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Époques</a:t>
            </a:r>
          </a:p>
        </p:txBody>
      </p:sp>
      <p:sp>
        <p:nvSpPr>
          <p:cNvPr id="25" name="Rounded Rectangle 24"/>
          <p:cNvSpPr/>
          <p:nvPr/>
        </p:nvSpPr>
        <p:spPr>
          <a:xfrm>
            <a:off x="8997696" y="3886200"/>
            <a:ext cx="2651760" cy="182880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97696" y="4160520"/>
            <a:ext cx="2651760" cy="868680"/>
          </a:xfrm>
          <a:prstGeom prst="rect">
            <a:avLst/>
          </a:prstGeom>
          <a:noFill/>
        </p:spPr>
        <p:txBody>
          <a:bodyPr wrap="square" lIns="0" rIns="0" tIns="0" bIns="0" anchor="t">
            <a:spAutoFit/>
          </a:bodyPr>
          <a:lstStyle/>
          <a:p>
            <a:pPr algn="ctr">
              <a:spcAft>
                <a:spcPts val="400"/>
              </a:spcAft>
            </a:pPr>
            <a:r>
              <a:rPr sz="3400" b="1">
                <a:solidFill>
                  <a:srgbClr val="D4A84B"/>
                </a:solidFill>
                <a:latin typeface="Cambria"/>
              </a:rPr>
              <a:t>6 105</a:t>
            </a:r>
          </a:p>
        </p:txBody>
      </p:sp>
      <p:sp>
        <p:nvSpPr>
          <p:cNvPr id="27" name="TextBox 26"/>
          <p:cNvSpPr txBox="1"/>
          <p:nvPr/>
        </p:nvSpPr>
        <p:spPr>
          <a:xfrm>
            <a:off x="8997696" y="5074920"/>
            <a:ext cx="265176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Images d'entraînement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ARCHITECTURE</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Entraînement</a:t>
            </a:r>
          </a:p>
        </p:txBody>
      </p:sp>
      <p:sp>
        <p:nvSpPr>
          <p:cNvPr id="4" name="Rounded Rectangle 3"/>
          <p:cNvSpPr/>
          <p:nvPr/>
        </p:nvSpPr>
        <p:spPr>
          <a:xfrm>
            <a:off x="7680960" y="777240"/>
            <a:ext cx="3931920" cy="45720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baseline · tous genres · 6 105 images</a:t>
            </a:r>
          </a:p>
        </p:txBody>
      </p:sp>
      <p:pic>
        <p:nvPicPr>
          <p:cNvPr id="5" name="Picture 4" descr="losses.png"/>
          <p:cNvPicPr>
            <a:picLocks noChangeAspect="1"/>
          </p:cNvPicPr>
          <p:nvPr/>
        </p:nvPicPr>
        <p:blipFill>
          <a:blip r:embed="rId3"/>
          <a:stretch>
            <a:fillRect/>
          </a:stretch>
        </p:blipFill>
        <p:spPr>
          <a:xfrm>
            <a:off x="548640" y="1600200"/>
            <a:ext cx="5394960" cy="1888236"/>
          </a:xfrm>
          <a:prstGeom prst="rect">
            <a:avLst/>
          </a:prstGeom>
        </p:spPr>
      </p:pic>
      <p:sp>
        <p:nvSpPr>
          <p:cNvPr id="6" name="TextBox 5"/>
          <p:cNvSpPr txBox="1"/>
          <p:nvPr/>
        </p:nvSpPr>
        <p:spPr>
          <a:xfrm>
            <a:off x="548640" y="3534156"/>
            <a:ext cx="5394960"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Pertes de G et D</a:t>
            </a:r>
          </a:p>
        </p:txBody>
      </p:sp>
      <p:sp>
        <p:nvSpPr>
          <p:cNvPr id="7" name="Rounded Rectangle 6"/>
          <p:cNvSpPr/>
          <p:nvPr/>
        </p:nvSpPr>
        <p:spPr>
          <a:xfrm>
            <a:off x="548640" y="4160520"/>
            <a:ext cx="53949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Pertes qui oscillent : normal pour un GAN</a:t>
            </a:r>
          </a:p>
        </p:txBody>
      </p:sp>
      <p:sp>
        <p:nvSpPr>
          <p:cNvPr id="8" name="Rounded Rectangle 7"/>
          <p:cNvSpPr/>
          <p:nvPr/>
        </p:nvSpPr>
        <p:spPr>
          <a:xfrm>
            <a:off x="548640" y="4892040"/>
            <a:ext cx="539496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D(x) au-dessus de D(G(z)) : D garde l'avantage</a:t>
            </a:r>
          </a:p>
        </p:txBody>
      </p:sp>
      <p:pic>
        <p:nvPicPr>
          <p:cNvPr id="9" name="Picture 8" descr="progression.png"/>
          <p:cNvPicPr>
            <a:picLocks noChangeAspect="1"/>
          </p:cNvPicPr>
          <p:nvPr/>
        </p:nvPicPr>
        <p:blipFill>
          <a:blip r:embed="rId4"/>
          <a:stretch>
            <a:fillRect/>
          </a:stretch>
        </p:blipFill>
        <p:spPr>
          <a:xfrm>
            <a:off x="6257446" y="1600200"/>
            <a:ext cx="5270187" cy="4114800"/>
          </a:xfrm>
          <a:prstGeom prst="rect">
            <a:avLst/>
          </a:prstGeom>
        </p:spPr>
      </p:pic>
      <p:sp>
        <p:nvSpPr>
          <p:cNvPr id="10" name="TextBox 9"/>
          <p:cNvSpPr txBox="1"/>
          <p:nvPr/>
        </p:nvSpPr>
        <p:spPr>
          <a:xfrm>
            <a:off x="6257446" y="5760720"/>
            <a:ext cx="5270187"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Mêmes z, époque après époque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ÉVALUATION</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Évaluation du générateur</a:t>
            </a:r>
          </a:p>
        </p:txBody>
      </p:sp>
      <p:sp>
        <p:nvSpPr>
          <p:cNvPr id="4" name="Rounded Rectangle 3"/>
          <p:cNvSpPr/>
          <p:nvPr/>
        </p:nvSpPr>
        <p:spPr>
          <a:xfrm>
            <a:off x="7680960" y="777240"/>
            <a:ext cx="3931920" cy="45720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baseline · tous genres · 6 105 images</a:t>
            </a:r>
          </a:p>
        </p:txBody>
      </p:sp>
      <p:sp>
        <p:nvSpPr>
          <p:cNvPr id="5" name="Rounded Rectangle 4"/>
          <p:cNvSpPr/>
          <p:nvPr/>
        </p:nvSpPr>
        <p:spPr>
          <a:xfrm>
            <a:off x="548640" y="1691640"/>
            <a:ext cx="3840480" cy="1234440"/>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1645920" cy="1234440"/>
          </a:xfrm>
          <a:prstGeom prst="rect">
            <a:avLst/>
          </a:prstGeom>
          <a:noFill/>
        </p:spPr>
        <p:txBody>
          <a:bodyPr wrap="square" lIns="0" rIns="0" tIns="0" bIns="0" anchor="ctr">
            <a:spAutoFit/>
          </a:bodyPr>
          <a:lstStyle/>
          <a:p>
            <a:pPr algn="l">
              <a:spcAft>
                <a:spcPts val="400"/>
              </a:spcAft>
            </a:pPr>
            <a:r>
              <a:rPr sz="2000" b="1">
                <a:solidFill>
                  <a:srgbClr val="F2EDE6"/>
                </a:solidFill>
                <a:latin typeface="Calibri"/>
              </a:rPr>
              <a:t>FID</a:t>
            </a:r>
          </a:p>
          <a:p>
            <a:pPr algn="l">
              <a:spcAft>
                <a:spcPts val="400"/>
              </a:spcAft>
            </a:pPr>
            <a:r>
              <a:rPr sz="1300" b="0">
                <a:solidFill>
                  <a:srgbClr val="F2EDE6"/>
                </a:solidFill>
                <a:latin typeface="Calibri"/>
              </a:rPr>
              <a:t>généré vs réel</a:t>
            </a:r>
          </a:p>
        </p:txBody>
      </p:sp>
      <p:sp>
        <p:nvSpPr>
          <p:cNvPr id="7" name="TextBox 6"/>
          <p:cNvSpPr txBox="1"/>
          <p:nvPr/>
        </p:nvSpPr>
        <p:spPr>
          <a:xfrm>
            <a:off x="2377440" y="1691640"/>
            <a:ext cx="1828800" cy="1234440"/>
          </a:xfrm>
          <a:prstGeom prst="rect">
            <a:avLst/>
          </a:prstGeom>
          <a:noFill/>
        </p:spPr>
        <p:txBody>
          <a:bodyPr wrap="square" lIns="0" rIns="0" tIns="0" bIns="0" anchor="ctr">
            <a:spAutoFit/>
          </a:bodyPr>
          <a:lstStyle/>
          <a:p>
            <a:pPr algn="r">
              <a:spcAft>
                <a:spcPts val="400"/>
              </a:spcAft>
            </a:pPr>
            <a:r>
              <a:rPr sz="3600" b="1">
                <a:solidFill>
                  <a:srgbClr val="F2EDE6"/>
                </a:solidFill>
                <a:latin typeface="Cambria"/>
              </a:rPr>
              <a:t>210,8</a:t>
            </a:r>
          </a:p>
        </p:txBody>
      </p:sp>
      <p:sp>
        <p:nvSpPr>
          <p:cNvPr id="8" name="Rounded Rectangle 7"/>
          <p:cNvSpPr/>
          <p:nvPr/>
        </p:nvSpPr>
        <p:spPr>
          <a:xfrm>
            <a:off x="548640" y="3108960"/>
            <a:ext cx="3840480" cy="123444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08960"/>
            <a:ext cx="1645920" cy="1234440"/>
          </a:xfrm>
          <a:prstGeom prst="rect">
            <a:avLst/>
          </a:prstGeom>
          <a:noFill/>
        </p:spPr>
        <p:txBody>
          <a:bodyPr wrap="square" lIns="0" rIns="0" tIns="0" bIns="0" anchor="ctr">
            <a:spAutoFit/>
          </a:bodyPr>
          <a:lstStyle/>
          <a:p>
            <a:pPr algn="l">
              <a:spcAft>
                <a:spcPts val="400"/>
              </a:spcAft>
            </a:pPr>
            <a:r>
              <a:rPr sz="2000" b="1">
                <a:solidFill>
                  <a:srgbClr val="F2EDE6"/>
                </a:solidFill>
                <a:latin typeface="Calibri"/>
              </a:rPr>
              <a:t>FID réf.</a:t>
            </a:r>
          </a:p>
          <a:p>
            <a:pPr algn="l">
              <a:spcAft>
                <a:spcPts val="400"/>
              </a:spcAft>
            </a:pPr>
            <a:r>
              <a:rPr sz="1300" b="0">
                <a:solidFill>
                  <a:srgbClr val="A39A90"/>
                </a:solidFill>
                <a:latin typeface="Calibri"/>
              </a:rPr>
              <a:t>réel vs réel</a:t>
            </a:r>
          </a:p>
        </p:txBody>
      </p:sp>
      <p:sp>
        <p:nvSpPr>
          <p:cNvPr id="10" name="TextBox 9"/>
          <p:cNvSpPr txBox="1"/>
          <p:nvPr/>
        </p:nvSpPr>
        <p:spPr>
          <a:xfrm>
            <a:off x="2377440" y="3108960"/>
            <a:ext cx="1828800" cy="1234440"/>
          </a:xfrm>
          <a:prstGeom prst="rect">
            <a:avLst/>
          </a:prstGeom>
          <a:noFill/>
        </p:spPr>
        <p:txBody>
          <a:bodyPr wrap="square" lIns="0" rIns="0" tIns="0" bIns="0" anchor="ctr">
            <a:spAutoFit/>
          </a:bodyPr>
          <a:lstStyle/>
          <a:p>
            <a:pPr algn="r">
              <a:spcAft>
                <a:spcPts val="400"/>
              </a:spcAft>
            </a:pPr>
            <a:r>
              <a:rPr sz="3600" b="1">
                <a:solidFill>
                  <a:srgbClr val="D4A84B"/>
                </a:solidFill>
                <a:latin typeface="Cambria"/>
              </a:rPr>
              <a:t>62,4</a:t>
            </a:r>
          </a:p>
        </p:txBody>
      </p:sp>
      <p:sp>
        <p:nvSpPr>
          <p:cNvPr id="11" name="Rounded Rectangle 10"/>
          <p:cNvSpPr/>
          <p:nvPr/>
        </p:nvSpPr>
        <p:spPr>
          <a:xfrm>
            <a:off x="548640" y="4526280"/>
            <a:ext cx="3840480" cy="123444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526280"/>
            <a:ext cx="1645920" cy="1234440"/>
          </a:xfrm>
          <a:prstGeom prst="rect">
            <a:avLst/>
          </a:prstGeom>
          <a:noFill/>
        </p:spPr>
        <p:txBody>
          <a:bodyPr wrap="square" lIns="0" rIns="0" tIns="0" bIns="0" anchor="ctr">
            <a:spAutoFit/>
          </a:bodyPr>
          <a:lstStyle/>
          <a:p>
            <a:pPr algn="l">
              <a:spcAft>
                <a:spcPts val="400"/>
              </a:spcAft>
            </a:pPr>
            <a:r>
              <a:rPr sz="2000" b="1">
                <a:solidFill>
                  <a:srgbClr val="F2EDE6"/>
                </a:solidFill>
                <a:latin typeface="Calibri"/>
              </a:rPr>
              <a:t>KID</a:t>
            </a:r>
          </a:p>
          <a:p>
            <a:pPr algn="l">
              <a:spcAft>
                <a:spcPts val="400"/>
              </a:spcAft>
            </a:pPr>
            <a:r>
              <a:rPr sz="1300" b="0">
                <a:solidFill>
                  <a:srgbClr val="A39A90"/>
                </a:solidFill>
                <a:latin typeface="Calibri"/>
              </a:rPr>
              <a:t>généré vs réel</a:t>
            </a:r>
          </a:p>
        </p:txBody>
      </p:sp>
      <p:sp>
        <p:nvSpPr>
          <p:cNvPr id="13" name="TextBox 12"/>
          <p:cNvSpPr txBox="1"/>
          <p:nvPr/>
        </p:nvSpPr>
        <p:spPr>
          <a:xfrm>
            <a:off x="2377440" y="4526280"/>
            <a:ext cx="1828800" cy="1234440"/>
          </a:xfrm>
          <a:prstGeom prst="rect">
            <a:avLst/>
          </a:prstGeom>
          <a:noFill/>
        </p:spPr>
        <p:txBody>
          <a:bodyPr wrap="square" lIns="0" rIns="0" tIns="0" bIns="0" anchor="ctr">
            <a:spAutoFit/>
          </a:bodyPr>
          <a:lstStyle/>
          <a:p>
            <a:pPr algn="r">
              <a:spcAft>
                <a:spcPts val="400"/>
              </a:spcAft>
            </a:pPr>
            <a:r>
              <a:rPr sz="3600" b="1">
                <a:solidFill>
                  <a:srgbClr val="D4A84B"/>
                </a:solidFill>
                <a:latin typeface="Cambria"/>
              </a:rPr>
              <a:t>0,150</a:t>
            </a:r>
          </a:p>
        </p:txBody>
      </p:sp>
      <p:pic>
        <p:nvPicPr>
          <p:cNvPr id="14" name="Picture 13" descr="samples.png"/>
          <p:cNvPicPr>
            <a:picLocks noChangeAspect="1"/>
          </p:cNvPicPr>
          <p:nvPr/>
        </p:nvPicPr>
        <p:blipFill>
          <a:blip r:embed="rId3"/>
          <a:stretch>
            <a:fillRect/>
          </a:stretch>
        </p:blipFill>
        <p:spPr>
          <a:xfrm>
            <a:off x="4754880" y="1600200"/>
            <a:ext cx="3383280" cy="3383280"/>
          </a:xfrm>
          <a:prstGeom prst="rect">
            <a:avLst/>
          </a:prstGeom>
        </p:spPr>
      </p:pic>
      <p:sp>
        <p:nvSpPr>
          <p:cNvPr id="15" name="TextBox 14"/>
          <p:cNvSpPr txBox="1"/>
          <p:nvPr/>
        </p:nvSpPr>
        <p:spPr>
          <a:xfrm>
            <a:off x="4754880" y="5029200"/>
            <a:ext cx="3383280"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Images générées</a:t>
            </a:r>
          </a:p>
        </p:txBody>
      </p:sp>
      <p:pic>
        <p:nvPicPr>
          <p:cNvPr id="16" name="Picture 15" descr="nearest_neighbors.png"/>
          <p:cNvPicPr>
            <a:picLocks noChangeAspect="1"/>
          </p:cNvPicPr>
          <p:nvPr/>
        </p:nvPicPr>
        <p:blipFill>
          <a:blip r:embed="rId4"/>
          <a:stretch>
            <a:fillRect/>
          </a:stretch>
        </p:blipFill>
        <p:spPr>
          <a:xfrm>
            <a:off x="9272016" y="1600200"/>
            <a:ext cx="1371600" cy="4114800"/>
          </a:xfrm>
          <a:prstGeom prst="rect">
            <a:avLst/>
          </a:prstGeom>
        </p:spPr>
      </p:pic>
      <p:sp>
        <p:nvSpPr>
          <p:cNvPr id="17" name="TextBox 16"/>
          <p:cNvSpPr txBox="1"/>
          <p:nvPr/>
        </p:nvSpPr>
        <p:spPr>
          <a:xfrm>
            <a:off x="9272016" y="5760720"/>
            <a:ext cx="1371600"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Générée / plus proche réelle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ÉVALUATION</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De la première version à la baseline</a:t>
            </a:r>
          </a:p>
        </p:txBody>
      </p:sp>
      <p:sp>
        <p:nvSpPr>
          <p:cNvPr id="4" name="Rounded Rectangle 3"/>
          <p:cNvSpPr/>
          <p:nvPr/>
        </p:nvSpPr>
        <p:spPr>
          <a:xfrm>
            <a:off x="7680960" y="777240"/>
            <a:ext cx="3931920" cy="45720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même évaluation · 657 peintures</a:t>
            </a:r>
          </a:p>
        </p:txBody>
      </p:sp>
      <p:graphicFrame>
        <p:nvGraphicFramePr>
          <p:cNvPr id="5" name="Chart 4"/>
          <p:cNvGraphicFramePr>
            <a:graphicFrameLocks noGrp="1"/>
          </p:cNvGraphicFramePr>
          <p:nvPr/>
        </p:nvGraphicFramePr>
        <p:xfrm>
          <a:off x="548640" y="1600200"/>
          <a:ext cx="6035040" cy="4480560"/>
        </p:xfrm>
        <a:graphic>
          <a:graphicData uri="http://schemas.openxmlformats.org/drawingml/2006/chart">
            <c:chart xmlns:c="http://schemas.openxmlformats.org/drawingml/2006/chart" r:id="rId3"/>
          </a:graphicData>
        </a:graphic>
      </p:graphicFrame>
      <p:sp>
        <p:nvSpPr>
          <p:cNvPr id="6" name="TextBox 5"/>
          <p:cNvSpPr txBox="1"/>
          <p:nvPr/>
        </p:nvSpPr>
        <p:spPr>
          <a:xfrm>
            <a:off x="6766560" y="1783080"/>
            <a:ext cx="2377440" cy="868680"/>
          </a:xfrm>
          <a:prstGeom prst="rect">
            <a:avLst/>
          </a:prstGeom>
          <a:noFill/>
        </p:spPr>
        <p:txBody>
          <a:bodyPr wrap="square" lIns="0" rIns="0" tIns="0" bIns="0" anchor="t">
            <a:spAutoFit/>
          </a:bodyPr>
          <a:lstStyle/>
          <a:p>
            <a:pPr algn="ctr">
              <a:spcAft>
                <a:spcPts val="400"/>
              </a:spcAft>
            </a:pPr>
            <a:r>
              <a:rPr sz="4400" b="1">
                <a:solidFill>
                  <a:srgbClr val="D4A84B"/>
                </a:solidFill>
                <a:latin typeface="Cambria"/>
              </a:rPr>
              <a:t>−37%</a:t>
            </a:r>
          </a:p>
        </p:txBody>
      </p:sp>
      <p:sp>
        <p:nvSpPr>
          <p:cNvPr id="7" name="TextBox 6"/>
          <p:cNvSpPr txBox="1"/>
          <p:nvPr/>
        </p:nvSpPr>
        <p:spPr>
          <a:xfrm>
            <a:off x="6766560" y="2697480"/>
            <a:ext cx="237744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FID</a:t>
            </a:r>
          </a:p>
        </p:txBody>
      </p:sp>
      <p:sp>
        <p:nvSpPr>
          <p:cNvPr id="8" name="TextBox 7"/>
          <p:cNvSpPr txBox="1"/>
          <p:nvPr/>
        </p:nvSpPr>
        <p:spPr>
          <a:xfrm>
            <a:off x="9235440" y="1783080"/>
            <a:ext cx="2377440" cy="868680"/>
          </a:xfrm>
          <a:prstGeom prst="rect">
            <a:avLst/>
          </a:prstGeom>
          <a:noFill/>
        </p:spPr>
        <p:txBody>
          <a:bodyPr wrap="square" lIns="0" rIns="0" tIns="0" bIns="0" anchor="t">
            <a:spAutoFit/>
          </a:bodyPr>
          <a:lstStyle/>
          <a:p>
            <a:pPr algn="ctr">
              <a:spcAft>
                <a:spcPts val="400"/>
              </a:spcAft>
            </a:pPr>
            <a:r>
              <a:rPr sz="4400" b="1">
                <a:solidFill>
                  <a:srgbClr val="D4A84B"/>
                </a:solidFill>
                <a:latin typeface="Cambria"/>
              </a:rPr>
              <a:t>÷2</a:t>
            </a:r>
          </a:p>
        </p:txBody>
      </p:sp>
      <p:sp>
        <p:nvSpPr>
          <p:cNvPr id="9" name="TextBox 8"/>
          <p:cNvSpPr txBox="1"/>
          <p:nvPr/>
        </p:nvSpPr>
        <p:spPr>
          <a:xfrm>
            <a:off x="9235440" y="2697480"/>
            <a:ext cx="2377440" cy="457200"/>
          </a:xfrm>
          <a:prstGeom prst="rect">
            <a:avLst/>
          </a:prstGeom>
          <a:noFill/>
        </p:spPr>
        <p:txBody>
          <a:bodyPr wrap="square" lIns="0" rIns="0" tIns="0" bIns="0" anchor="t">
            <a:spAutoFit/>
          </a:bodyPr>
          <a:lstStyle/>
          <a:p>
            <a:pPr algn="ctr">
              <a:spcAft>
                <a:spcPts val="400"/>
              </a:spcAft>
            </a:pPr>
            <a:r>
              <a:rPr sz="1600" b="0">
                <a:solidFill>
                  <a:srgbClr val="A39A90"/>
                </a:solidFill>
                <a:latin typeface="Calibri"/>
              </a:rPr>
              <a:t>KID</a:t>
            </a:r>
          </a:p>
        </p:txBody>
      </p:sp>
      <p:sp>
        <p:nvSpPr>
          <p:cNvPr id="10" name="Rounded Rectangle 9"/>
          <p:cNvSpPr/>
          <p:nvPr/>
        </p:nvSpPr>
        <p:spPr>
          <a:xfrm>
            <a:off x="6766560" y="3429000"/>
            <a:ext cx="4846320" cy="54864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Damier et collapse disparus</a:t>
            </a:r>
          </a:p>
        </p:txBody>
      </p:sp>
      <p:sp>
        <p:nvSpPr>
          <p:cNvPr id="11" name="Rounded Rectangle 10"/>
          <p:cNvSpPr/>
          <p:nvPr/>
        </p:nvSpPr>
        <p:spPr>
          <a:xfrm>
            <a:off x="6766560" y="4114800"/>
            <a:ext cx="4846320" cy="54864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Pas de recopie</a:t>
            </a:r>
          </a:p>
        </p:txBody>
      </p:sp>
      <p:sp>
        <p:nvSpPr>
          <p:cNvPr id="12" name="Rounded Rectangle 11"/>
          <p:cNvSpPr/>
          <p:nvPr/>
        </p:nvSpPr>
        <p:spPr>
          <a:xfrm>
            <a:off x="6766560" y="4800600"/>
            <a:ext cx="4846320" cy="54864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Traînées en diagonale</a:t>
            </a:r>
          </a:p>
        </p:txBody>
      </p:sp>
      <p:sp>
        <p:nvSpPr>
          <p:cNvPr id="13" name="Rounded Rectangle 12"/>
          <p:cNvSpPr/>
          <p:nvPr/>
        </p:nvSpPr>
        <p:spPr>
          <a:xfrm>
            <a:off x="6766560" y="5486400"/>
            <a:ext cx="4846320" cy="54864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600" b="1">
                <a:solidFill>
                  <a:srgbClr val="F2EDE6"/>
                </a:solidFill>
                <a:latin typeface="Calibri"/>
              </a:rPr>
              <a:t>Marge jusqu'à la référence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ÉVALUATION</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Un jeu homogène : les portraits</a:t>
            </a:r>
          </a:p>
        </p:txBody>
      </p:sp>
      <p:pic>
        <p:nvPicPr>
          <p:cNvPr id="4" name="Picture 3" descr="dataloader_16.png"/>
          <p:cNvPicPr>
            <a:picLocks noChangeAspect="1"/>
          </p:cNvPicPr>
          <p:nvPr/>
        </p:nvPicPr>
        <p:blipFill>
          <a:blip r:embed="rId3"/>
          <a:stretch>
            <a:fillRect/>
          </a:stretch>
        </p:blipFill>
        <p:spPr>
          <a:xfrm>
            <a:off x="548640" y="1600200"/>
            <a:ext cx="11064240" cy="2781987"/>
          </a:xfrm>
          <a:prstGeom prst="rect">
            <a:avLst/>
          </a:prstGeom>
        </p:spPr>
      </p:pic>
      <p:sp>
        <p:nvSpPr>
          <p:cNvPr id="5" name="TextBox 4"/>
          <p:cNvSpPr txBox="1"/>
          <p:nvPr/>
        </p:nvSpPr>
        <p:spPr>
          <a:xfrm>
            <a:off x="548640" y="4427907"/>
            <a:ext cx="11064240"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16 images à la sortie du DataLoader (après pipeline)</a:t>
            </a:r>
          </a:p>
        </p:txBody>
      </p:sp>
      <p:sp>
        <p:nvSpPr>
          <p:cNvPr id="6" name="Rounded Rectangle 5"/>
          <p:cNvSpPr/>
          <p:nvPr/>
        </p:nvSpPr>
        <p:spPr>
          <a:xfrm>
            <a:off x="548640" y="5257800"/>
            <a:ext cx="2697480" cy="54864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3 737 portraits</a:t>
            </a:r>
          </a:p>
        </p:txBody>
      </p:sp>
      <p:sp>
        <p:nvSpPr>
          <p:cNvPr id="7" name="Rounded Rectangle 6"/>
          <p:cNvSpPr/>
          <p:nvPr/>
        </p:nvSpPr>
        <p:spPr>
          <a:xfrm>
            <a:off x="3364992" y="5257800"/>
            <a:ext cx="2697480" cy="54864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Dossier 128×128</a:t>
            </a:r>
          </a:p>
        </p:txBody>
      </p:sp>
      <p:sp>
        <p:nvSpPr>
          <p:cNvPr id="8" name="Rounded Rectangle 7"/>
          <p:cNvSpPr/>
          <p:nvPr/>
        </p:nvSpPr>
        <p:spPr>
          <a:xfrm>
            <a:off x="6181344" y="5257800"/>
            <a:ext cx="2697480" cy="54864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Resize → Crop → Flip → Tensor → Normalize</a:t>
            </a:r>
          </a:p>
        </p:txBody>
      </p:sp>
      <p:sp>
        <p:nvSpPr>
          <p:cNvPr id="9" name="Rounded Rectangle 8"/>
          <p:cNvSpPr/>
          <p:nvPr/>
        </p:nvSpPr>
        <p:spPr>
          <a:xfrm>
            <a:off x="8997696" y="5257800"/>
            <a:ext cx="2697480" cy="54864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300" b="1">
                <a:solidFill>
                  <a:srgbClr val="F2EDE6"/>
                </a:solidFill>
                <a:latin typeface="Calibri"/>
              </a:rPr>
              <a:t>[−1, 1] vérifié</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ÉVALUATION</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Portraits : 64×64 puis 128×128</a:t>
            </a:r>
          </a:p>
        </p:txBody>
      </p:sp>
      <p:pic>
        <p:nvPicPr>
          <p:cNvPr id="4" name="Picture 3" descr="samples.png"/>
          <p:cNvPicPr>
            <a:picLocks noChangeAspect="1"/>
          </p:cNvPicPr>
          <p:nvPr/>
        </p:nvPicPr>
        <p:blipFill>
          <a:blip r:embed="rId3"/>
          <a:stretch>
            <a:fillRect/>
          </a:stretch>
        </p:blipFill>
        <p:spPr>
          <a:xfrm>
            <a:off x="685800" y="1600200"/>
            <a:ext cx="4206240" cy="4206240"/>
          </a:xfrm>
          <a:prstGeom prst="rect">
            <a:avLst/>
          </a:prstGeom>
        </p:spPr>
      </p:pic>
      <p:sp>
        <p:nvSpPr>
          <p:cNvPr id="5" name="TextBox 4"/>
          <p:cNvSpPr txBox="1"/>
          <p:nvPr/>
        </p:nvSpPr>
        <p:spPr>
          <a:xfrm>
            <a:off x="685800" y="5852160"/>
            <a:ext cx="4206240"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Portraits générés (64×64)</a:t>
            </a:r>
          </a:p>
        </p:txBody>
      </p:sp>
      <p:sp>
        <p:nvSpPr>
          <p:cNvPr id="6" name="TextBox 5"/>
          <p:cNvSpPr txBox="1"/>
          <p:nvPr/>
        </p:nvSpPr>
        <p:spPr>
          <a:xfrm>
            <a:off x="5349240" y="1691640"/>
            <a:ext cx="6309360" cy="411480"/>
          </a:xfrm>
          <a:prstGeom prst="rect">
            <a:avLst/>
          </a:prstGeom>
          <a:noFill/>
        </p:spPr>
        <p:txBody>
          <a:bodyPr wrap="square" lIns="0" rIns="0" tIns="0" bIns="0" anchor="ctr">
            <a:spAutoFit/>
          </a:bodyPr>
          <a:lstStyle/>
          <a:p>
            <a:pPr algn="l">
              <a:spcAft>
                <a:spcPts val="400"/>
              </a:spcAft>
            </a:pPr>
            <a:r>
              <a:rPr sz="1500" b="1">
                <a:solidFill>
                  <a:srgbClr val="D4A84B"/>
                </a:solidFill>
                <a:latin typeface="Calibri"/>
              </a:rPr>
              <a:t>FID   ·   référence   ·   écart</a:t>
            </a:r>
          </a:p>
        </p:txBody>
      </p:sp>
      <p:sp>
        <p:nvSpPr>
          <p:cNvPr id="7" name="Rounded Rectangle 6"/>
          <p:cNvSpPr/>
          <p:nvPr/>
        </p:nvSpPr>
        <p:spPr>
          <a:xfrm>
            <a:off x="5349240" y="2240280"/>
            <a:ext cx="6291072" cy="73152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0" y="2240280"/>
            <a:ext cx="2743200" cy="731520"/>
          </a:xfrm>
          <a:prstGeom prst="rect">
            <a:avLst/>
          </a:prstGeom>
          <a:noFill/>
        </p:spPr>
        <p:txBody>
          <a:bodyPr wrap="square" lIns="0" rIns="0" tIns="0" bIns="0" anchor="ctr">
            <a:spAutoFit/>
          </a:bodyPr>
          <a:lstStyle/>
          <a:p>
            <a:pPr algn="l">
              <a:spcAft>
                <a:spcPts val="400"/>
              </a:spcAft>
            </a:pPr>
            <a:r>
              <a:rPr sz="1700" b="1">
                <a:solidFill>
                  <a:srgbClr val="F2EDE6"/>
                </a:solidFill>
                <a:latin typeface="Calibri"/>
              </a:rPr>
              <a:t>Baseline (tous genres)</a:t>
            </a:r>
          </a:p>
        </p:txBody>
      </p:sp>
      <p:sp>
        <p:nvSpPr>
          <p:cNvPr id="9" name="TextBox 8"/>
          <p:cNvSpPr txBox="1"/>
          <p:nvPr/>
        </p:nvSpPr>
        <p:spPr>
          <a:xfrm>
            <a:off x="8321040" y="2240280"/>
            <a:ext cx="3108960" cy="731520"/>
          </a:xfrm>
          <a:prstGeom prst="rect">
            <a:avLst/>
          </a:prstGeom>
          <a:noFill/>
        </p:spPr>
        <p:txBody>
          <a:bodyPr wrap="square" lIns="0" rIns="0" tIns="0" bIns="0" anchor="ctr">
            <a:spAutoFit/>
          </a:bodyPr>
          <a:lstStyle/>
          <a:p>
            <a:pPr algn="r">
              <a:spcAft>
                <a:spcPts val="400"/>
              </a:spcAft>
            </a:pPr>
            <a:r>
              <a:rPr sz="2000" b="1">
                <a:solidFill>
                  <a:srgbClr val="F2EDE6"/>
                </a:solidFill>
                <a:latin typeface="Cambria"/>
              </a:rPr>
              <a:t>211  ·  62  ·  ×3,4</a:t>
            </a:r>
          </a:p>
        </p:txBody>
      </p:sp>
      <p:sp>
        <p:nvSpPr>
          <p:cNvPr id="10" name="Rounded Rectangle 9"/>
          <p:cNvSpPr/>
          <p:nvPr/>
        </p:nvSpPr>
        <p:spPr>
          <a:xfrm>
            <a:off x="5349240" y="3081528"/>
            <a:ext cx="6291072" cy="731520"/>
          </a:xfrm>
          <a:prstGeom prst="roundRect">
            <a:avLst>
              <a:gd name="adj" fmla="val 6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3081528"/>
            <a:ext cx="2743200" cy="731520"/>
          </a:xfrm>
          <a:prstGeom prst="rect">
            <a:avLst/>
          </a:prstGeom>
          <a:noFill/>
        </p:spPr>
        <p:txBody>
          <a:bodyPr wrap="square" lIns="0" rIns="0" tIns="0" bIns="0" anchor="ctr">
            <a:spAutoFit/>
          </a:bodyPr>
          <a:lstStyle/>
          <a:p>
            <a:pPr algn="l">
              <a:spcAft>
                <a:spcPts val="400"/>
              </a:spcAft>
            </a:pPr>
            <a:r>
              <a:rPr sz="1700" b="1">
                <a:solidFill>
                  <a:srgbClr val="F2EDE6"/>
                </a:solidFill>
                <a:latin typeface="Calibri"/>
              </a:rPr>
              <a:t>Portraits 64×64</a:t>
            </a:r>
          </a:p>
        </p:txBody>
      </p:sp>
      <p:sp>
        <p:nvSpPr>
          <p:cNvPr id="12" name="TextBox 11"/>
          <p:cNvSpPr txBox="1"/>
          <p:nvPr/>
        </p:nvSpPr>
        <p:spPr>
          <a:xfrm>
            <a:off x="8321040" y="3081528"/>
            <a:ext cx="3108960" cy="731520"/>
          </a:xfrm>
          <a:prstGeom prst="rect">
            <a:avLst/>
          </a:prstGeom>
          <a:noFill/>
        </p:spPr>
        <p:txBody>
          <a:bodyPr wrap="square" lIns="0" rIns="0" tIns="0" bIns="0" anchor="ctr">
            <a:spAutoFit/>
          </a:bodyPr>
          <a:lstStyle/>
          <a:p>
            <a:pPr algn="r">
              <a:spcAft>
                <a:spcPts val="400"/>
              </a:spcAft>
            </a:pPr>
            <a:r>
              <a:rPr sz="2000" b="1">
                <a:solidFill>
                  <a:srgbClr val="F2EDE6"/>
                </a:solidFill>
                <a:latin typeface="Cambria"/>
              </a:rPr>
              <a:t>204  ·  73  ·  ×2,8</a:t>
            </a:r>
          </a:p>
        </p:txBody>
      </p:sp>
      <p:sp>
        <p:nvSpPr>
          <p:cNvPr id="13" name="Rounded Rectangle 12"/>
          <p:cNvSpPr/>
          <p:nvPr/>
        </p:nvSpPr>
        <p:spPr>
          <a:xfrm>
            <a:off x="5349240" y="3922776"/>
            <a:ext cx="6291072" cy="731520"/>
          </a:xfrm>
          <a:prstGeom prst="roundRect">
            <a:avLst>
              <a:gd name="adj" fmla="val 6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3922776"/>
            <a:ext cx="2743200" cy="731520"/>
          </a:xfrm>
          <a:prstGeom prst="rect">
            <a:avLst/>
          </a:prstGeom>
          <a:noFill/>
        </p:spPr>
        <p:txBody>
          <a:bodyPr wrap="square" lIns="0" rIns="0" tIns="0" bIns="0" anchor="ctr">
            <a:spAutoFit/>
          </a:bodyPr>
          <a:lstStyle/>
          <a:p>
            <a:pPr algn="l">
              <a:spcAft>
                <a:spcPts val="400"/>
              </a:spcAft>
            </a:pPr>
            <a:r>
              <a:rPr sz="1700" b="1">
                <a:solidFill>
                  <a:srgbClr val="F2EDE6"/>
                </a:solidFill>
                <a:latin typeface="Calibri"/>
              </a:rPr>
              <a:t>Portraits 128×128</a:t>
            </a:r>
          </a:p>
        </p:txBody>
      </p:sp>
      <p:sp>
        <p:nvSpPr>
          <p:cNvPr id="15" name="TextBox 14"/>
          <p:cNvSpPr txBox="1"/>
          <p:nvPr/>
        </p:nvSpPr>
        <p:spPr>
          <a:xfrm>
            <a:off x="8321040" y="3922776"/>
            <a:ext cx="3108960" cy="731520"/>
          </a:xfrm>
          <a:prstGeom prst="rect">
            <a:avLst/>
          </a:prstGeom>
          <a:noFill/>
        </p:spPr>
        <p:txBody>
          <a:bodyPr wrap="square" lIns="0" rIns="0" tIns="0" bIns="0" anchor="ctr">
            <a:spAutoFit/>
          </a:bodyPr>
          <a:lstStyle/>
          <a:p>
            <a:pPr algn="r">
              <a:spcAft>
                <a:spcPts val="400"/>
              </a:spcAft>
            </a:pPr>
            <a:r>
              <a:rPr sz="2000" b="1">
                <a:solidFill>
                  <a:srgbClr val="F2EDE6"/>
                </a:solidFill>
                <a:latin typeface="Cambria"/>
              </a:rPr>
              <a:t>286  ·  76  ·  ×3,8</a:t>
            </a:r>
          </a:p>
        </p:txBody>
      </p:sp>
      <p:sp>
        <p:nvSpPr>
          <p:cNvPr id="16" name="Rounded Rectangle 15"/>
          <p:cNvSpPr/>
          <p:nvPr/>
        </p:nvSpPr>
        <p:spPr>
          <a:xfrm>
            <a:off x="5349240" y="4892040"/>
            <a:ext cx="6291072" cy="512064"/>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64×64 : portraits reconnaissables, pas de recopie</a:t>
            </a:r>
          </a:p>
        </p:txBody>
      </p:sp>
      <p:sp>
        <p:nvSpPr>
          <p:cNvPr id="17" name="Rounded Rectangle 16"/>
          <p:cNvSpPr/>
          <p:nvPr/>
        </p:nvSpPr>
        <p:spPr>
          <a:xfrm>
            <a:off x="5349240" y="5495544"/>
            <a:ext cx="6291072" cy="512064"/>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F2EDE6"/>
                </a:solidFill>
                <a:latin typeface="Calibri"/>
              </a:rPr>
              <a:t>128×128 : moins bon, 2 600 itérations seulement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CONCLUSION</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Organisation</a:t>
            </a:r>
          </a:p>
        </p:txBody>
      </p:sp>
      <p:sp>
        <p:nvSpPr>
          <p:cNvPr id="4" name="Rounded Rectangle 3"/>
          <p:cNvSpPr/>
          <p:nvPr/>
        </p:nvSpPr>
        <p:spPr>
          <a:xfrm>
            <a:off x="548640" y="1691640"/>
            <a:ext cx="3520440" cy="44805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965960"/>
            <a:ext cx="685800" cy="68580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2EDE6"/>
                </a:solidFill>
                <a:latin typeface="Calibri"/>
              </a:rPr>
              <a:t>1</a:t>
            </a:r>
          </a:p>
        </p:txBody>
      </p:sp>
      <p:sp>
        <p:nvSpPr>
          <p:cNvPr id="6" name="TextBox 5"/>
          <p:cNvSpPr txBox="1"/>
          <p:nvPr/>
        </p:nvSpPr>
        <p:spPr>
          <a:xfrm>
            <a:off x="1737360" y="2057400"/>
            <a:ext cx="2148840" cy="548640"/>
          </a:xfrm>
          <a:prstGeom prst="rect">
            <a:avLst/>
          </a:prstGeom>
          <a:noFill/>
        </p:spPr>
        <p:txBody>
          <a:bodyPr wrap="square" lIns="0" rIns="0" tIns="0" bIns="0" anchor="t">
            <a:spAutoFit/>
          </a:bodyPr>
          <a:lstStyle/>
          <a:p>
            <a:pPr algn="l">
              <a:spcAft>
                <a:spcPts val="400"/>
              </a:spcAft>
            </a:pPr>
            <a:r>
              <a:rPr sz="2200" b="1">
                <a:solidFill>
                  <a:srgbClr val="D4A84B"/>
                </a:solidFill>
                <a:latin typeface="Cambria"/>
              </a:rPr>
              <a:t>Outils</a:t>
            </a:r>
          </a:p>
        </p:txBody>
      </p:sp>
      <p:sp>
        <p:nvSpPr>
          <p:cNvPr id="7" name="Rounded Rectangle 6"/>
          <p:cNvSpPr/>
          <p:nvPr/>
        </p:nvSpPr>
        <p:spPr>
          <a:xfrm>
            <a:off x="868680" y="3017520"/>
            <a:ext cx="28803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GitHub</a:t>
            </a:r>
          </a:p>
        </p:txBody>
      </p:sp>
      <p:sp>
        <p:nvSpPr>
          <p:cNvPr id="8" name="Rounded Rectangle 7"/>
          <p:cNvSpPr/>
          <p:nvPr/>
        </p:nvSpPr>
        <p:spPr>
          <a:xfrm>
            <a:off x="868680" y="3749040"/>
            <a:ext cx="28803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[Trello / Azure]</a:t>
            </a:r>
          </a:p>
        </p:txBody>
      </p:sp>
      <p:sp>
        <p:nvSpPr>
          <p:cNvPr id="9" name="Rounded Rectangle 8"/>
          <p:cNvSpPr/>
          <p:nvPr/>
        </p:nvSpPr>
        <p:spPr>
          <a:xfrm>
            <a:off x="4343400" y="1691640"/>
            <a:ext cx="3520440" cy="44805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63440" y="1965960"/>
            <a:ext cx="685800" cy="68580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2EDE6"/>
                </a:solidFill>
                <a:latin typeface="Calibri"/>
              </a:rPr>
              <a:t>2</a:t>
            </a:r>
          </a:p>
        </p:txBody>
      </p:sp>
      <p:sp>
        <p:nvSpPr>
          <p:cNvPr id="11" name="TextBox 10"/>
          <p:cNvSpPr txBox="1"/>
          <p:nvPr/>
        </p:nvSpPr>
        <p:spPr>
          <a:xfrm>
            <a:off x="5532120" y="2057400"/>
            <a:ext cx="2148840" cy="548640"/>
          </a:xfrm>
          <a:prstGeom prst="rect">
            <a:avLst/>
          </a:prstGeom>
          <a:noFill/>
        </p:spPr>
        <p:txBody>
          <a:bodyPr wrap="square" lIns="0" rIns="0" tIns="0" bIns="0" anchor="t">
            <a:spAutoFit/>
          </a:bodyPr>
          <a:lstStyle/>
          <a:p>
            <a:pPr algn="l">
              <a:spcAft>
                <a:spcPts val="400"/>
              </a:spcAft>
            </a:pPr>
            <a:r>
              <a:rPr sz="2200" b="1">
                <a:solidFill>
                  <a:srgbClr val="D4A84B"/>
                </a:solidFill>
                <a:latin typeface="Cambria"/>
              </a:rPr>
              <a:t>Rituels</a:t>
            </a:r>
          </a:p>
        </p:txBody>
      </p:sp>
      <p:sp>
        <p:nvSpPr>
          <p:cNvPr id="12" name="Rounded Rectangle 11"/>
          <p:cNvSpPr/>
          <p:nvPr/>
        </p:nvSpPr>
        <p:spPr>
          <a:xfrm>
            <a:off x="4663440" y="3017520"/>
            <a:ext cx="28803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[Points d'équipe]</a:t>
            </a:r>
          </a:p>
        </p:txBody>
      </p:sp>
      <p:sp>
        <p:nvSpPr>
          <p:cNvPr id="13" name="Rounded Rectangle 12"/>
          <p:cNvSpPr/>
          <p:nvPr/>
        </p:nvSpPr>
        <p:spPr>
          <a:xfrm>
            <a:off x="4663440" y="3749040"/>
            <a:ext cx="28803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[Revues]</a:t>
            </a:r>
          </a:p>
        </p:txBody>
      </p:sp>
      <p:sp>
        <p:nvSpPr>
          <p:cNvPr id="14" name="Rounded Rectangle 13"/>
          <p:cNvSpPr/>
          <p:nvPr/>
        </p:nvSpPr>
        <p:spPr>
          <a:xfrm>
            <a:off x="8138160" y="1691640"/>
            <a:ext cx="3520440" cy="4480560"/>
          </a:xfrm>
          <a:prstGeom prst="roundRect">
            <a:avLst>
              <a:gd name="adj" fmla="val 6000"/>
            </a:avLst>
          </a:prstGeom>
          <a:solidFill>
            <a:srgbClr val="2622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58200" y="1965960"/>
            <a:ext cx="685800" cy="685800"/>
          </a:xfrm>
          <a:prstGeom prst="ellipse">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2EDE6"/>
                </a:solidFill>
                <a:latin typeface="Calibri"/>
              </a:rPr>
              <a:t>3</a:t>
            </a:r>
          </a:p>
        </p:txBody>
      </p:sp>
      <p:sp>
        <p:nvSpPr>
          <p:cNvPr id="16" name="TextBox 15"/>
          <p:cNvSpPr txBox="1"/>
          <p:nvPr/>
        </p:nvSpPr>
        <p:spPr>
          <a:xfrm>
            <a:off x="9326880" y="2057400"/>
            <a:ext cx="2148840" cy="548640"/>
          </a:xfrm>
          <a:prstGeom prst="rect">
            <a:avLst/>
          </a:prstGeom>
          <a:noFill/>
        </p:spPr>
        <p:txBody>
          <a:bodyPr wrap="square" lIns="0" rIns="0" tIns="0" bIns="0" anchor="t">
            <a:spAutoFit/>
          </a:bodyPr>
          <a:lstStyle/>
          <a:p>
            <a:pPr algn="l">
              <a:spcAft>
                <a:spcPts val="400"/>
              </a:spcAft>
            </a:pPr>
            <a:r>
              <a:rPr sz="2200" b="1">
                <a:solidFill>
                  <a:srgbClr val="D4A84B"/>
                </a:solidFill>
                <a:latin typeface="Cambria"/>
              </a:rPr>
              <a:t>Équipe</a:t>
            </a:r>
          </a:p>
        </p:txBody>
      </p:sp>
      <p:sp>
        <p:nvSpPr>
          <p:cNvPr id="17" name="Rounded Rectangle 16"/>
          <p:cNvSpPr/>
          <p:nvPr/>
        </p:nvSpPr>
        <p:spPr>
          <a:xfrm>
            <a:off x="8458200" y="3017520"/>
            <a:ext cx="28803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Kahina ABBAD</a:t>
            </a:r>
          </a:p>
        </p:txBody>
      </p:sp>
      <p:sp>
        <p:nvSpPr>
          <p:cNvPr id="18" name="Rounded Rectangle 17"/>
          <p:cNvSpPr/>
          <p:nvPr/>
        </p:nvSpPr>
        <p:spPr>
          <a:xfrm>
            <a:off x="8458200" y="3749040"/>
            <a:ext cx="288036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Pape Ahmed Fall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CONCLUSION</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Conclusion</a:t>
            </a:r>
          </a:p>
        </p:txBody>
      </p:sp>
      <p:sp>
        <p:nvSpPr>
          <p:cNvPr id="4" name="TextBox 3"/>
          <p:cNvSpPr txBox="1"/>
          <p:nvPr/>
        </p:nvSpPr>
        <p:spPr>
          <a:xfrm>
            <a:off x="548640" y="1783080"/>
            <a:ext cx="3520440" cy="548640"/>
          </a:xfrm>
          <a:prstGeom prst="rect">
            <a:avLst/>
          </a:prstGeom>
          <a:noFill/>
        </p:spPr>
        <p:txBody>
          <a:bodyPr wrap="square" lIns="0" rIns="0" tIns="0" bIns="0" anchor="t">
            <a:spAutoFit/>
          </a:bodyPr>
          <a:lstStyle/>
          <a:p>
            <a:pPr algn="l">
              <a:spcAft>
                <a:spcPts val="400"/>
              </a:spcAft>
            </a:pPr>
            <a:r>
              <a:rPr sz="2600" b="1">
                <a:solidFill>
                  <a:srgbClr val="D4A84B"/>
                </a:solidFill>
                <a:latin typeface="Cambria"/>
              </a:rPr>
              <a:t>Acquis</a:t>
            </a:r>
          </a:p>
        </p:txBody>
      </p:sp>
      <p:sp>
        <p:nvSpPr>
          <p:cNvPr id="5" name="Rounded Rectangle 4"/>
          <p:cNvSpPr/>
          <p:nvPr/>
        </p:nvSpPr>
        <p:spPr>
          <a:xfrm>
            <a:off x="548640" y="2560320"/>
            <a:ext cx="35204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Catalogue analysé</a:t>
            </a:r>
          </a:p>
        </p:txBody>
      </p:sp>
      <p:sp>
        <p:nvSpPr>
          <p:cNvPr id="6" name="Rounded Rectangle 5"/>
          <p:cNvSpPr/>
          <p:nvPr/>
        </p:nvSpPr>
        <p:spPr>
          <a:xfrm>
            <a:off x="548640" y="3291840"/>
            <a:ext cx="35204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Pipeline d'images</a:t>
            </a:r>
          </a:p>
        </p:txBody>
      </p:sp>
      <p:sp>
        <p:nvSpPr>
          <p:cNvPr id="7" name="Rounded Rectangle 6"/>
          <p:cNvSpPr/>
          <p:nvPr/>
        </p:nvSpPr>
        <p:spPr>
          <a:xfrm>
            <a:off x="548640" y="4023360"/>
            <a:ext cx="35204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Portraits reconnaissables</a:t>
            </a:r>
          </a:p>
        </p:txBody>
      </p:sp>
      <p:sp>
        <p:nvSpPr>
          <p:cNvPr id="8" name="TextBox 7"/>
          <p:cNvSpPr txBox="1"/>
          <p:nvPr/>
        </p:nvSpPr>
        <p:spPr>
          <a:xfrm>
            <a:off x="4343400" y="1783080"/>
            <a:ext cx="3520440" cy="548640"/>
          </a:xfrm>
          <a:prstGeom prst="rect">
            <a:avLst/>
          </a:prstGeom>
          <a:noFill/>
        </p:spPr>
        <p:txBody>
          <a:bodyPr wrap="square" lIns="0" rIns="0" tIns="0" bIns="0" anchor="t">
            <a:spAutoFit/>
          </a:bodyPr>
          <a:lstStyle/>
          <a:p>
            <a:pPr algn="l">
              <a:spcAft>
                <a:spcPts val="400"/>
              </a:spcAft>
            </a:pPr>
            <a:r>
              <a:rPr sz="2600" b="1">
                <a:solidFill>
                  <a:srgbClr val="D4A84B"/>
                </a:solidFill>
                <a:latin typeface="Cambria"/>
              </a:rPr>
              <a:t>Difficultés</a:t>
            </a:r>
          </a:p>
        </p:txBody>
      </p:sp>
      <p:sp>
        <p:nvSpPr>
          <p:cNvPr id="9" name="Rounded Rectangle 8"/>
          <p:cNvSpPr/>
          <p:nvPr/>
        </p:nvSpPr>
        <p:spPr>
          <a:xfrm>
            <a:off x="4343400" y="2560320"/>
            <a:ext cx="352044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Images abstraites</a:t>
            </a:r>
          </a:p>
        </p:txBody>
      </p:sp>
      <p:sp>
        <p:nvSpPr>
          <p:cNvPr id="10" name="Rounded Rectangle 9"/>
          <p:cNvSpPr/>
          <p:nvPr/>
        </p:nvSpPr>
        <p:spPr>
          <a:xfrm>
            <a:off x="4343400" y="3291840"/>
            <a:ext cx="352044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Faux doublons</a:t>
            </a:r>
          </a:p>
        </p:txBody>
      </p:sp>
      <p:sp>
        <p:nvSpPr>
          <p:cNvPr id="11" name="Rounded Rectangle 10"/>
          <p:cNvSpPr/>
          <p:nvPr/>
        </p:nvSpPr>
        <p:spPr>
          <a:xfrm>
            <a:off x="4343400" y="4023360"/>
            <a:ext cx="352044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Calcul sur processeur</a:t>
            </a:r>
          </a:p>
        </p:txBody>
      </p:sp>
      <p:sp>
        <p:nvSpPr>
          <p:cNvPr id="12" name="TextBox 11"/>
          <p:cNvSpPr txBox="1"/>
          <p:nvPr/>
        </p:nvSpPr>
        <p:spPr>
          <a:xfrm>
            <a:off x="8138160" y="1783080"/>
            <a:ext cx="3520440" cy="548640"/>
          </a:xfrm>
          <a:prstGeom prst="rect">
            <a:avLst/>
          </a:prstGeom>
          <a:noFill/>
        </p:spPr>
        <p:txBody>
          <a:bodyPr wrap="square" lIns="0" rIns="0" tIns="0" bIns="0" anchor="t">
            <a:spAutoFit/>
          </a:bodyPr>
          <a:lstStyle/>
          <a:p>
            <a:pPr algn="l">
              <a:spcAft>
                <a:spcPts val="400"/>
              </a:spcAft>
            </a:pPr>
            <a:r>
              <a:rPr sz="2600" b="1">
                <a:solidFill>
                  <a:srgbClr val="D4A84B"/>
                </a:solidFill>
                <a:latin typeface="Cambria"/>
              </a:rPr>
              <a:t>Pistes</a:t>
            </a:r>
          </a:p>
        </p:txBody>
      </p:sp>
      <p:sp>
        <p:nvSpPr>
          <p:cNvPr id="13" name="Rounded Rectangle 12"/>
          <p:cNvSpPr/>
          <p:nvPr/>
        </p:nvSpPr>
        <p:spPr>
          <a:xfrm>
            <a:off x="8138160" y="2560320"/>
            <a:ext cx="35204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WGAN-GP</a:t>
            </a:r>
          </a:p>
        </p:txBody>
      </p:sp>
      <p:sp>
        <p:nvSpPr>
          <p:cNvPr id="14" name="Rounded Rectangle 13"/>
          <p:cNvSpPr/>
          <p:nvPr/>
        </p:nvSpPr>
        <p:spPr>
          <a:xfrm>
            <a:off x="8138160" y="3291840"/>
            <a:ext cx="35204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GAN conditionnel</a:t>
            </a:r>
          </a:p>
        </p:txBody>
      </p:sp>
      <p:sp>
        <p:nvSpPr>
          <p:cNvPr id="15" name="Rounded Rectangle 14"/>
          <p:cNvSpPr/>
          <p:nvPr/>
        </p:nvSpPr>
        <p:spPr>
          <a:xfrm>
            <a:off x="8138160" y="4023360"/>
            <a:ext cx="352044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700" b="1">
                <a:solidFill>
                  <a:srgbClr val="F2EDE6"/>
                </a:solidFill>
                <a:latin typeface="Calibri"/>
              </a:rPr>
              <a:t>GPU pour le 128×128</a:t>
            </a:r>
          </a:p>
        </p:txBody>
      </p:sp>
      <p:pic>
        <p:nvPicPr>
          <p:cNvPr id="16" name="Picture 15" descr="01864.jpg"/>
          <p:cNvPicPr>
            <a:picLocks noChangeAspect="1"/>
          </p:cNvPicPr>
          <p:nvPr/>
        </p:nvPicPr>
        <p:blipFill>
          <a:blip r:embed="rId3"/>
          <a:stretch>
            <a:fillRect/>
          </a:stretch>
        </p:blipFill>
        <p:spPr>
          <a:xfrm>
            <a:off x="548640" y="5120640"/>
            <a:ext cx="1143000" cy="1143000"/>
          </a:xfrm>
          <a:prstGeom prst="rect">
            <a:avLst/>
          </a:prstGeom>
        </p:spPr>
      </p:pic>
      <p:pic>
        <p:nvPicPr>
          <p:cNvPr id="17" name="Picture 16" descr="00544.jpg"/>
          <p:cNvPicPr>
            <a:picLocks noChangeAspect="1"/>
          </p:cNvPicPr>
          <p:nvPr/>
        </p:nvPicPr>
        <p:blipFill>
          <a:blip r:embed="rId4"/>
          <a:stretch>
            <a:fillRect/>
          </a:stretch>
        </p:blipFill>
        <p:spPr>
          <a:xfrm>
            <a:off x="1792224" y="5120640"/>
            <a:ext cx="1143000" cy="1143000"/>
          </a:xfrm>
          <a:prstGeom prst="rect">
            <a:avLst/>
          </a:prstGeom>
        </p:spPr>
      </p:pic>
      <p:pic>
        <p:nvPicPr>
          <p:cNvPr id="18" name="Picture 17" descr="02084.jpg"/>
          <p:cNvPicPr>
            <a:picLocks noChangeAspect="1"/>
          </p:cNvPicPr>
          <p:nvPr/>
        </p:nvPicPr>
        <p:blipFill>
          <a:blip r:embed="rId5"/>
          <a:stretch>
            <a:fillRect/>
          </a:stretch>
        </p:blipFill>
        <p:spPr>
          <a:xfrm>
            <a:off x="3035808" y="5120640"/>
            <a:ext cx="1143000" cy="1143000"/>
          </a:xfrm>
          <a:prstGeom prst="rect">
            <a:avLst/>
          </a:prstGeom>
        </p:spPr>
      </p:pic>
      <p:pic>
        <p:nvPicPr>
          <p:cNvPr id="19" name="Picture 18" descr="02081.jpg"/>
          <p:cNvPicPr>
            <a:picLocks noChangeAspect="1"/>
          </p:cNvPicPr>
          <p:nvPr/>
        </p:nvPicPr>
        <p:blipFill>
          <a:blip r:embed="rId6"/>
          <a:stretch>
            <a:fillRect/>
          </a:stretch>
        </p:blipFill>
        <p:spPr>
          <a:xfrm>
            <a:off x="4279392" y="5120640"/>
            <a:ext cx="1143000" cy="1143000"/>
          </a:xfrm>
          <a:prstGeom prst="rect">
            <a:avLst/>
          </a:prstGeom>
        </p:spPr>
      </p:pic>
      <p:pic>
        <p:nvPicPr>
          <p:cNvPr id="20" name="Picture 19" descr="01514.jpg"/>
          <p:cNvPicPr>
            <a:picLocks noChangeAspect="1"/>
          </p:cNvPicPr>
          <p:nvPr/>
        </p:nvPicPr>
        <p:blipFill>
          <a:blip r:embed="rId7"/>
          <a:stretch>
            <a:fillRect/>
          </a:stretch>
        </p:blipFill>
        <p:spPr>
          <a:xfrm>
            <a:off x="5522976" y="5120640"/>
            <a:ext cx="1143000" cy="1143000"/>
          </a:xfrm>
          <a:prstGeom prst="rect">
            <a:avLst/>
          </a:prstGeom>
        </p:spPr>
      </p:pic>
      <p:pic>
        <p:nvPicPr>
          <p:cNvPr id="21" name="Picture 20" descr="00886.jpg"/>
          <p:cNvPicPr>
            <a:picLocks noChangeAspect="1"/>
          </p:cNvPicPr>
          <p:nvPr/>
        </p:nvPicPr>
        <p:blipFill>
          <a:blip r:embed="rId8"/>
          <a:stretch>
            <a:fillRect/>
          </a:stretch>
        </p:blipFill>
        <p:spPr>
          <a:xfrm>
            <a:off x="6766560" y="5120640"/>
            <a:ext cx="1143000" cy="1143000"/>
          </a:xfrm>
          <a:prstGeom prst="rect">
            <a:avLst/>
          </a:prstGeom>
        </p:spPr>
      </p:pic>
      <p:pic>
        <p:nvPicPr>
          <p:cNvPr id="22" name="Picture 21" descr="01266.jpg"/>
          <p:cNvPicPr>
            <a:picLocks noChangeAspect="1"/>
          </p:cNvPicPr>
          <p:nvPr/>
        </p:nvPicPr>
        <p:blipFill>
          <a:blip r:embed="rId9"/>
          <a:stretch>
            <a:fillRect/>
          </a:stretch>
        </p:blipFill>
        <p:spPr>
          <a:xfrm>
            <a:off x="8010144" y="5120640"/>
            <a:ext cx="1143000" cy="1143000"/>
          </a:xfrm>
          <a:prstGeom prst="rect">
            <a:avLst/>
          </a:prstGeom>
        </p:spPr>
      </p:pic>
      <p:pic>
        <p:nvPicPr>
          <p:cNvPr id="23" name="Picture 22" descr="01433.jpg"/>
          <p:cNvPicPr>
            <a:picLocks noChangeAspect="1"/>
          </p:cNvPicPr>
          <p:nvPr/>
        </p:nvPicPr>
        <p:blipFill>
          <a:blip r:embed="rId10"/>
          <a:stretch>
            <a:fillRect/>
          </a:stretch>
        </p:blipFill>
        <p:spPr>
          <a:xfrm>
            <a:off x="9253728" y="5120640"/>
            <a:ext cx="1143000" cy="1143000"/>
          </a:xfrm>
          <a:prstGeom prst="rect">
            <a:avLst/>
          </a:prstGeom>
        </p:spPr>
      </p:pic>
      <p:pic>
        <p:nvPicPr>
          <p:cNvPr id="24" name="Picture 23" descr="01861.jpg"/>
          <p:cNvPicPr>
            <a:picLocks noChangeAspect="1"/>
          </p:cNvPicPr>
          <p:nvPr/>
        </p:nvPicPr>
        <p:blipFill>
          <a:blip r:embed="rId11"/>
          <a:stretch>
            <a:fillRect/>
          </a:stretch>
        </p:blipFill>
        <p:spPr>
          <a:xfrm>
            <a:off x="10497312" y="5120640"/>
            <a:ext cx="1143000" cy="1143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41210"/>
        </a:solidFill>
        <a:effectLst/>
      </p:bgPr>
    </p:bg>
    <p:spTree>
      <p:nvGrpSpPr>
        <p:cNvPr id="1" name=""/>
        <p:cNvGrpSpPr/>
        <p:nvPr/>
      </p:nvGrpSpPr>
      <p:grpSpPr/>
      <p:sp>
        <p:nvSpPr>
          <p:cNvPr id="2" name="TextBox 1"/>
          <p:cNvSpPr txBox="1"/>
          <p:nvPr/>
        </p:nvSpPr>
        <p:spPr>
          <a:xfrm>
            <a:off x="548640" y="411480"/>
            <a:ext cx="10972800" cy="274320"/>
          </a:xfrm>
          <a:prstGeom prst="rect">
            <a:avLst/>
          </a:prstGeom>
          <a:noFill/>
        </p:spPr>
        <p:txBody>
          <a:bodyPr wrap="square" lIns="0" rIns="0" tIns="0" bIns="0" anchor="t">
            <a:spAutoFit/>
          </a:bodyPr>
          <a:lstStyle/>
          <a:p>
            <a:pPr algn="l">
              <a:spcAft>
                <a:spcPts val="400"/>
              </a:spcAft>
            </a:pPr>
            <a:r>
              <a:rPr sz="1200" b="1">
                <a:solidFill>
                  <a:srgbClr val="D4A84B"/>
                </a:solidFill>
                <a:latin typeface="Calibri"/>
              </a:rPr>
              <a:t>CONCLUSION</a:t>
            </a:r>
          </a:p>
        </p:txBody>
      </p:sp>
      <p:sp>
        <p:nvSpPr>
          <p:cNvPr id="3" name="TextBox 2"/>
          <p:cNvSpPr txBox="1"/>
          <p:nvPr/>
        </p:nvSpPr>
        <p:spPr>
          <a:xfrm>
            <a:off x="548640" y="685800"/>
            <a:ext cx="11064240" cy="731520"/>
          </a:xfrm>
          <a:prstGeom prst="rect">
            <a:avLst/>
          </a:prstGeom>
          <a:noFill/>
        </p:spPr>
        <p:txBody>
          <a:bodyPr wrap="square" lIns="0" rIns="0" tIns="0" bIns="0" anchor="t">
            <a:spAutoFit/>
          </a:bodyPr>
          <a:lstStyle/>
          <a:p>
            <a:pPr algn="l">
              <a:spcAft>
                <a:spcPts val="400"/>
              </a:spcAft>
            </a:pPr>
            <a:r>
              <a:rPr sz="3400" b="1">
                <a:solidFill>
                  <a:srgbClr val="F2EDE6"/>
                </a:solidFill>
                <a:latin typeface="Cambria"/>
              </a:rPr>
              <a:t>L'application Streamlit</a:t>
            </a:r>
          </a:p>
        </p:txBody>
      </p:sp>
      <p:pic>
        <p:nvPicPr>
          <p:cNvPr id="4" name="Picture 3" descr="interface.png"/>
          <p:cNvPicPr>
            <a:picLocks noChangeAspect="1"/>
          </p:cNvPicPr>
          <p:nvPr/>
        </p:nvPicPr>
        <p:blipFill>
          <a:blip r:embed="rId3"/>
          <a:stretch>
            <a:fillRect/>
          </a:stretch>
        </p:blipFill>
        <p:spPr>
          <a:xfrm>
            <a:off x="554228" y="1508760"/>
            <a:ext cx="11080496" cy="3749040"/>
          </a:xfrm>
          <a:prstGeom prst="rect">
            <a:avLst/>
          </a:prstGeom>
        </p:spPr>
      </p:pic>
      <p:sp>
        <p:nvSpPr>
          <p:cNvPr id="5" name="TextBox 4"/>
          <p:cNvSpPr txBox="1"/>
          <p:nvPr/>
        </p:nvSpPr>
        <p:spPr>
          <a:xfrm>
            <a:off x="554228" y="5303520"/>
            <a:ext cx="11080496" cy="228600"/>
          </a:xfrm>
          <a:prstGeom prst="rect">
            <a:avLst/>
          </a:prstGeom>
          <a:noFill/>
        </p:spPr>
        <p:txBody>
          <a:bodyPr wrap="square" lIns="0" rIns="0" tIns="0" bIns="0" anchor="t">
            <a:spAutoFit/>
          </a:bodyPr>
          <a:lstStyle/>
          <a:p>
            <a:pPr algn="l">
              <a:spcAft>
                <a:spcPts val="400"/>
              </a:spcAft>
            </a:pPr>
            <a:r>
              <a:rPr sz="1100" b="0">
                <a:solidFill>
                  <a:srgbClr val="A39A90"/>
                </a:solidFill>
                <a:latin typeface="Calibri"/>
              </a:rPr>
              <a:t>Capture de l'application : la peinture n° 460596 et le schéma de sa génération</a:t>
            </a:r>
          </a:p>
        </p:txBody>
      </p:sp>
      <p:sp>
        <p:nvSpPr>
          <p:cNvPr id="6" name="Rounded Rectangle 5"/>
          <p:cNvSpPr/>
          <p:nvPr/>
        </p:nvSpPr>
        <p:spPr>
          <a:xfrm>
            <a:off x="548640" y="5760720"/>
            <a:ext cx="269748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Une peinture à la fois</a:t>
            </a:r>
          </a:p>
        </p:txBody>
      </p:sp>
      <p:sp>
        <p:nvSpPr>
          <p:cNvPr id="7" name="Rounded Rectangle 6"/>
          <p:cNvSpPr/>
          <p:nvPr/>
        </p:nvSpPr>
        <p:spPr>
          <a:xfrm>
            <a:off x="3364992" y="5760720"/>
            <a:ext cx="2697480" cy="502920"/>
          </a:xfrm>
          <a:prstGeom prst="roundRect">
            <a:avLst>
              <a:gd name="adj" fmla="val 50000"/>
            </a:avLst>
          </a:prstGeom>
          <a:solidFill>
            <a:srgbClr val="C05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Bruit → générateur → image</a:t>
            </a:r>
          </a:p>
        </p:txBody>
      </p:sp>
      <p:sp>
        <p:nvSpPr>
          <p:cNvPr id="8" name="Rounded Rectangle 7"/>
          <p:cNvSpPr/>
          <p:nvPr/>
        </p:nvSpPr>
        <p:spPr>
          <a:xfrm>
            <a:off x="6181344" y="5760720"/>
            <a:ext cx="269748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Note du discriminateur</a:t>
            </a:r>
          </a:p>
        </p:txBody>
      </p:sp>
      <p:sp>
        <p:nvSpPr>
          <p:cNvPr id="9" name="Rounded Rectangle 8"/>
          <p:cNvSpPr/>
          <p:nvPr/>
        </p:nvSpPr>
        <p:spPr>
          <a:xfrm>
            <a:off x="8997696" y="5760720"/>
            <a:ext cx="2697480" cy="502920"/>
          </a:xfrm>
          <a:prstGeom prst="roundRect">
            <a:avLst>
              <a:gd name="adj" fmla="val 50000"/>
            </a:avLst>
          </a:prstGeom>
          <a:solidFill>
            <a:srgbClr val="332D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400" b="1">
                <a:solidFill>
                  <a:srgbClr val="F2EDE6"/>
                </a:solidFill>
                <a:latin typeface="Calibri"/>
              </a:rPr>
              <a:t>Collections · Téléchargement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GANisme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