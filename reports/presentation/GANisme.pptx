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 des peintures</c:v>
                </c:pt>
              </c:strCache>
            </c:strRef>
          </c:tx>
          <c:spPr>
            <a:solidFill>
              <a:srgbClr val="A8A39D"/>
            </a:solidFill>
          </c:spPr>
          <c:dPt>
            <c:idx val="9"/>
            <c:spPr>
              <a:solidFill>
                <a:srgbClr val="8C2F39"/>
              </a:solidFill>
            </c:spPr>
          </c:dPt>
          <c:cat>
            <c:strRef>
              <c:f>Sheet1!$A$2:$A$11</c:f>
              <c:strCache>
                <c:ptCount val="10"/>
                <c:pt idx="0">
                  <c:v>étude</c:v>
                </c:pt>
                <c:pt idx="1">
                  <c:v>intérieur</c:v>
                </c:pt>
                <c:pt idx="2">
                  <c:v>historique</c:v>
                </c:pt>
                <c:pt idx="3">
                  <c:v>autre</c:v>
                </c:pt>
                <c:pt idx="4">
                  <c:v>nature morte</c:v>
                </c:pt>
                <c:pt idx="5">
                  <c:v>scène de genre</c:v>
                </c:pt>
                <c:pt idx="6">
                  <c:v>mythologique</c:v>
                </c:pt>
                <c:pt idx="7">
                  <c:v>paysage</c:v>
                </c:pt>
                <c:pt idx="8">
                  <c:v>portrait</c:v>
                </c:pt>
                <c:pt idx="9">
                  <c:v>religieux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0.002466243294901042</c:v>
                </c:pt>
                <c:pt idx="1">
                  <c:v>0.019606634194463284</c:v>
                </c:pt>
                <c:pt idx="2">
                  <c:v>0.029070842838646034</c:v>
                </c:pt>
                <c:pt idx="3">
                  <c:v>0.029903199950675134</c:v>
                </c:pt>
                <c:pt idx="4">
                  <c:v>0.04331339786669955</c:v>
                </c:pt>
                <c:pt idx="5">
                  <c:v>0.0854553301683211</c:v>
                </c:pt>
                <c:pt idx="6">
                  <c:v>0.0987113878784142</c:v>
                </c:pt>
                <c:pt idx="7">
                  <c:v>0.12648745298723718</c:v>
                </c:pt>
                <c:pt idx="8">
                  <c:v>0.14828287810592514</c:v>
                </c:pt>
                <c:pt idx="9">
                  <c:v>0.4167026327147173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F5A55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Catalogue</c:v>
                </c:pt>
              </c:strCache>
            </c:strRef>
          </c:tx>
          <c:spPr>
            <a:solidFill>
              <a:srgbClr val="A8A39D"/>
            </a:solidFill>
          </c:spPr>
          <c:cat>
            <c:strRef>
              <c:f>Sheet1!$A$2:$A$11</c:f>
              <c:strCache>
                <c:ptCount val="10"/>
                <c:pt idx="0">
                  <c:v>étude</c:v>
                </c:pt>
                <c:pt idx="1">
                  <c:v>intérieur</c:v>
                </c:pt>
                <c:pt idx="2">
                  <c:v>historique</c:v>
                </c:pt>
                <c:pt idx="3">
                  <c:v>autre</c:v>
                </c:pt>
                <c:pt idx="4">
                  <c:v>nature morte</c:v>
                </c:pt>
                <c:pt idx="5">
                  <c:v>scène de genre</c:v>
                </c:pt>
                <c:pt idx="6">
                  <c:v>mythologique</c:v>
                </c:pt>
                <c:pt idx="7">
                  <c:v>paysage</c:v>
                </c:pt>
                <c:pt idx="8">
                  <c:v>portrait</c:v>
                </c:pt>
                <c:pt idx="9">
                  <c:v>religieux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0.002466243294901042</c:v>
                </c:pt>
                <c:pt idx="1">
                  <c:v>0.019606634194463284</c:v>
                </c:pt>
                <c:pt idx="2">
                  <c:v>0.029070842838646034</c:v>
                </c:pt>
                <c:pt idx="3">
                  <c:v>0.029903199950675134</c:v>
                </c:pt>
                <c:pt idx="4">
                  <c:v>0.04331339786669955</c:v>
                </c:pt>
                <c:pt idx="5">
                  <c:v>0.0854553301683211</c:v>
                </c:pt>
                <c:pt idx="6">
                  <c:v>0.0987113878784142</c:v>
                </c:pt>
                <c:pt idx="7">
                  <c:v>0.12648745298723718</c:v>
                </c:pt>
                <c:pt idx="8">
                  <c:v>0.14828287810592514</c:v>
                </c:pt>
                <c:pt idx="9">
                  <c:v>0.4167026327147173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Sélection</c:v>
                </c:pt>
              </c:strCache>
            </c:strRef>
          </c:tx>
          <c:spPr>
            <a:solidFill>
              <a:srgbClr val="8C2F39"/>
            </a:solidFill>
          </c:spPr>
          <c:cat>
            <c:strRef>
              <c:f>Sheet1!$A$2:$A$11</c:f>
              <c:strCache>
                <c:ptCount val="10"/>
                <c:pt idx="0">
                  <c:v>étude</c:v>
                </c:pt>
                <c:pt idx="1">
                  <c:v>intérieur</c:v>
                </c:pt>
                <c:pt idx="2">
                  <c:v>historique</c:v>
                </c:pt>
                <c:pt idx="3">
                  <c:v>autre</c:v>
                </c:pt>
                <c:pt idx="4">
                  <c:v>nature morte</c:v>
                </c:pt>
                <c:pt idx="5">
                  <c:v>scène de genre</c:v>
                </c:pt>
                <c:pt idx="6">
                  <c:v>mythologique</c:v>
                </c:pt>
                <c:pt idx="7">
                  <c:v>paysage</c:v>
                </c:pt>
                <c:pt idx="8">
                  <c:v>portrait</c:v>
                </c:pt>
                <c:pt idx="9">
                  <c:v>religieux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0.006875</c:v>
                </c:pt>
                <c:pt idx="1">
                  <c:v>0.037</c:v>
                </c:pt>
                <c:pt idx="2">
                  <c:v>0.064</c:v>
                </c:pt>
                <c:pt idx="3">
                  <c:v>0.0595</c:v>
                </c:pt>
                <c:pt idx="4">
                  <c:v>0.129125</c:v>
                </c:pt>
                <c:pt idx="5">
                  <c:v>0.140625</c:v>
                </c:pt>
                <c:pt idx="6">
                  <c:v>0.140625</c:v>
                </c:pt>
                <c:pt idx="7">
                  <c:v>0.14075</c:v>
                </c:pt>
                <c:pt idx="8">
                  <c:v>0.14075</c:v>
                </c:pt>
                <c:pt idx="9">
                  <c:v>0.14075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/>
          </a:pPr>
        </a:p>
      </c:txPr>
    </c:legend>
    <c:dispBlanksAs val="gap"/>
  </c:chart>
  <c:txPr>
    <a:bodyPr/>
    <a:lstStyle/>
    <a:p>
      <a:pPr>
        <a:defRPr sz="1200">
          <a:solidFill>
            <a:srgbClr val="5F5A55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Présentation du projet GANisme : générer des peintures originales avec un réseau antagoniste génératif, entraîné sur le catalogue de la Web Gallery of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plan suit les attendus de l'énoncé.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partie : les réponses aux 15 questions de veille de l'énoncé.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Q1 : le GAN répond à l'apprentissage non supervisé d'un modèle génératif. Q2 : deux réseaux s'affrontent ; le générateur apprend à tromper le discriminateur.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Q3 : rôles et différence génératif / discriminant. Q4 : entrées. Q5 : densité implicite.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Q6 : rétropropagation alternée. Q9 : la convergence est un équilibre, pas un minimum ; les pertes oscillent, d'où le suivi visuel.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Q7 : aucune métrique unique ; on croise FID/KID, précision/rappel et inspection visuelle. Q8 : pas de seuil universel ; notre jeu vise ~8 000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Q10 : avantages et inconvénients. Q11 : variantes avec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Q12 : un CNN est une architecture, un GAN une méthode d'entraînement ; le DCGAN combine les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Q13 : ChatGPT repose sur GPT, un transformer autorégressif d'OpenAI. Q14 : dangers. Q15 : notre position sur l'intérêt de générer des données.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Deuxième partie : l'analyse du catalogue, faite sans télécharger d'images.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chiffres clés du catalogue. Les inconnues sont codées par un tiret, pas par des cases vides.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déséquilibre des genres est le premier risque : un GAN entraîné au hasard ferait surtout des scènes religieuses.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genre dépend fortement de l'époque : rééquilibrer les genres rééquilibre aussi les époques.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pièges repérés pendant l'analyse, chacun avec sa conséquence sur la sélection.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Troisième partie : comment on passe du catalogue à des images prêtes pour l'entraînement.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Entonnoir de sélection, puis tirage de 8 000 images avec quotas équilibrés par genre et 30 images maximum par artiste. Découpage 90/10 par œuvre.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pipeline de scraping est reprenable. Difficulté rencontrée : le premier téléchargement s'est bloqué car le serveur envoyait certaines images au compte-gouttes ; corrigé par un délai total par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5 de l'énoncé : ce que montrent les images, et les conséquences sur le prétraitement.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décisions de prétraitement, chacune justifiée par une observation.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Quatrième partie : le modèle. L'entraînement n'a pas encore été lancé.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prévue, d'après le papier DCGAN. Rien n'est encore entraîné : ces valeurs sont un point de départ à valider.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résultats seront ajoutés après l'entraînement. Le protocole d'évaluation est déjà fixé.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compléter par l'équipe : outils, rituels, répartition des tâches.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Bilan : analyse et pipeline de données terminés et testés ; le GAN reste à entraîner.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Relationship Id="rId7" Type="http://schemas.openxmlformats.org/officeDocument/2006/relationships/image" Target="../media/image5.jpg"/><Relationship Id="rId8" Type="http://schemas.openxmlformats.org/officeDocument/2006/relationships/image" Target="../media/image6.jpg"/><Relationship Id="rId9" Type="http://schemas.openxmlformats.org/officeDocument/2006/relationships/image" Target="../media/image7.jpg"/><Relationship Id="rId10" Type="http://schemas.openxmlformats.org/officeDocument/2006/relationships/image" Target="../media/image8.jpg"/><Relationship Id="rId11" Type="http://schemas.openxmlformats.org/officeDocument/2006/relationships/image" Target="../media/image9.jpg"/><Relationship Id="rId12" Type="http://schemas.openxmlformats.org/officeDocument/2006/relationships/image" Target="../media/image10.jpg"/><Relationship Id="rId13" Type="http://schemas.openxmlformats.org/officeDocument/2006/relationships/image" Target="../media/image11.jpg"/><Relationship Id="rId14" Type="http://schemas.openxmlformats.org/officeDocument/2006/relationships/image" Target="../media/image12.jpg"/><Relationship Id="rId15" Type="http://schemas.openxmlformats.org/officeDocument/2006/relationships/image" Target="../media/image13.jpg"/><Relationship Id="rId16" Type="http://schemas.openxmlformats.org/officeDocument/2006/relationships/image" Target="../media/image14.jpg"/><Relationship Id="rId17" Type="http://schemas.openxmlformats.org/officeDocument/2006/relationships/image" Target="../media/image15.jpg"/><Relationship Id="rId18" Type="http://schemas.openxmlformats.org/officeDocument/2006/relationships/image" Target="../media/image16.jpg"/><Relationship Id="rId19" Type="http://schemas.openxmlformats.org/officeDocument/2006/relationships/image" Target="../media/image17.jpg"/><Relationship Id="rId20" Type="http://schemas.openxmlformats.org/officeDocument/2006/relationships/image" Target="../media/image18.jpg"/><Relationship Id="rId21" Type="http://schemas.openxmlformats.org/officeDocument/2006/relationships/image" Target="../media/image19.jpg"/><Relationship Id="rId22" Type="http://schemas.openxmlformats.org/officeDocument/2006/relationships/image" Target="../media/image20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Relationship Id="rId6" Type="http://schemas.openxmlformats.org/officeDocument/2006/relationships/image" Target="../media/image2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jpg"/><Relationship Id="rId4" Type="http://schemas.openxmlformats.org/officeDocument/2006/relationships/image" Target="../media/image26.jpg"/><Relationship Id="rId5" Type="http://schemas.openxmlformats.org/officeDocument/2006/relationships/image" Target="../media/image27.jpg"/><Relationship Id="rId6" Type="http://schemas.openxmlformats.org/officeDocument/2006/relationships/image" Target="../media/image28.jpg"/><Relationship Id="rId7" Type="http://schemas.openxmlformats.org/officeDocument/2006/relationships/image" Target="../media/image29.jpg"/><Relationship Id="rId8" Type="http://schemas.openxmlformats.org/officeDocument/2006/relationships/image" Target="../media/image30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jpg"/><Relationship Id="rId4" Type="http://schemas.openxmlformats.org/officeDocument/2006/relationships/image" Target="../media/image34.jpg"/><Relationship Id="rId5" Type="http://schemas.openxmlformats.org/officeDocument/2006/relationships/image" Target="../media/image35.jpg"/><Relationship Id="rId6" Type="http://schemas.openxmlformats.org/officeDocument/2006/relationships/image" Target="../media/image36.jpg"/><Relationship Id="rId7" Type="http://schemas.openxmlformats.org/officeDocument/2006/relationships/image" Target="../media/image37.jpg"/><Relationship Id="rId8" Type="http://schemas.openxmlformats.org/officeDocument/2006/relationships/image" Target="../media/image3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Relationship Id="rId6" Type="http://schemas.openxmlformats.org/officeDocument/2006/relationships/image" Target="../media/image24.jpg"/><Relationship Id="rId7" Type="http://schemas.openxmlformats.org/officeDocument/2006/relationships/image" Target="../media/image40.jpg"/><Relationship Id="rId8" Type="http://schemas.openxmlformats.org/officeDocument/2006/relationships/image" Target="../media/image4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2.jpg"/><Relationship Id="rId4" Type="http://schemas.openxmlformats.org/officeDocument/2006/relationships/image" Target="../media/image43.jpg"/><Relationship Id="rId5" Type="http://schemas.openxmlformats.org/officeDocument/2006/relationships/image" Target="../media/image44.jpg"/><Relationship Id="rId6" Type="http://schemas.openxmlformats.org/officeDocument/2006/relationships/image" Target="../media/image45.jpg"/><Relationship Id="rId7" Type="http://schemas.openxmlformats.org/officeDocument/2006/relationships/image" Target="../media/image46.jpg"/><Relationship Id="rId8" Type="http://schemas.openxmlformats.org/officeDocument/2006/relationships/image" Target="../media/image47.jpg"/><Relationship Id="rId9" Type="http://schemas.openxmlformats.org/officeDocument/2006/relationships/image" Target="../media/image48.jpg"/><Relationship Id="rId10" Type="http://schemas.openxmlformats.org/officeDocument/2006/relationships/image" Target="../media/image49.jpg"/><Relationship Id="rId11" Type="http://schemas.openxmlformats.org/officeDocument/2006/relationships/image" Target="../media/image50.jpg"/><Relationship Id="rId12" Type="http://schemas.openxmlformats.org/officeDocument/2006/relationships/image" Target="../media/image51.jpg"/><Relationship Id="rId13" Type="http://schemas.openxmlformats.org/officeDocument/2006/relationships/image" Target="../media/image35.jpg"/><Relationship Id="rId14" Type="http://schemas.openxmlformats.org/officeDocument/2006/relationships/image" Target="../media/image52.jpg"/><Relationship Id="rId15" Type="http://schemas.openxmlformats.org/officeDocument/2006/relationships/image" Target="../media/image53.jpg"/><Relationship Id="rId16" Type="http://schemas.openxmlformats.org/officeDocument/2006/relationships/image" Target="../media/image54.jpg"/><Relationship Id="rId17" Type="http://schemas.openxmlformats.org/officeDocument/2006/relationships/image" Target="../media/image55.jpg"/><Relationship Id="rId18" Type="http://schemas.openxmlformats.org/officeDocument/2006/relationships/image" Target="../media/image56.jpg"/><Relationship Id="rId19" Type="http://schemas.openxmlformats.org/officeDocument/2006/relationships/image" Target="../media/image28.jpg"/><Relationship Id="rId20" Type="http://schemas.openxmlformats.org/officeDocument/2006/relationships/image" Target="../media/image57.jpg"/><Relationship Id="rId21" Type="http://schemas.openxmlformats.org/officeDocument/2006/relationships/image" Target="../media/image58.jpg"/><Relationship Id="rId22" Type="http://schemas.openxmlformats.org/officeDocument/2006/relationships/image" Target="../media/image59.jpg"/><Relationship Id="rId23" Type="http://schemas.openxmlformats.org/officeDocument/2006/relationships/image" Target="../media/image32.jpg"/><Relationship Id="rId24" Type="http://schemas.openxmlformats.org/officeDocument/2006/relationships/image" Target="../media/image60.jpg"/><Relationship Id="rId25" Type="http://schemas.openxmlformats.org/officeDocument/2006/relationships/image" Target="../media/image61.jpg"/><Relationship Id="rId26" Type="http://schemas.openxmlformats.org/officeDocument/2006/relationships/image" Target="../media/image62.jpg"/><Relationship Id="rId27" Type="http://schemas.openxmlformats.org/officeDocument/2006/relationships/image" Target="../media/image6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4.jpg"/><Relationship Id="rId4" Type="http://schemas.openxmlformats.org/officeDocument/2006/relationships/image" Target="../media/image65.jpg"/><Relationship Id="rId5" Type="http://schemas.openxmlformats.org/officeDocument/2006/relationships/image" Target="../media/image66.jpg"/><Relationship Id="rId6" Type="http://schemas.openxmlformats.org/officeDocument/2006/relationships/image" Target="../media/image67.jpg"/><Relationship Id="rId7" Type="http://schemas.openxmlformats.org/officeDocument/2006/relationships/image" Target="../media/image68.jpg"/><Relationship Id="rId8" Type="http://schemas.openxmlformats.org/officeDocument/2006/relationships/image" Target="../media/image69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0.jpg"/><Relationship Id="rId4" Type="http://schemas.openxmlformats.org/officeDocument/2006/relationships/image" Target="../media/image71.jpg"/><Relationship Id="rId5" Type="http://schemas.openxmlformats.org/officeDocument/2006/relationships/image" Target="../media/image72.jpg"/><Relationship Id="rId6" Type="http://schemas.openxmlformats.org/officeDocument/2006/relationships/image" Target="../media/image73.jpg"/><Relationship Id="rId7" Type="http://schemas.openxmlformats.org/officeDocument/2006/relationships/image" Target="../media/image67.jpg"/><Relationship Id="rId8" Type="http://schemas.openxmlformats.org/officeDocument/2006/relationships/image" Target="../media/image74.jpg"/><Relationship Id="rId9" Type="http://schemas.openxmlformats.org/officeDocument/2006/relationships/image" Target="../media/image75.jpg"/><Relationship Id="rId10" Type="http://schemas.openxmlformats.org/officeDocument/2006/relationships/image" Target="../media/image76.jpg"/><Relationship Id="rId11" Type="http://schemas.openxmlformats.org/officeDocument/2006/relationships/image" Target="../media/image7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5669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 i="0">
                <a:solidFill>
                  <a:srgbClr val="FFFFFF"/>
                </a:solidFill>
                <a:latin typeface="Cambria"/>
              </a:rPr>
              <a:t>GANisme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0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D4A84B"/>
                </a:solidFill>
                <a:latin typeface="Cambria"/>
              </a:rPr>
              <a:t>Générer des peintures avec un réseau antagoniste génératif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0"/>
            <a:ext cx="5394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A8A39D"/>
                </a:solidFill>
                <a:latin typeface="Calibri"/>
              </a:rPr>
              <a:t>La Plateforme · Projet Deep Learning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A8A39D"/>
                </a:solidFill>
                <a:latin typeface="Calibri"/>
              </a:rPr>
              <a:t>Équipe : [à compléter]</a:t>
            </a:r>
          </a:p>
        </p:txBody>
      </p:sp>
      <p:pic>
        <p:nvPicPr>
          <p:cNvPr id="5" name="Picture 4" descr="0052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502920"/>
            <a:ext cx="1097280" cy="1097280"/>
          </a:xfrm>
          <a:prstGeom prst="rect">
            <a:avLst/>
          </a:prstGeom>
        </p:spPr>
      </p:pic>
      <p:pic>
        <p:nvPicPr>
          <p:cNvPr id="6" name="Picture 5" descr="0033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502920"/>
            <a:ext cx="1097280" cy="1097280"/>
          </a:xfrm>
          <a:prstGeom prst="rect">
            <a:avLst/>
          </a:prstGeom>
        </p:spPr>
      </p:pic>
      <p:pic>
        <p:nvPicPr>
          <p:cNvPr id="7" name="Picture 6" descr="0019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4584" y="502920"/>
            <a:ext cx="1097280" cy="1097280"/>
          </a:xfrm>
          <a:prstGeom prst="rect">
            <a:avLst/>
          </a:prstGeom>
        </p:spPr>
      </p:pic>
      <p:pic>
        <p:nvPicPr>
          <p:cNvPr id="8" name="Picture 7" descr="0004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15016" y="502920"/>
            <a:ext cx="1097280" cy="1097280"/>
          </a:xfrm>
          <a:prstGeom prst="rect">
            <a:avLst/>
          </a:prstGeom>
        </p:spPr>
      </p:pic>
      <p:pic>
        <p:nvPicPr>
          <p:cNvPr id="9" name="Picture 8" descr="0053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1673352"/>
            <a:ext cx="1097280" cy="1097280"/>
          </a:xfrm>
          <a:prstGeom prst="rect">
            <a:avLst/>
          </a:prstGeom>
        </p:spPr>
      </p:pic>
      <p:pic>
        <p:nvPicPr>
          <p:cNvPr id="10" name="Picture 9" descr="00988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4152" y="1673352"/>
            <a:ext cx="1097280" cy="1097280"/>
          </a:xfrm>
          <a:prstGeom prst="rect">
            <a:avLst/>
          </a:prstGeom>
        </p:spPr>
      </p:pic>
      <p:pic>
        <p:nvPicPr>
          <p:cNvPr id="11" name="Picture 10" descr="0024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44584" y="1673352"/>
            <a:ext cx="1097280" cy="1097280"/>
          </a:xfrm>
          <a:prstGeom prst="rect">
            <a:avLst/>
          </a:prstGeom>
        </p:spPr>
      </p:pic>
      <p:pic>
        <p:nvPicPr>
          <p:cNvPr id="12" name="Picture 11" descr="00665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15016" y="1673352"/>
            <a:ext cx="1097280" cy="1097280"/>
          </a:xfrm>
          <a:prstGeom prst="rect">
            <a:avLst/>
          </a:prstGeom>
        </p:spPr>
      </p:pic>
      <p:pic>
        <p:nvPicPr>
          <p:cNvPr id="13" name="Picture 12" descr="00806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03720" y="2843784"/>
            <a:ext cx="1097280" cy="1097280"/>
          </a:xfrm>
          <a:prstGeom prst="rect">
            <a:avLst/>
          </a:prstGeom>
        </p:spPr>
      </p:pic>
      <p:pic>
        <p:nvPicPr>
          <p:cNvPr id="14" name="Picture 13" descr="00672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74152" y="2843784"/>
            <a:ext cx="1097280" cy="1097280"/>
          </a:xfrm>
          <a:prstGeom prst="rect">
            <a:avLst/>
          </a:prstGeom>
        </p:spPr>
      </p:pic>
      <p:pic>
        <p:nvPicPr>
          <p:cNvPr id="15" name="Picture 14" descr="00749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44584" y="2843784"/>
            <a:ext cx="1097280" cy="1097280"/>
          </a:xfrm>
          <a:prstGeom prst="rect">
            <a:avLst/>
          </a:prstGeom>
        </p:spPr>
      </p:pic>
      <p:pic>
        <p:nvPicPr>
          <p:cNvPr id="16" name="Picture 15" descr="00308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15016" y="2843784"/>
            <a:ext cx="1097280" cy="1097280"/>
          </a:xfrm>
          <a:prstGeom prst="rect">
            <a:avLst/>
          </a:prstGeom>
        </p:spPr>
      </p:pic>
      <p:pic>
        <p:nvPicPr>
          <p:cNvPr id="17" name="Picture 16" descr="00698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03720" y="4014216"/>
            <a:ext cx="1097280" cy="1097280"/>
          </a:xfrm>
          <a:prstGeom prst="rect">
            <a:avLst/>
          </a:prstGeom>
        </p:spPr>
      </p:pic>
      <p:pic>
        <p:nvPicPr>
          <p:cNvPr id="18" name="Picture 17" descr="00479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74152" y="4014216"/>
            <a:ext cx="1097280" cy="1097280"/>
          </a:xfrm>
          <a:prstGeom prst="rect">
            <a:avLst/>
          </a:prstGeom>
        </p:spPr>
      </p:pic>
      <p:pic>
        <p:nvPicPr>
          <p:cNvPr id="19" name="Picture 18" descr="00070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44584" y="4014216"/>
            <a:ext cx="1097280" cy="1097280"/>
          </a:xfrm>
          <a:prstGeom prst="rect">
            <a:avLst/>
          </a:prstGeom>
        </p:spPr>
      </p:pic>
      <p:pic>
        <p:nvPicPr>
          <p:cNvPr id="20" name="Picture 19" descr="00592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415016" y="4014216"/>
            <a:ext cx="1097280" cy="1097280"/>
          </a:xfrm>
          <a:prstGeom prst="rect">
            <a:avLst/>
          </a:prstGeom>
        </p:spPr>
      </p:pic>
      <p:pic>
        <p:nvPicPr>
          <p:cNvPr id="21" name="Picture 20" descr="00087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03720" y="5184648"/>
            <a:ext cx="1097280" cy="1097280"/>
          </a:xfrm>
          <a:prstGeom prst="rect">
            <a:avLst/>
          </a:prstGeom>
        </p:spPr>
      </p:pic>
      <p:pic>
        <p:nvPicPr>
          <p:cNvPr id="22" name="Picture 21" descr="00465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74152" y="5184648"/>
            <a:ext cx="1097280" cy="1097280"/>
          </a:xfrm>
          <a:prstGeom prst="rect">
            <a:avLst/>
          </a:prstGeom>
        </p:spPr>
      </p:pic>
      <p:pic>
        <p:nvPicPr>
          <p:cNvPr id="23" name="Picture 22" descr="00156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44584" y="5184648"/>
            <a:ext cx="1097280" cy="1097280"/>
          </a:xfrm>
          <a:prstGeom prst="rect">
            <a:avLst/>
          </a:prstGeom>
        </p:spPr>
      </p:pic>
      <p:pic>
        <p:nvPicPr>
          <p:cNvPr id="24" name="Picture 23" descr="00044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15016" y="5184648"/>
            <a:ext cx="1097280" cy="10972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903720" y="640080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A8A39D"/>
                </a:solidFill>
                <a:latin typeface="Calibri"/>
              </a:rPr>
              <a:t>Images réelles du jeu d'entraînement (Web Gallery of Art)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urtitre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C2F39"/>
                </a:solidFill>
                <a:latin typeface="Calibri"/>
              </a:rPr>
              <a:t>PLAN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1B18"/>
                </a:solidFill>
                <a:latin typeface="Cambria"/>
              </a:rPr>
              <a:t>Du catalogue au générateur de peintures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7099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E1B18"/>
                </a:solidFill>
                <a:latin typeface="Cambria"/>
              </a:rPr>
              <a:t>Veille scientifique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0574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5A55"/>
                </a:solidFill>
                <a:latin typeface="Calibri"/>
              </a:rPr>
              <a:t>Les 15 questions sur les GAN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06040"/>
            <a:ext cx="640080" cy="640080"/>
          </a:xfrm>
          <a:prstGeom prst="ellipse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6243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E1B18"/>
                </a:solidFill>
                <a:latin typeface="Cambria"/>
              </a:rPr>
              <a:t>Le catalogue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9718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5A55"/>
                </a:solidFill>
                <a:latin typeface="Calibri"/>
              </a:rPr>
              <a:t>Analyse des 52 867 œuvres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20440"/>
            <a:ext cx="640080" cy="640080"/>
          </a:xfrm>
          <a:prstGeom prst="ellipse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5387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E1B18"/>
                </a:solidFill>
                <a:latin typeface="Cambria"/>
              </a:rPr>
              <a:t>Le jeu d'images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8862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5A55"/>
                </a:solidFill>
                <a:latin typeface="Calibri"/>
              </a:rPr>
              <a:t>Sélection, scraping, prétraitement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4840"/>
            <a:ext cx="640080" cy="640080"/>
          </a:xfrm>
          <a:prstGeom prst="ellipse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4531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E1B18"/>
                </a:solidFill>
                <a:latin typeface="Cambria"/>
              </a:rPr>
              <a:t>Le modèle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800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5A55"/>
                </a:solidFill>
                <a:latin typeface="Calibri"/>
              </a:rPr>
              <a:t>Architecture DCGAN, résultats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349240"/>
            <a:ext cx="640080" cy="640080"/>
          </a:xfrm>
          <a:prstGeom prst="ellipse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3675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E1B18"/>
                </a:solidFill>
                <a:latin typeface="Cambria"/>
              </a:rPr>
              <a:t>Équipe et conclusion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715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5A55"/>
                </a:solidFill>
                <a:latin typeface="Calibri"/>
              </a:rPr>
              <a:t>Organisation, difficultés, suite</a:t>
            </a:r>
          </a:p>
        </p:txBody>
      </p:sp>
      <p:pic>
        <p:nvPicPr>
          <p:cNvPr id="19" name="Picture 18" descr="0082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691640"/>
            <a:ext cx="2194560" cy="2194560"/>
          </a:xfrm>
          <a:prstGeom prst="rect">
            <a:avLst/>
          </a:prstGeom>
        </p:spPr>
      </p:pic>
      <p:pic>
        <p:nvPicPr>
          <p:cNvPr id="20" name="Picture 19" descr="0088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1691640"/>
            <a:ext cx="2194560" cy="2194560"/>
          </a:xfrm>
          <a:prstGeom prst="rect">
            <a:avLst/>
          </a:prstGeom>
        </p:spPr>
      </p:pic>
      <p:pic>
        <p:nvPicPr>
          <p:cNvPr id="21" name="Picture 20" descr="0070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4023360"/>
            <a:ext cx="2194560" cy="2194560"/>
          </a:xfrm>
          <a:prstGeom prst="rect">
            <a:avLst/>
          </a:prstGeom>
        </p:spPr>
      </p:pic>
      <p:pic>
        <p:nvPicPr>
          <p:cNvPr id="22" name="Picture 21" descr="0080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4023360"/>
            <a:ext cx="219456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 i="0">
                <a:solidFill>
                  <a:srgbClr val="D4A84B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5204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Veille scientifique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4340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A8A39D"/>
                </a:solidFill>
                <a:latin typeface="Calibri"/>
              </a:rPr>
              <a:t>Comprendre les GAN avant de les entraîner</a:t>
            </a:r>
          </a:p>
        </p:txBody>
      </p:sp>
      <p:pic>
        <p:nvPicPr>
          <p:cNvPr id="5" name="Picture 4" descr="010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5055" y="548640"/>
            <a:ext cx="1051560" cy="1051560"/>
          </a:xfrm>
          <a:prstGeom prst="rect">
            <a:avLst/>
          </a:prstGeom>
        </p:spPr>
      </p:pic>
      <p:pic>
        <p:nvPicPr>
          <p:cNvPr id="6" name="Picture 5" descr="0097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6343" y="548640"/>
            <a:ext cx="1051560" cy="1051560"/>
          </a:xfrm>
          <a:prstGeom prst="rect">
            <a:avLst/>
          </a:prstGeom>
        </p:spPr>
      </p:pic>
      <p:pic>
        <p:nvPicPr>
          <p:cNvPr id="7" name="Picture 6" descr="0033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7631" y="548640"/>
            <a:ext cx="1051560" cy="1051560"/>
          </a:xfrm>
          <a:prstGeom prst="rect">
            <a:avLst/>
          </a:prstGeom>
        </p:spPr>
      </p:pic>
      <p:pic>
        <p:nvPicPr>
          <p:cNvPr id="8" name="Picture 7" descr="0092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8919" y="548640"/>
            <a:ext cx="1051560" cy="1051560"/>
          </a:xfrm>
          <a:prstGeom prst="rect">
            <a:avLst/>
          </a:prstGeom>
        </p:spPr>
      </p:pic>
      <p:pic>
        <p:nvPicPr>
          <p:cNvPr id="9" name="Picture 8" descr="00069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0207" y="548640"/>
            <a:ext cx="1051560" cy="1051560"/>
          </a:xfrm>
          <a:prstGeom prst="rect">
            <a:avLst/>
          </a:prstGeom>
        </p:spPr>
      </p:pic>
      <p:pic>
        <p:nvPicPr>
          <p:cNvPr id="10" name="Picture 9" descr="0010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1495" y="54864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urtitre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C2F39"/>
                </a:solidFill>
                <a:latin typeface="Calibri"/>
              </a:rPr>
              <a:t>VEILLE · Q1–Q2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1B18"/>
                </a:solidFill>
                <a:latin typeface="Cambria"/>
              </a:rPr>
              <a:t>Deux réseaux qui s'affrontent pour apprendre à créer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42062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1E1B18"/>
                </a:solidFill>
                <a:latin typeface="Calibri"/>
              </a:rPr>
              <a:t>Q1 · Problème initial. </a:t>
            </a:r>
            <a:r>
              <a:rPr sz="1500" b="0" i="0">
                <a:solidFill>
                  <a:srgbClr val="1E1B18"/>
                </a:solidFill>
                <a:latin typeface="Calibri"/>
              </a:rPr>
              <a:t>Apprentissage non supervisé d'un modèle génératif : produire de nouvelles données qui suivent la distribution d'un jeu d'exemples, sans étiquettes.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1E1B18"/>
                </a:solidFill>
                <a:latin typeface="Calibri"/>
              </a:rPr>
              <a:t>Ailleurs ? </a:t>
            </a:r>
            <a:r>
              <a:rPr sz="1500" b="0" i="0">
                <a:solidFill>
                  <a:srgbClr val="1E1B18"/>
                </a:solidFill>
                <a:latin typeface="Calibri"/>
              </a:rPr>
              <a:t>Efficace en image-à-image, super-résolution, augmentation de données, semi-supervisé. Moins adapté au texte : l'échantillonnage discret bloque le gradient.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1E1B18"/>
                </a:solidFill>
                <a:latin typeface="Calibri"/>
              </a:rPr>
              <a:t>Q2 · Principe. </a:t>
            </a:r>
            <a:r>
              <a:rPr sz="1500" b="0" i="0">
                <a:solidFill>
                  <a:srgbClr val="1E1B18"/>
                </a:solidFill>
                <a:latin typeface="Calibri"/>
              </a:rPr>
              <a:t>Jeu à somme nulle : le générateur fabrique des faux, le discriminateur les démasque. Chacun s'améliore contre l'autre jusqu'à ce que les faux soient indiscernables.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57800" y="3497580"/>
            <a:ext cx="1280160" cy="868680"/>
          </a:xfrm>
          <a:prstGeom prst="roundRect">
            <a:avLst>
              <a:gd name="adj" fmla="val 6000"/>
            </a:avLst>
          </a:prstGeom>
          <a:solidFill>
            <a:srgbClr val="F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57800" y="3497580"/>
            <a:ext cx="12801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E1B18"/>
                </a:solidFill>
                <a:latin typeface="Calibri"/>
              </a:rPr>
              <a:t>Bruit z</a:t>
            </a:r>
          </a:p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5F5A55"/>
                </a:solidFill>
                <a:latin typeface="Calibri"/>
              </a:rPr>
              <a:t>100 nombres aléatoires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611112" y="3794760"/>
            <a:ext cx="274320" cy="274320"/>
          </a:xfrm>
          <a:prstGeom prst="rightArrow">
            <a:avLst/>
          </a:prstGeom>
          <a:solidFill>
            <a:srgbClr val="A8A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0" y="3497580"/>
            <a:ext cx="1280160" cy="868680"/>
          </a:xfrm>
          <a:prstGeom prst="roundRect">
            <a:avLst>
              <a:gd name="adj" fmla="val 6000"/>
            </a:avLst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3497580"/>
            <a:ext cx="12801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Générateur 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302752" y="3794760"/>
            <a:ext cx="274320" cy="274320"/>
          </a:xfrm>
          <a:prstGeom prst="rightArrow">
            <a:avLst/>
          </a:prstGeom>
          <a:solidFill>
            <a:srgbClr val="A8A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099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691640"/>
            <a:ext cx="1005840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58200" y="27432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F5A55"/>
                </a:solidFill>
                <a:latin typeface="Calibri"/>
              </a:rPr>
              <a:t>vraie peinture</a:t>
            </a:r>
          </a:p>
        </p:txBody>
      </p:sp>
      <p:pic>
        <p:nvPicPr>
          <p:cNvPr id="13" name="Picture 12" descr="0039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3429000"/>
            <a:ext cx="1005840" cy="1005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58200" y="44805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F5A55"/>
                </a:solidFill>
                <a:latin typeface="Calibri"/>
              </a:rPr>
              <a:t>image générée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720072" y="2057400"/>
            <a:ext cx="274320" cy="274320"/>
          </a:xfrm>
          <a:prstGeom prst="rightArrow">
            <a:avLst/>
          </a:prstGeom>
          <a:solidFill>
            <a:srgbClr val="A8A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9720072" y="3794760"/>
            <a:ext cx="274320" cy="274320"/>
          </a:xfrm>
          <a:prstGeom prst="rightArrow">
            <a:avLst/>
          </a:prstGeom>
          <a:solidFill>
            <a:srgbClr val="A8A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104120" y="1691640"/>
            <a:ext cx="1508760" cy="2743200"/>
          </a:xfrm>
          <a:prstGeom prst="roundRect">
            <a:avLst>
              <a:gd name="adj" fmla="val 6000"/>
            </a:avLst>
          </a:prstGeom>
          <a:solidFill>
            <a:srgbClr val="1E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04120" y="1691640"/>
            <a:ext cx="1508760" cy="274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Discriminateur D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D4A84B"/>
                </a:solidFill>
                <a:latin typeface="Calibri"/>
              </a:rPr>
              <a:t>« vrai ou faux ? 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4800600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5A55"/>
                </a:solidFill>
                <a:latin typeface="Calibri"/>
              </a:rPr>
              <a:t>Le gradient de D indique à G comment mieux le tromper.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5303520"/>
            <a:ext cx="6309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8C2F39"/>
                </a:solidFill>
                <a:latin typeface="Cambria"/>
              </a:rPr>
              <a:t>min</a:t>
            </a:r>
            <a:r>
              <a:rPr sz="1000" b="0" i="0">
                <a:solidFill>
                  <a:srgbClr val="8C2F39"/>
                </a:solidFill>
                <a:latin typeface="Cambria"/>
              </a:rPr>
              <a:t>G</a:t>
            </a:r>
            <a:r>
              <a:rPr sz="1700" b="1" i="0">
                <a:solidFill>
                  <a:srgbClr val="8C2F39"/>
                </a:solidFill>
                <a:latin typeface="Cambria"/>
              </a:rPr>
              <a:t> max</a:t>
            </a:r>
            <a:r>
              <a:rPr sz="1000" b="0" i="0">
                <a:solidFill>
                  <a:srgbClr val="8C2F39"/>
                </a:solidFill>
                <a:latin typeface="Cambria"/>
              </a:rPr>
              <a:t>D</a:t>
            </a:r>
            <a:r>
              <a:rPr sz="1700" b="0" i="0">
                <a:solidFill>
                  <a:srgbClr val="8C2F39"/>
                </a:solidFill>
                <a:latin typeface="Cambria"/>
              </a:rPr>
              <a:t>  E[log D(x)] + E[log(1 − D(G(z)))]</a:t>
            </a:r>
          </a:p>
        </p:txBody>
      </p:sp>
      <p:sp>
        <p:nvSpPr>
          <p:cNvPr id="21" name="Pied de page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5A55"/>
                </a:solidFill>
                <a:latin typeface="Calibri"/>
              </a:rPr>
              <a:t>Goodfellow et al., Generative Adversarial Nets, 2014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urtitre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C2F39"/>
                </a:solidFill>
                <a:latin typeface="Calibri"/>
              </a:rPr>
              <a:t>VEILLE · Q3–Q5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1B18"/>
                </a:solidFill>
                <a:latin typeface="Cambria"/>
              </a:rPr>
              <a:t>Générer n'est pas classer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520440" cy="4480560"/>
          </a:xfrm>
          <a:prstGeom prst="roundRect">
            <a:avLst>
              <a:gd name="adj" fmla="val 6000"/>
            </a:avLst>
          </a:prstGeom>
          <a:solidFill>
            <a:srgbClr val="F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8C2F39"/>
                </a:solidFill>
                <a:latin typeface="Cambria"/>
              </a:rPr>
              <a:t>Q3 · Rôles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297180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1200"/>
              </a:spcAft>
              <a:buChar char="•"/>
            </a:pPr>
            <a:r>
              <a:rPr sz="1600" b="1" i="0">
                <a:solidFill>
                  <a:srgbClr val="1E1B18"/>
                </a:solidFill>
                <a:latin typeface="Calibri"/>
              </a:rPr>
              <a:t>Générateur : </a:t>
            </a:r>
            <a:r>
              <a:rPr sz="1600" b="0" i="0">
                <a:solidFill>
                  <a:srgbClr val="1E1B18"/>
                </a:solidFill>
                <a:latin typeface="Calibri"/>
              </a:rPr>
              <a:t>transforme du bruit en image réaliste.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600" b="1" i="0">
                <a:solidFill>
                  <a:srgbClr val="1E1B18"/>
                </a:solidFill>
                <a:latin typeface="Calibri"/>
              </a:rPr>
              <a:t>Discriminateur : </a:t>
            </a:r>
            <a:r>
              <a:rPr sz="1600" b="0" i="0">
                <a:solidFill>
                  <a:srgbClr val="1E1B18"/>
                </a:solidFill>
                <a:latin typeface="Calibri"/>
              </a:rPr>
              <a:t>classifieur binaire vrai / faux, qui sert de critique à G.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600" b="1" i="0">
                <a:solidFill>
                  <a:srgbClr val="1E1B18"/>
                </a:solidFill>
                <a:latin typeface="Calibri"/>
              </a:rPr>
              <a:t>Modèle discriminant : </a:t>
            </a:r>
            <a:r>
              <a:rPr sz="1600" b="0" i="0">
                <a:solidFill>
                  <a:srgbClr val="1E1B18"/>
                </a:solidFill>
                <a:latin typeface="Calibri"/>
              </a:rPr>
              <a:t>apprend p(y | x), une frontière entre classes.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600" b="1" i="0">
                <a:solidFill>
                  <a:srgbClr val="1E1B18"/>
                </a:solidFill>
                <a:latin typeface="Calibri"/>
              </a:rPr>
              <a:t>Modèle génératif : </a:t>
            </a:r>
            <a:r>
              <a:rPr sz="1600" b="0" i="0">
                <a:solidFill>
                  <a:srgbClr val="1E1B18"/>
                </a:solidFill>
                <a:latin typeface="Calibri"/>
              </a:rPr>
              <a:t>apprend p(x) ; il peut produire de nouveaux 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520440" cy="4480560"/>
          </a:xfrm>
          <a:prstGeom prst="roundRect">
            <a:avLst>
              <a:gd name="adj" fmla="val 6000"/>
            </a:avLst>
          </a:prstGeom>
          <a:solidFill>
            <a:srgbClr val="F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74519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8C2F39"/>
                </a:solidFill>
                <a:latin typeface="Cambria"/>
              </a:rPr>
              <a:t>Q4 · Entrées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423160"/>
            <a:ext cx="297180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1200"/>
              </a:spcAft>
              <a:buChar char="•"/>
            </a:pPr>
            <a:r>
              <a:rPr sz="1600" b="1" i="0">
                <a:solidFill>
                  <a:srgbClr val="1E1B18"/>
                </a:solidFill>
                <a:latin typeface="Calibri"/>
              </a:rPr>
              <a:t>G reçoit </a:t>
            </a:r>
            <a:r>
              <a:rPr sz="1600" b="0" i="0">
                <a:solidFill>
                  <a:srgbClr val="1E1B18"/>
                </a:solidFill>
                <a:latin typeface="Calibri"/>
              </a:rPr>
              <a:t>un vecteur de bruit z (ex. 100 valeurs tirées d'une loi normale), plus une étiquette pour un GAN conditionnel.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600" b="1" i="0">
                <a:solidFill>
                  <a:srgbClr val="1E1B18"/>
                </a:solidFill>
                <a:latin typeface="Calibri"/>
              </a:rPr>
              <a:t>D reçoit </a:t>
            </a:r>
            <a:r>
              <a:rPr sz="1600" b="0" i="0">
                <a:solidFill>
                  <a:srgbClr val="1E1B18"/>
                </a:solidFill>
                <a:latin typeface="Calibri"/>
              </a:rPr>
              <a:t>une image, vraie (jeu de données) ou générée, et sort la probabilité qu'elle soit vraie.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520440" cy="4480560"/>
          </a:xfrm>
          <a:prstGeom prst="roundRect">
            <a:avLst>
              <a:gd name="adj" fmla="val 6000"/>
            </a:avLst>
          </a:prstGeom>
          <a:solidFill>
            <a:srgbClr val="F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874519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8C2F39"/>
                </a:solidFill>
                <a:latin typeface="Cambria"/>
              </a:rPr>
              <a:t>Q5 · Densité implicite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423160"/>
            <a:ext cx="297180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1200"/>
              </a:spcAft>
              <a:buChar char="•"/>
            </a:pPr>
            <a:r>
              <a:rPr sz="1600" b="0" i="0">
                <a:solidFill>
                  <a:srgbClr val="1E1B18"/>
                </a:solidFill>
                <a:latin typeface="Calibri"/>
              </a:rPr>
              <a:t>Le GAN ne donne jamais la formule de p(x) ni la vraisemblance d'une image.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600" b="0" i="0">
                <a:solidFill>
                  <a:srgbClr val="1E1B18"/>
                </a:solidFill>
                <a:latin typeface="Calibri"/>
              </a:rPr>
              <a:t>La distribution n'existe qu'à travers l'échantillonnage z → G(z).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600" b="0" i="0">
                <a:solidFill>
                  <a:srgbClr val="5F5A55"/>
                </a:solidFill>
                <a:latin typeface="Calibri"/>
              </a:rPr>
              <a:t>À l'inverse, VAE et flows sont des modèles à densité explicite.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urtitre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C2F39"/>
                </a:solidFill>
                <a:latin typeface="Calibri"/>
              </a:rPr>
              <a:t>VEILLE · Q6 ET Q9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1B18"/>
                </a:solidFill>
                <a:latin typeface="Cambria"/>
              </a:rPr>
              <a:t>Un entraînement alterné qui cherche un équilibre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916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1B18"/>
                </a:solidFill>
                <a:latin typeface="Cambria"/>
              </a:rPr>
              <a:t>Pas du discriminateur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75688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1B18"/>
                </a:solidFill>
                <a:latin typeface="Calibri"/>
              </a:rPr>
              <a:t>Un lot de vraies images (étiquette 1) et de fausses (étiquette 0). Perte d'entropie croisée binaire, rétropropagée dans D seul : G est figé.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108960"/>
            <a:ext cx="548640" cy="548640"/>
          </a:xfrm>
          <a:prstGeom prst="ellipse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1089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1B18"/>
                </a:solidFill>
                <a:latin typeface="Cambria"/>
              </a:rPr>
              <a:t>Pas du générateur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493008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1B18"/>
                </a:solidFill>
                <a:latin typeface="Calibri"/>
              </a:rPr>
              <a:t>G génère, D juge. Perte −log D(G(z)) : le gradient traverse D (figé) jusqu'à G, dont seuls les poids sont mis à jour.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54880"/>
            <a:ext cx="5394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8C2F39"/>
                </a:solidFill>
                <a:latin typeface="Calibri"/>
              </a:rPr>
              <a:t>Q6 · </a:t>
            </a:r>
            <a:r>
              <a:rPr sz="1400" b="0" i="0">
                <a:solidFill>
                  <a:srgbClr val="1E1B18"/>
                </a:solidFill>
                <a:latin typeface="Calibri"/>
              </a:rPr>
              <a:t>On répète ces deux pas à chaque lot. La rétropropagation est classique, seule change la cible de la perte selon le réseau entraîné.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5212080" cy="4480560"/>
          </a:xfrm>
          <a:prstGeom prst="roundRect">
            <a:avLst>
              <a:gd name="adj" fmla="val 6000"/>
            </a:avLst>
          </a:prstGeom>
          <a:solidFill>
            <a:srgbClr val="F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874519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8C2F39"/>
                </a:solidFill>
                <a:latin typeface="Cambria"/>
              </a:rPr>
              <a:t>Q9 · Convergence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423160"/>
            <a:ext cx="466344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900"/>
              </a:spcAft>
              <a:buChar char="•"/>
            </a:pPr>
            <a:r>
              <a:rPr sz="1400" b="1" i="0">
                <a:solidFill>
                  <a:srgbClr val="1E1B18"/>
                </a:solidFill>
                <a:latin typeface="Calibri"/>
              </a:rPr>
              <a:t>Équilibre théorique : </a:t>
            </a:r>
            <a:r>
              <a:rPr sz="1400" b="0" i="0">
                <a:solidFill>
                  <a:srgbClr val="1E1B18"/>
                </a:solidFill>
                <a:latin typeface="Calibri"/>
              </a:rPr>
              <a:t>les faux suivent la distribution réelle et D répond 0,5 partout.</a:t>
            </a:r>
          </a:p>
          <a:p>
            <a:pPr algn="l" marL="201168" indent="-201168">
              <a:spcAft>
                <a:spcPts val="900"/>
              </a:spcAft>
              <a:buChar char="•"/>
            </a:pPr>
            <a:r>
              <a:rPr sz="1400" b="1" i="0">
                <a:solidFill>
                  <a:srgbClr val="1E1B18"/>
                </a:solidFill>
                <a:latin typeface="Calibri"/>
              </a:rPr>
              <a:t>En pratique, </a:t>
            </a:r>
            <a:r>
              <a:rPr sz="1400" b="0" i="0">
                <a:solidFill>
                  <a:srgbClr val="1E1B18"/>
                </a:solidFill>
                <a:latin typeface="Calibri"/>
              </a:rPr>
              <a:t>les pertes oscillent au lieu de décroître : elles ne disent pas si G progresse.</a:t>
            </a:r>
          </a:p>
          <a:p>
            <a:pPr algn="l" marL="201168" indent="-201168">
              <a:spcAft>
                <a:spcPts val="900"/>
              </a:spcAft>
              <a:buChar char="•"/>
            </a:pPr>
            <a:r>
              <a:rPr sz="1400" b="1" i="0">
                <a:solidFill>
                  <a:srgbClr val="1E1B18"/>
                </a:solidFill>
                <a:latin typeface="Calibri"/>
              </a:rPr>
              <a:t>D trop fort : </a:t>
            </a:r>
            <a:r>
              <a:rPr sz="1400" b="0" i="0">
                <a:solidFill>
                  <a:srgbClr val="1E1B18"/>
                </a:solidFill>
                <a:latin typeface="Calibri"/>
              </a:rPr>
              <a:t>D(G(z)) ≈ 0, les gradients de G s'évanouissent.</a:t>
            </a:r>
          </a:p>
          <a:p>
            <a:pPr algn="l" marL="201168" indent="-201168">
              <a:spcAft>
                <a:spcPts val="900"/>
              </a:spcAft>
              <a:buChar char="•"/>
            </a:pPr>
            <a:r>
              <a:rPr sz="1400" b="1" i="0">
                <a:solidFill>
                  <a:srgbClr val="1E1B18"/>
                </a:solidFill>
                <a:latin typeface="Calibri"/>
              </a:rPr>
              <a:t>D trop faible : </a:t>
            </a:r>
            <a:r>
              <a:rPr sz="1400" b="0" i="0">
                <a:solidFill>
                  <a:srgbClr val="1E1B18"/>
                </a:solidFill>
                <a:latin typeface="Calibri"/>
              </a:rPr>
              <a:t>G ne reçoit plus de signal utile.</a:t>
            </a:r>
          </a:p>
          <a:p>
            <a:pPr algn="l" marL="201168" indent="-201168">
              <a:spcAft>
                <a:spcPts val="900"/>
              </a:spcAft>
              <a:buChar char="•"/>
            </a:pPr>
            <a:r>
              <a:rPr sz="1400" b="1" i="0">
                <a:solidFill>
                  <a:srgbClr val="1E1B18"/>
                </a:solidFill>
                <a:latin typeface="Calibri"/>
              </a:rPr>
              <a:t>Mode collapse : </a:t>
            </a:r>
            <a:r>
              <a:rPr sz="1400" b="0" i="0">
                <a:solidFill>
                  <a:srgbClr val="1E1B18"/>
                </a:solidFill>
                <a:latin typeface="Calibri"/>
              </a:rPr>
              <a:t>G ne produit plus que quelques variantes qui trompent 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urtitre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C2F39"/>
                </a:solidFill>
                <a:latin typeface="Calibri"/>
              </a:rPr>
              <a:t>VEILLE · Q7–Q8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1B18"/>
                </a:solidFill>
                <a:latin typeface="Cambria"/>
              </a:rPr>
              <a:t>Évaluer un GAN : croiser les métriques et le regard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69494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3337560"/>
                <a:gridCol w="201168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Méthode</a:t>
                      </a:r>
                    </a:p>
                  </a:txBody>
                  <a:tcPr marL="91440" marR="91440" marT="45720" marB="45720">
                    <a:solidFill>
                      <a:srgbClr val="1E1B1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Ce qu'elle mesure</a:t>
                      </a:r>
                    </a:p>
                  </a:txBody>
                  <a:tcPr marL="91440" marR="91440" marT="45720" marB="45720">
                    <a:solidFill>
                      <a:srgbClr val="1E1B1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Limite</a:t>
                      </a:r>
                    </a:p>
                  </a:txBody>
                  <a:tcPr marL="91440" marR="91440" marT="45720" marB="45720">
                    <a:solidFill>
                      <a:srgbClr val="1E1B1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1B18"/>
                          </a:solidFill>
                          <a:latin typeface="Calibri"/>
                        </a:rPr>
                        <a:t>FID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1B18"/>
                          </a:solidFill>
                          <a:latin typeface="Calibri"/>
                        </a:rPr>
                        <a:t>Distance entre les statistiques (Inception) des vraies et fausses images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1B18"/>
                          </a:solidFill>
                          <a:latin typeface="Calibri"/>
                        </a:rPr>
                        <a:t>Biaisé sur petits échantillons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1B18"/>
                          </a:solidFill>
                          <a:latin typeface="Calibri"/>
                        </a:rPr>
                        <a:t>KID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1B18"/>
                          </a:solidFill>
                          <a:latin typeface="Calibri"/>
                        </a:rPr>
                        <a:t>Même idée, estimateur non biaisé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1B18"/>
                          </a:solidFill>
                          <a:latin typeface="Calibri"/>
                        </a:rPr>
                        <a:t>Dépend aussi d'Inception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1B18"/>
                          </a:solidFill>
                          <a:latin typeface="Calibri"/>
                        </a:rPr>
                        <a:t>Inception Score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1B18"/>
                          </a:solidFill>
                          <a:latin typeface="Calibri"/>
                        </a:rPr>
                        <a:t>Netteté et variété des classes ImageNet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1B18"/>
                          </a:solidFill>
                          <a:latin typeface="Calibri"/>
                        </a:rPr>
                        <a:t>Inadapté aux peintures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1B18"/>
                          </a:solidFill>
                          <a:latin typeface="Calibri"/>
                        </a:rPr>
                        <a:t>Précision / rappel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1B18"/>
                          </a:solidFill>
                          <a:latin typeface="Calibri"/>
                        </a:rPr>
                        <a:t>Fidélité et couverture, séparément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1B18"/>
                          </a:solidFill>
                          <a:latin typeface="Calibri"/>
                        </a:rPr>
                        <a:t>Plus coûteux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1B18"/>
                          </a:solidFill>
                          <a:latin typeface="Calibri"/>
                        </a:rPr>
                        <a:t>Inspection visuelle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1B18"/>
                          </a:solidFill>
                          <a:latin typeface="Calibri"/>
                        </a:rPr>
                        <a:t>Artefacts, diversité, mode collapse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1B18"/>
                          </a:solidFill>
                          <a:latin typeface="Calibri"/>
                        </a:rPr>
                        <a:t>Subjective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1B18"/>
                          </a:solidFill>
                          <a:latin typeface="Calibri"/>
                        </a:rPr>
                        <a:t>Plus proches voisins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1B18"/>
                          </a:solidFill>
                          <a:latin typeface="Calibri"/>
                        </a:rPr>
                        <a:t>Mémorisation des images d'entraînement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1B18"/>
                          </a:solidFill>
                          <a:latin typeface="Calibri"/>
                        </a:rPr>
                        <a:t>Qualitatif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863840" y="1645920"/>
            <a:ext cx="3749039" cy="4480560"/>
          </a:xfrm>
          <a:prstGeom prst="roundRect">
            <a:avLst>
              <a:gd name="adj" fmla="val 6000"/>
            </a:avLst>
          </a:prstGeom>
          <a:solidFill>
            <a:srgbClr val="F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187451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8C2F39"/>
                </a:solidFill>
                <a:latin typeface="Cambria"/>
              </a:rPr>
              <a:t>Q8 · Combien de données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423160"/>
            <a:ext cx="320040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900"/>
              </a:spcAft>
              <a:buChar char="•"/>
            </a:pPr>
            <a:r>
              <a:rPr sz="1400" b="0" i="0">
                <a:solidFill>
                  <a:srgbClr val="1E1B18"/>
                </a:solidFill>
                <a:latin typeface="Calibri"/>
              </a:rPr>
              <a:t>Pas de seuil universel : cela dépend de la résolution et de la diversité.</a:t>
            </a:r>
          </a:p>
          <a:p>
            <a:pPr algn="l" marL="201168" indent="-201168">
              <a:spcAft>
                <a:spcPts val="900"/>
              </a:spcAft>
              <a:buChar char="•"/>
            </a:pPr>
            <a:r>
              <a:rPr sz="1400" b="0" i="0">
                <a:solidFill>
                  <a:srgbClr val="1E1B18"/>
                </a:solidFill>
                <a:latin typeface="Calibri"/>
              </a:rPr>
              <a:t>DCGAN : de quelques milliers à des centaines de milliers d'images (CelebA : 200 000).</a:t>
            </a:r>
          </a:p>
          <a:p>
            <a:pPr algn="l" marL="201168" indent="-201168">
              <a:spcAft>
                <a:spcPts val="900"/>
              </a:spcAft>
              <a:buChar char="•"/>
            </a:pPr>
            <a:r>
              <a:rPr sz="1400" b="0" i="0">
                <a:solidFill>
                  <a:srgbClr val="1E1B18"/>
                </a:solidFill>
                <a:latin typeface="Calibri"/>
              </a:rPr>
              <a:t>StyleGAN2-ADA descend à 1 000–2 000 images grâce à l'augmentation adaptative.</a:t>
            </a:r>
          </a:p>
          <a:p>
            <a:pPr algn="l" marL="201168" indent="-201168">
              <a:spcAft>
                <a:spcPts val="900"/>
              </a:spcAft>
              <a:buChar char="•"/>
            </a:pPr>
            <a:r>
              <a:rPr sz="1400" b="0" i="0">
                <a:solidFill>
                  <a:srgbClr val="1E1B18"/>
                </a:solidFill>
                <a:latin typeface="Calibri"/>
              </a:rPr>
              <a:t>Trop peu de données : D sur-apprend, G mémorise.</a:t>
            </a:r>
          </a:p>
          <a:p>
            <a:pPr algn="l" marL="201168" indent="-201168">
              <a:spcAft>
                <a:spcPts val="900"/>
              </a:spcAft>
              <a:buChar char="•"/>
            </a:pPr>
            <a:r>
              <a:rPr sz="1400" b="1" i="0">
                <a:solidFill>
                  <a:srgbClr val="1E1B18"/>
                </a:solidFill>
                <a:latin typeface="Calibri"/>
              </a:rPr>
              <a:t>Notre choix : ~8 000 images en 64×64.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urtitre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C2F39"/>
                </a:solidFill>
                <a:latin typeface="Calibri"/>
              </a:rPr>
              <a:t>VEILLE · Q10–Q11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1B18"/>
                </a:solidFill>
                <a:latin typeface="Cambria"/>
              </a:rPr>
              <a:t>Des images nettes, au prix d'un entraînement instable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743200" cy="4480560"/>
          </a:xfrm>
          <a:prstGeom prst="roundRect">
            <a:avLst>
              <a:gd name="adj" fmla="val 6000"/>
            </a:avLst>
          </a:prstGeom>
          <a:solidFill>
            <a:srgbClr val="F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8C2F39"/>
                </a:solidFill>
                <a:latin typeface="Cambria"/>
              </a:rPr>
              <a:t>Avantages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22860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1E1B18"/>
                </a:solidFill>
                <a:latin typeface="Calibri"/>
              </a:rPr>
              <a:t>Images nettes et réalistes</a:t>
            </a:r>
          </a:p>
          <a:p>
            <a:pPr algn="l" marL="201168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1E1B18"/>
                </a:solidFill>
                <a:latin typeface="Calibri"/>
              </a:rPr>
              <a:t>Génération rapide (une passe)</a:t>
            </a:r>
          </a:p>
          <a:p>
            <a:pPr algn="l" marL="201168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1E1B18"/>
                </a:solidFill>
                <a:latin typeface="Calibri"/>
              </a:rPr>
              <a:t>Pas de vraisemblance à calculer</a:t>
            </a:r>
          </a:p>
          <a:p>
            <a:pPr algn="l" marL="201168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1E1B18"/>
                </a:solidFill>
                <a:latin typeface="Calibri"/>
              </a:rPr>
              <a:t>Non supervisé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1148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8C2F39"/>
                </a:solidFill>
                <a:latin typeface="Cambria"/>
              </a:rPr>
              <a:t>Inconvénients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72000"/>
            <a:ext cx="2286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1E1B18"/>
                </a:solidFill>
                <a:latin typeface="Calibri"/>
              </a:rPr>
              <a:t>Instable, sensible aux réglages</a:t>
            </a:r>
          </a:p>
          <a:p>
            <a:pPr algn="l" marL="201168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1E1B18"/>
                </a:solidFill>
                <a:latin typeface="Calibri"/>
              </a:rPr>
              <a:t>Mode collapse</a:t>
            </a:r>
          </a:p>
          <a:p>
            <a:pPr algn="l" marL="201168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1E1B18"/>
                </a:solidFill>
                <a:latin typeface="Calibri"/>
              </a:rPr>
              <a:t>Évaluation difficile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566160" y="1645920"/>
          <a:ext cx="80467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926080"/>
                <a:gridCol w="32004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Variante</a:t>
                      </a:r>
                    </a:p>
                  </a:txBody>
                  <a:tcPr marL="91440" marR="91440" marT="45720" marB="45720">
                    <a:solidFill>
                      <a:srgbClr val="1E1B1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Idée clé</a:t>
                      </a:r>
                    </a:p>
                  </a:txBody>
                  <a:tcPr marL="91440" marR="91440" marT="45720" marB="45720">
                    <a:solidFill>
                      <a:srgbClr val="1E1B1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Exemple d'application</a:t>
                      </a:r>
                    </a:p>
                  </a:txBody>
                  <a:tcPr marL="91440" marR="91440" marT="45720" marB="45720">
                    <a:solidFill>
                      <a:srgbClr val="1E1B1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1B18"/>
                          </a:solidFill>
                          <a:latin typeface="Calibri"/>
                        </a:rPr>
                        <a:t>DCGAN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1B18"/>
                          </a:solidFill>
                          <a:latin typeface="Calibri"/>
                        </a:rPr>
                        <a:t>Réseaux convolutifs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1B18"/>
                          </a:solidFill>
                          <a:latin typeface="Calibri"/>
                        </a:rPr>
                        <a:t>Images 64×64 (notre baseline)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1B18"/>
                          </a:solidFill>
                          <a:latin typeface="Calibri"/>
                        </a:rPr>
                        <a:t>GAN conditionnel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1B18"/>
                          </a:solidFill>
                          <a:latin typeface="Calibri"/>
                        </a:rPr>
                        <a:t>Ajoute une étiquette à 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1B18"/>
                          </a:solidFill>
                          <a:latin typeface="Calibri"/>
                        </a:rPr>
                        <a:t>Générer un genre précis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1B18"/>
                          </a:solidFill>
                          <a:latin typeface="Calibri"/>
                        </a:rPr>
                        <a:t>Pix2Pix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1B18"/>
                          </a:solidFill>
                          <a:latin typeface="Calibri"/>
                        </a:rPr>
                        <a:t>Paires d'images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1B18"/>
                          </a:solidFill>
                          <a:latin typeface="Calibri"/>
                        </a:rPr>
                        <a:t>Croquis → photo, carte → satellite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1B18"/>
                          </a:solidFill>
                          <a:latin typeface="Calibri"/>
                        </a:rPr>
                        <a:t>CycleGAN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1B18"/>
                          </a:solidFill>
                          <a:latin typeface="Calibri"/>
                        </a:rPr>
                        <a:t>Sans paires, cohérence de cycle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1B18"/>
                          </a:solidFill>
                          <a:latin typeface="Calibri"/>
                        </a:rPr>
                        <a:t>Photo ↔ tableau de Monet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1B18"/>
                          </a:solidFill>
                          <a:latin typeface="Calibri"/>
                        </a:rPr>
                        <a:t>StyleGAN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1B18"/>
                          </a:solidFill>
                          <a:latin typeface="Calibri"/>
                        </a:rPr>
                        <a:t>Style injecté couche par couche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1B18"/>
                          </a:solidFill>
                          <a:latin typeface="Calibri"/>
                        </a:rPr>
                        <a:t>Visages (thispersondoesnotexist)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1B18"/>
                          </a:solidFill>
                          <a:latin typeface="Calibri"/>
                        </a:rPr>
                        <a:t>WGAN-GP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1B18"/>
                          </a:solidFill>
                          <a:latin typeface="Calibri"/>
                        </a:rPr>
                        <a:t>Distance de Wasserstein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1B18"/>
                          </a:solidFill>
                          <a:latin typeface="Calibri"/>
                        </a:rPr>
                        <a:t>Entraînement plus stable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1B18"/>
                          </a:solidFill>
                          <a:latin typeface="Calibri"/>
                        </a:rPr>
                        <a:t>SRGAN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1B18"/>
                          </a:solidFill>
                          <a:latin typeface="Calibri"/>
                        </a:rPr>
                        <a:t>Perte perceptuelle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1B18"/>
                          </a:solidFill>
                          <a:latin typeface="Calibri"/>
                        </a:rPr>
                        <a:t>Super-résolution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urtitre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C2F39"/>
                </a:solidFill>
                <a:latin typeface="Calibri"/>
              </a:rPr>
              <a:t>VEILLE · Q12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1B18"/>
                </a:solidFill>
                <a:latin typeface="Cambria"/>
              </a:rPr>
              <a:t>CNN, GAN, DCGAN : une architecture et une méthode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560320"/>
                <a:gridCol w="3017520"/>
                <a:gridCol w="365760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1E1B1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CNN</a:t>
                      </a:r>
                    </a:p>
                  </a:txBody>
                  <a:tcPr marL="91440" marR="91440" marT="45720" marB="45720">
                    <a:solidFill>
                      <a:srgbClr val="1E1B1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Vanilla GAN (2014)</a:t>
                      </a:r>
                    </a:p>
                  </a:txBody>
                  <a:tcPr marL="91440" marR="91440" marT="45720" marB="45720">
                    <a:solidFill>
                      <a:srgbClr val="1E1B1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DCGAN (2015)</a:t>
                      </a:r>
                    </a:p>
                  </a:txBody>
                  <a:tcPr marL="91440" marR="91440" marT="45720" marB="45720">
                    <a:solidFill>
                      <a:srgbClr val="1E1B1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1B18"/>
                          </a:solidFill>
                          <a:latin typeface="Calibri"/>
                        </a:rPr>
                        <a:t>Nature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1B18"/>
                          </a:solidFill>
                          <a:latin typeface="Calibri"/>
                        </a:rPr>
                        <a:t>Architecture de réseau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1B18"/>
                          </a:solidFill>
                          <a:latin typeface="Calibri"/>
                        </a:rPr>
                        <a:t>Méthode d'entraînement à deux réseaux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1B18"/>
                          </a:solidFill>
                          <a:latin typeface="Calibri"/>
                        </a:rPr>
                        <a:t>GAN dont G et D sont des CNN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1B18"/>
                          </a:solidFill>
                          <a:latin typeface="Calibri"/>
                        </a:rPr>
                        <a:t>Tâche typique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1B18"/>
                          </a:solidFill>
                          <a:latin typeface="Calibri"/>
                        </a:rPr>
                        <a:t>Classer (discriminant)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1B18"/>
                          </a:solidFill>
                          <a:latin typeface="Calibri"/>
                        </a:rPr>
                        <a:t>Générer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1B18"/>
                          </a:solidFill>
                          <a:latin typeface="Calibri"/>
                        </a:rPr>
                        <a:t>Générer des images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1B18"/>
                          </a:solidFill>
                          <a:latin typeface="Calibri"/>
                        </a:rPr>
                        <a:t>Couches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1B18"/>
                          </a:solidFill>
                          <a:latin typeface="Calibri"/>
                        </a:rPr>
                        <a:t>Convolutions, pooling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1B18"/>
                          </a:solidFill>
                          <a:latin typeface="Calibri"/>
                        </a:rPr>
                        <a:t>Perceptrons multicouches (denses)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1B18"/>
                          </a:solidFill>
                          <a:latin typeface="Calibri"/>
                        </a:rPr>
                        <a:t>Convolutions à pas, convolutions transposées dans G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1B18"/>
                          </a:solidFill>
                          <a:latin typeface="Calibri"/>
                        </a:rPr>
                        <a:t>Normalisation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1B18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1B18"/>
                          </a:solidFill>
                          <a:latin typeface="Calibri"/>
                        </a:rPr>
                        <a:t>Aucune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1B18"/>
                          </a:solidFill>
                          <a:latin typeface="Calibri"/>
                        </a:rPr>
                        <a:t>BatchNorm dans G et 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1B18"/>
                          </a:solidFill>
                          <a:latin typeface="Calibri"/>
                        </a:rPr>
                        <a:t>Activations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1B18"/>
                          </a:solidFill>
                          <a:latin typeface="Calibri"/>
                        </a:rPr>
                        <a:t>ReLU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1B18"/>
                          </a:solidFill>
                          <a:latin typeface="Calibri"/>
                        </a:rPr>
                        <a:t>ReLU / sigmoïde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1B18"/>
                          </a:solidFill>
                          <a:latin typeface="Calibri"/>
                        </a:rPr>
                        <a:t>ReLU (G), LeakyReLU (D), tanh en sortie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1B18"/>
                          </a:solidFill>
                          <a:latin typeface="Calibri"/>
                        </a:rPr>
                        <a:t>Limite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1B18"/>
                          </a:solidFill>
                          <a:latin typeface="Calibri"/>
                        </a:rPr>
                        <a:t>Ne génère pas seul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1B18"/>
                          </a:solidFill>
                          <a:latin typeface="Calibri"/>
                        </a:rPr>
                        <a:t>Instable sur images complexes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1B18"/>
                          </a:solidFill>
                          <a:latin typeface="Calibri"/>
                        </a:rPr>
                        <a:t>Résolution limitée (~64×64)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ied de page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5A55"/>
                </a:solidFill>
                <a:latin typeface="Calibri"/>
              </a:rPr>
              <a:t>Radford, Metz, Chintala, Unsupervised Representation Learning with DCGANs, 2015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urtitre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C2F39"/>
                </a:solidFill>
                <a:latin typeface="Calibri"/>
              </a:rPr>
              <a:t>VEILLE · Q13–Q15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1B18"/>
                </a:solidFill>
                <a:latin typeface="Cambria"/>
              </a:rPr>
              <a:t>D'autres modèles génératifs, et leurs risques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520440" cy="4480560"/>
          </a:xfrm>
          <a:prstGeom prst="roundRect">
            <a:avLst>
              <a:gd name="adj" fmla="val 6000"/>
            </a:avLst>
          </a:prstGeom>
          <a:solidFill>
            <a:srgbClr val="F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8C2F39"/>
                </a:solidFill>
                <a:latin typeface="Cambria"/>
              </a:rPr>
              <a:t>Q13 · ChatGPT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297180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1200"/>
              </a:spcAft>
              <a:buChar char="•"/>
            </a:pPr>
            <a:r>
              <a:rPr sz="1600" b="1" i="0">
                <a:solidFill>
                  <a:srgbClr val="1E1B18"/>
                </a:solidFill>
                <a:latin typeface="Calibri"/>
              </a:rPr>
              <a:t>Modèle : </a:t>
            </a:r>
            <a:r>
              <a:rPr sz="1600" b="0" i="0">
                <a:solidFill>
                  <a:srgbClr val="1E1B18"/>
                </a:solidFill>
                <a:latin typeface="Calibri"/>
              </a:rPr>
              <a:t>GPT, Generative Pre-trained Transformer.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600" b="1" i="0">
                <a:solidFill>
                  <a:srgbClr val="1E1B18"/>
                </a:solidFill>
                <a:latin typeface="Calibri"/>
              </a:rPr>
              <a:t>Famille : </a:t>
            </a:r>
            <a:r>
              <a:rPr sz="1600" b="0" i="0">
                <a:solidFill>
                  <a:srgbClr val="1E1B18"/>
                </a:solidFill>
                <a:latin typeface="Calibri"/>
              </a:rPr>
              <a:t>transformers, grands modèles de langage autorégressifs (prédiction du mot suivant), affinés par retour humain (RLHF).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600" b="1" i="0">
                <a:solidFill>
                  <a:srgbClr val="1E1B18"/>
                </a:solidFill>
                <a:latin typeface="Calibri"/>
              </a:rPr>
              <a:t>Développé par </a:t>
            </a:r>
            <a:r>
              <a:rPr sz="1600" b="0" i="0">
                <a:solidFill>
                  <a:srgbClr val="1E1B18"/>
                </a:solidFill>
                <a:latin typeface="Calibri"/>
              </a:rPr>
              <a:t>OpenAI.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520440" cy="4480560"/>
          </a:xfrm>
          <a:prstGeom prst="roundRect">
            <a:avLst>
              <a:gd name="adj" fmla="val 6000"/>
            </a:avLst>
          </a:prstGeom>
          <a:solidFill>
            <a:srgbClr val="F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74519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8C2F39"/>
                </a:solidFill>
                <a:latin typeface="Cambria"/>
              </a:rPr>
              <a:t>Q14 · Dangers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423160"/>
            <a:ext cx="297180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1200"/>
              </a:spcAft>
              <a:buChar char="•"/>
            </a:pPr>
            <a:r>
              <a:rPr sz="1600" b="0" i="0">
                <a:solidFill>
                  <a:srgbClr val="1E1B18"/>
                </a:solidFill>
                <a:latin typeface="Calibri"/>
              </a:rPr>
              <a:t>Deepfakes : usurpation d'identité, fraude, chantage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600" b="0" i="0">
                <a:solidFill>
                  <a:srgbClr val="1E1B18"/>
                </a:solidFill>
                <a:latin typeface="Calibri"/>
              </a:rPr>
              <a:t>Désinformation à grande échelle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600" b="0" i="0">
                <a:solidFill>
                  <a:srgbClr val="1E1B18"/>
                </a:solidFill>
                <a:latin typeface="Calibri"/>
              </a:rPr>
              <a:t>Biais des données reproduits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600" b="0" i="0">
                <a:solidFill>
                  <a:srgbClr val="1E1B18"/>
                </a:solidFill>
                <a:latin typeface="Calibri"/>
              </a:rPr>
              <a:t>Droits des artistes, imitation de style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600" b="0" i="0">
                <a:solidFill>
                  <a:srgbClr val="1E1B18"/>
                </a:solidFill>
                <a:latin typeface="Calibri"/>
              </a:rPr>
              <a:t>Mémorisation de données privées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520440" cy="4480560"/>
          </a:xfrm>
          <a:prstGeom prst="roundRect">
            <a:avLst>
              <a:gd name="adj" fmla="val 6000"/>
            </a:avLst>
          </a:prstGeom>
          <a:solidFill>
            <a:srgbClr val="F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874519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8C2F39"/>
                </a:solidFill>
                <a:latin typeface="Cambria"/>
              </a:rPr>
              <a:t>Q15 · Pourquoi générer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423160"/>
            <a:ext cx="297180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1200"/>
              </a:spcAft>
              <a:buChar char="•"/>
            </a:pPr>
            <a:r>
              <a:rPr sz="1600" b="0" i="0">
                <a:solidFill>
                  <a:srgbClr val="1E1B18"/>
                </a:solidFill>
                <a:latin typeface="Calibri"/>
              </a:rPr>
              <a:t>Compléter des données rares (imagerie médicale)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600" b="0" i="0">
                <a:solidFill>
                  <a:srgbClr val="1E1B18"/>
                </a:solidFill>
                <a:latin typeface="Calibri"/>
              </a:rPr>
              <a:t>Données synthétiques anonymes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600" b="0" i="0">
                <a:solidFill>
                  <a:srgbClr val="1E1B18"/>
                </a:solidFill>
                <a:latin typeface="Calibri"/>
              </a:rPr>
              <a:t>Outil de création pour les artistes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600" b="1" i="0">
                <a:solidFill>
                  <a:srgbClr val="1E1B18"/>
                </a:solidFill>
                <a:latin typeface="Calibri"/>
              </a:rPr>
              <a:t>Utile si le contenu synthétique reste identifié comme tel.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 i="0">
                <a:solidFill>
                  <a:srgbClr val="D4A84B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5204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Le catalogue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4340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A8A39D"/>
                </a:solidFill>
                <a:latin typeface="Calibri"/>
              </a:rPr>
              <a:t>Analyse exploratoire des métadonnées, avant tout téléchargement</a:t>
            </a:r>
          </a:p>
        </p:txBody>
      </p:sp>
      <p:pic>
        <p:nvPicPr>
          <p:cNvPr id="5" name="Picture 4" descr="0025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5055" y="548640"/>
            <a:ext cx="1051560" cy="1051560"/>
          </a:xfrm>
          <a:prstGeom prst="rect">
            <a:avLst/>
          </a:prstGeom>
        </p:spPr>
      </p:pic>
      <p:pic>
        <p:nvPicPr>
          <p:cNvPr id="6" name="Picture 5" descr="0025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6343" y="548640"/>
            <a:ext cx="1051560" cy="1051560"/>
          </a:xfrm>
          <a:prstGeom prst="rect">
            <a:avLst/>
          </a:prstGeom>
        </p:spPr>
      </p:pic>
      <p:pic>
        <p:nvPicPr>
          <p:cNvPr id="7" name="Picture 6" descr="0038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7631" y="548640"/>
            <a:ext cx="1051560" cy="1051560"/>
          </a:xfrm>
          <a:prstGeom prst="rect">
            <a:avLst/>
          </a:prstGeom>
        </p:spPr>
      </p:pic>
      <p:pic>
        <p:nvPicPr>
          <p:cNvPr id="8" name="Picture 7" descr="0059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8919" y="548640"/>
            <a:ext cx="1051560" cy="1051560"/>
          </a:xfrm>
          <a:prstGeom prst="rect">
            <a:avLst/>
          </a:prstGeom>
        </p:spPr>
      </p:pic>
      <p:pic>
        <p:nvPicPr>
          <p:cNvPr id="9" name="Picture 8" descr="0092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0207" y="548640"/>
            <a:ext cx="1051560" cy="1051560"/>
          </a:xfrm>
          <a:prstGeom prst="rect">
            <a:avLst/>
          </a:prstGeom>
        </p:spPr>
      </p:pic>
      <p:pic>
        <p:nvPicPr>
          <p:cNvPr id="10" name="Picture 9" descr="0085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1495" y="54864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urtitre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C2F39"/>
                </a:solidFill>
                <a:latin typeface="Calibri"/>
              </a:rPr>
              <a:t>LE CATALOGUE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1B18"/>
                </a:solidFill>
                <a:latin typeface="Cambria"/>
              </a:rPr>
              <a:t>Un catalogue riche, à 61 % de peintures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 i="0">
                <a:solidFill>
                  <a:srgbClr val="8C2F39"/>
                </a:solidFill>
                <a:latin typeface="Cambria"/>
              </a:rPr>
              <a:t>52 867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5F5A55"/>
                </a:solidFill>
                <a:latin typeface="Calibri"/>
              </a:rPr>
              <a:t>œuvres au catalogue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4992" y="173736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64992" y="192024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 i="0">
                <a:solidFill>
                  <a:srgbClr val="8C2F39"/>
                </a:solidFill>
                <a:latin typeface="Cambria"/>
              </a:rPr>
              <a:t>32 438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4992" y="283464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5F5A55"/>
                </a:solidFill>
                <a:latin typeface="Calibri"/>
              </a:rPr>
              <a:t>peintures (61 %)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73736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1344" y="192024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 i="0">
                <a:solidFill>
                  <a:srgbClr val="8C2F39"/>
                </a:solidFill>
                <a:latin typeface="Cambria"/>
              </a:rPr>
              <a:t>3 663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1344" y="283464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5F5A55"/>
                </a:solidFill>
                <a:latin typeface="Calibri"/>
              </a:rPr>
              <a:t>artistes peintres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97696" y="173736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192024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 i="0">
                <a:solidFill>
                  <a:srgbClr val="8C2F39"/>
                </a:solidFill>
                <a:latin typeface="Cambria"/>
              </a:rPr>
              <a:t>88 %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283464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5F5A55"/>
                </a:solidFill>
                <a:latin typeface="Calibri"/>
              </a:rPr>
              <a:t>des peintures datées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23360"/>
            <a:ext cx="109728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1000"/>
              </a:spcAft>
              <a:buChar char="•"/>
            </a:pPr>
            <a:r>
              <a:rPr sz="1500" b="1" i="0">
                <a:solidFill>
                  <a:srgbClr val="1E1B18"/>
                </a:solidFill>
                <a:latin typeface="Calibri"/>
              </a:rPr>
              <a:t>URL unique pour chaque œuvre : </a:t>
            </a:r>
            <a:r>
              <a:rPr sz="1500" b="0" i="0">
                <a:solidFill>
                  <a:srgbClr val="1E1B18"/>
                </a:solidFill>
                <a:latin typeface="Calibri"/>
              </a:rPr>
              <a:t>elle sert d'identifiant pour relier chaque image à sa source.</a:t>
            </a:r>
          </a:p>
          <a:p>
            <a:pPr algn="l" marL="201168" indent="-201168">
              <a:spcAft>
                <a:spcPts val="1000"/>
              </a:spcAft>
              <a:buChar char="•"/>
            </a:pPr>
            <a:r>
              <a:rPr sz="1500" b="1" i="0">
                <a:solidFill>
                  <a:srgbClr val="1E1B18"/>
                </a:solidFill>
                <a:latin typeface="Calibri"/>
              </a:rPr>
              <a:t>Aucune case vide, </a:t>
            </a:r>
            <a:r>
              <a:rPr sz="1500" b="0" i="0">
                <a:solidFill>
                  <a:srgbClr val="1E1B18"/>
                </a:solidFill>
                <a:latin typeface="Calibri"/>
              </a:rPr>
              <a:t>mais les inconnues sont codées par « - » (12 % des dates de peintures).</a:t>
            </a:r>
          </a:p>
          <a:p>
            <a:pPr algn="l" marL="201168" indent="-201168">
              <a:spcAft>
                <a:spcPts val="1000"/>
              </a:spcAft>
              <a:buChar char="•"/>
            </a:pPr>
            <a:r>
              <a:rPr sz="1500" b="1" i="0">
                <a:solidFill>
                  <a:srgbClr val="1E1B18"/>
                </a:solidFill>
                <a:latin typeface="Calibri"/>
              </a:rPr>
              <a:t>Champs en texte libre : </a:t>
            </a:r>
            <a:r>
              <a:rPr sz="1500" b="0" i="0">
                <a:solidFill>
                  <a:srgbClr val="1E1B18"/>
                </a:solidFill>
                <a:latin typeface="Calibri"/>
              </a:rPr>
              <a:t>dates (« c. 1530 », « 1648-50 »), dimensions (« Oil on canvas, 68 x 95 cm ») ; il a fallu les analyser pour en tirer des nombres.</a:t>
            </a:r>
          </a:p>
        </p:txBody>
      </p:sp>
      <p:sp>
        <p:nvSpPr>
          <p:cNvPr id="17" name="Pied de page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5A55"/>
                </a:solidFill>
                <a:latin typeface="Calibri"/>
              </a:rPr>
              <a:t>Source : Web Gallery of Art (wga.hu) · notebook 01_eda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urtitre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C2F39"/>
                </a:solidFill>
                <a:latin typeface="Calibri"/>
              </a:rPr>
              <a:t>LE CATALOGUE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1B18"/>
                </a:solidFill>
                <a:latin typeface="Cambria"/>
              </a:rPr>
              <a:t>Le religieux domine : 42 % des peintures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554480"/>
          <a:ext cx="694944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955279" y="1828800"/>
            <a:ext cx="36576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8C2F39"/>
                </a:solidFill>
                <a:latin typeface="Calibri"/>
              </a:rPr>
              <a:t>Conséquence : </a:t>
            </a:r>
            <a:r>
              <a:rPr sz="1600" b="0" i="0">
                <a:solidFill>
                  <a:srgbClr val="1E1B18"/>
                </a:solidFill>
                <a:latin typeface="Calibri"/>
              </a:rPr>
              <a:t>un échantillon tiré au hasard produirait surtout des madones et des scènes bibliques.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1E1B18"/>
                </a:solidFill>
                <a:latin typeface="Calibri"/>
              </a:rPr>
              <a:t>Les natures mortes, intérieurs et scènes de genre sont minoritaires.</a:t>
            </a:r>
          </a:p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8C2F39"/>
                </a:solidFill>
                <a:latin typeface="Calibri"/>
              </a:rPr>
              <a:t>Décision : </a:t>
            </a:r>
            <a:r>
              <a:rPr sz="1600" b="0" i="0">
                <a:solidFill>
                  <a:srgbClr val="1E1B18"/>
                </a:solidFill>
                <a:latin typeface="Calibri"/>
              </a:rPr>
              <a:t>quotas équilibrés par genre lors de la sélection.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urtitre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C2F39"/>
                </a:solidFill>
                <a:latin typeface="Calibri"/>
              </a:rPr>
              <a:t>LE CATALOGUE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1B18"/>
                </a:solidFill>
                <a:latin typeface="Cambria"/>
              </a:rPr>
              <a:t>Le genre suit l'époque : du religieux au paysage</a:t>
            </a:r>
          </a:p>
        </p:txBody>
      </p:sp>
      <p:pic>
        <p:nvPicPr>
          <p:cNvPr id="4" name="Picture 3" descr="07_type_by_centu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7612519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1828800"/>
            <a:ext cx="30175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8C2F39"/>
                </a:solidFill>
                <a:latin typeface="Cambria"/>
              </a:rPr>
              <a:t>99 % 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1B18"/>
                </a:solidFill>
                <a:latin typeface="Calibri"/>
              </a:rPr>
              <a:t>de sujets religieux au XIIIe siècle, 3 % au XIXe.</a:t>
            </a:r>
          </a:p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8C2F39"/>
                </a:solidFill>
                <a:latin typeface="Cambria"/>
              </a:rPr>
              <a:t>34 % 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1B18"/>
                </a:solidFill>
                <a:latin typeface="Calibri"/>
              </a:rPr>
              <a:t>de paysages au XIXe siècle.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E1B18"/>
                </a:solidFill>
                <a:latin typeface="Calibri"/>
              </a:rPr>
              <a:t>Couvrir tous les genres, c'est aussi couvrir toutes les époques.</a:t>
            </a:r>
          </a:p>
        </p:txBody>
      </p:sp>
      <p:sp>
        <p:nvSpPr>
          <p:cNvPr id="6" name="Pied de page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5A55"/>
                </a:solidFill>
                <a:latin typeface="Calibri"/>
              </a:rPr>
              <a:t>Siècle calculé à partir de la date de l'œuvre (champ DATE)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urtitre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C2F39"/>
                </a:solidFill>
                <a:latin typeface="Calibri"/>
              </a:rPr>
              <a:t>LE CATALOGUE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1B18"/>
                </a:solidFill>
                <a:latin typeface="Cambria"/>
              </a:rPr>
              <a:t>Quatre pièges repérés avant de télécharger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606040" cy="4480560"/>
          </a:xfrm>
          <a:prstGeom prst="roundRect">
            <a:avLst>
              <a:gd name="adj" fmla="val 6000"/>
            </a:avLst>
          </a:prstGeom>
          <a:solidFill>
            <a:srgbClr val="F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8C2F39"/>
                </a:solidFill>
                <a:latin typeface="Cambria"/>
              </a:rPr>
              <a:t>15 %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E1B18"/>
                </a:solidFill>
                <a:latin typeface="Calibri"/>
              </a:rPr>
              <a:t>de vues de détail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08960"/>
            <a:ext cx="2148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5A55"/>
                </a:solidFill>
                <a:latin typeface="Calibri"/>
              </a:rPr>
              <a:t>Des recadrages d'une autre œuvre : quasi-doublons et risque de fuite entre entraînement et évaluation.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16636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8C2F39"/>
                </a:solidFill>
                <a:latin typeface="Calibri"/>
              </a:rPr>
              <a:t>→ </a:t>
            </a:r>
            <a:r>
              <a:rPr sz="1400" b="1" i="0">
                <a:solidFill>
                  <a:srgbClr val="1E1B18"/>
                </a:solidFill>
                <a:latin typeface="Calibri"/>
              </a:rPr>
              <a:t>Exclues, découpage par œuvre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645920"/>
            <a:ext cx="2606040" cy="4480560"/>
          </a:xfrm>
          <a:prstGeom prst="roundRect">
            <a:avLst>
              <a:gd name="adj" fmla="val 6000"/>
            </a:avLst>
          </a:prstGeom>
          <a:solidFill>
            <a:srgbClr val="F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82880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8C2F39"/>
                </a:solidFill>
                <a:latin typeface="Cambria"/>
              </a:rPr>
              <a:t>14 %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6060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E1B18"/>
                </a:solidFill>
                <a:latin typeface="Calibri"/>
              </a:rPr>
              <a:t>de fresques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3108960"/>
            <a:ext cx="2148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5A55"/>
                </a:solidFill>
                <a:latin typeface="Calibri"/>
              </a:rPr>
              <a:t>Photos de murs et de voûtes, éclairage inégal, formats hétérogènes.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516636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8C2F39"/>
                </a:solidFill>
                <a:latin typeface="Calibri"/>
              </a:rPr>
              <a:t>→ </a:t>
            </a:r>
            <a:r>
              <a:rPr sz="1400" b="1" i="0">
                <a:solidFill>
                  <a:srgbClr val="1E1B18"/>
                </a:solidFill>
                <a:latin typeface="Calibri"/>
              </a:rPr>
              <a:t>Exclues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645920"/>
            <a:ext cx="2606040" cy="4480560"/>
          </a:xfrm>
          <a:prstGeom prst="roundRect">
            <a:avLst>
              <a:gd name="adj" fmla="val 6000"/>
            </a:avLst>
          </a:prstGeom>
          <a:solidFill>
            <a:srgbClr val="F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182880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8C2F39"/>
                </a:solidFill>
                <a:latin typeface="Cambria"/>
              </a:rPr>
              <a:t>18 %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6060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E1B18"/>
                </a:solidFill>
                <a:latin typeface="Calibri"/>
              </a:rPr>
              <a:t>de périodes incohérentes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3108960"/>
            <a:ext cx="2148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5A55"/>
                </a:solidFill>
                <a:latin typeface="Calibri"/>
              </a:rPr>
              <a:t>La colonne TIMEFRAME ne correspond pas à la date de l'œuvre.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516636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8C2F39"/>
                </a:solidFill>
                <a:latin typeface="Calibri"/>
              </a:rPr>
              <a:t>→ </a:t>
            </a:r>
            <a:r>
              <a:rPr sz="1400" b="1" i="0">
                <a:solidFill>
                  <a:srgbClr val="1E1B18"/>
                </a:solidFill>
                <a:latin typeface="Calibri"/>
              </a:rPr>
              <a:t>Date relue dans DATE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7696" y="1645920"/>
            <a:ext cx="2606040" cy="4480560"/>
          </a:xfrm>
          <a:prstGeom prst="roundRect">
            <a:avLst>
              <a:gd name="adj" fmla="val 6000"/>
            </a:avLst>
          </a:prstGeom>
          <a:solidFill>
            <a:srgbClr val="F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26296" y="182880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8C2F39"/>
                </a:solidFill>
                <a:latin typeface="Cambria"/>
              </a:rPr>
              <a:t>0,85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6296" y="26060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E1B18"/>
                </a:solidFill>
                <a:latin typeface="Calibri"/>
              </a:rPr>
              <a:t>de ratio médian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6296" y="3108960"/>
            <a:ext cx="2148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5A55"/>
                </a:solidFill>
                <a:latin typeface="Calibri"/>
              </a:rPr>
              <a:t>Formats surtout verticaux ; un GAN génère des carrés. Recadrer au centre perd 24 % de la surface en médiane.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6296" y="516636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8C2F39"/>
                </a:solidFill>
                <a:latin typeface="Calibri"/>
              </a:rPr>
              <a:t>→ </a:t>
            </a:r>
            <a:r>
              <a:rPr sz="1400" b="1" i="0">
                <a:solidFill>
                  <a:srgbClr val="1E1B18"/>
                </a:solidFill>
                <a:latin typeface="Calibri"/>
              </a:rPr>
              <a:t>Recadrage carré, ratios extrêmes exclus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 i="0">
                <a:solidFill>
                  <a:srgbClr val="D4A84B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5204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Le jeu d'images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4340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A8A39D"/>
                </a:solidFill>
                <a:latin typeface="Calibri"/>
              </a:rPr>
              <a:t>Sélection, scraping et prétraitement</a:t>
            </a:r>
          </a:p>
        </p:txBody>
      </p:sp>
      <p:pic>
        <p:nvPicPr>
          <p:cNvPr id="5" name="Picture 4" descr="0082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5055" y="548640"/>
            <a:ext cx="1051560" cy="1051560"/>
          </a:xfrm>
          <a:prstGeom prst="rect">
            <a:avLst/>
          </a:prstGeom>
        </p:spPr>
      </p:pic>
      <p:pic>
        <p:nvPicPr>
          <p:cNvPr id="6" name="Picture 5" descr="0088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6343" y="548640"/>
            <a:ext cx="1051560" cy="1051560"/>
          </a:xfrm>
          <a:prstGeom prst="rect">
            <a:avLst/>
          </a:prstGeom>
        </p:spPr>
      </p:pic>
      <p:pic>
        <p:nvPicPr>
          <p:cNvPr id="7" name="Picture 6" descr="0070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7631" y="548640"/>
            <a:ext cx="1051560" cy="1051560"/>
          </a:xfrm>
          <a:prstGeom prst="rect">
            <a:avLst/>
          </a:prstGeom>
        </p:spPr>
      </p:pic>
      <p:pic>
        <p:nvPicPr>
          <p:cNvPr id="8" name="Picture 7" descr="0080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8919" y="548640"/>
            <a:ext cx="1051560" cy="1051560"/>
          </a:xfrm>
          <a:prstGeom prst="rect">
            <a:avLst/>
          </a:prstGeom>
        </p:spPr>
      </p:pic>
      <p:pic>
        <p:nvPicPr>
          <p:cNvPr id="9" name="Picture 8" descr="0061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0207" y="548640"/>
            <a:ext cx="1051560" cy="1051560"/>
          </a:xfrm>
          <a:prstGeom prst="rect">
            <a:avLst/>
          </a:prstGeom>
        </p:spPr>
      </p:pic>
      <p:pic>
        <p:nvPicPr>
          <p:cNvPr id="10" name="Picture 9" descr="00499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1495" y="54864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urtitre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C2F39"/>
                </a:solidFill>
                <a:latin typeface="Calibri"/>
              </a:rPr>
              <a:t>LE JEU D'IMAGES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1B18"/>
                </a:solidFill>
                <a:latin typeface="Cambria"/>
              </a:rPr>
              <a:t>8 000 peintures choisies, genres rééquilibrés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4206240" cy="731520"/>
          </a:xfrm>
          <a:prstGeom prst="roundRect">
            <a:avLst>
              <a:gd name="adj" fmla="val 6000"/>
            </a:avLst>
          </a:prstGeom>
          <a:solidFill>
            <a:srgbClr val="F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E1B18"/>
                </a:solidFill>
                <a:latin typeface="Cambria"/>
              </a:rPr>
              <a:t>32 438</a:t>
            </a:r>
            <a:r>
              <a:rPr sz="1400" b="0" i="0">
                <a:solidFill>
                  <a:srgbClr val="1E1B18"/>
                </a:solidFill>
                <a:latin typeface="Calibri"/>
              </a:rPr>
              <a:t>  peintures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42032"/>
            <a:ext cx="3850574" cy="731520"/>
          </a:xfrm>
          <a:prstGeom prst="roundRect">
            <a:avLst>
              <a:gd name="adj" fmla="val 6000"/>
            </a:avLst>
          </a:prstGeom>
          <a:solidFill>
            <a:srgbClr val="F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42032"/>
            <a:ext cx="357625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E1B18"/>
                </a:solidFill>
                <a:latin typeface="Cambria"/>
              </a:rPr>
              <a:t>27 451</a:t>
            </a:r>
            <a:r>
              <a:rPr sz="1400" b="0" i="0">
                <a:solidFill>
                  <a:srgbClr val="1E1B18"/>
                </a:solidFill>
                <a:latin typeface="Calibri"/>
              </a:rPr>
              <a:t>  sans vues de détail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38144"/>
            <a:ext cx="3631483" cy="731520"/>
          </a:xfrm>
          <a:prstGeom prst="roundRect">
            <a:avLst>
              <a:gd name="adj" fmla="val 6000"/>
            </a:avLst>
          </a:prstGeom>
          <a:solidFill>
            <a:srgbClr val="F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38144"/>
            <a:ext cx="3357163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E1B18"/>
                </a:solidFill>
                <a:latin typeface="Cambria"/>
              </a:rPr>
              <a:t>24 379</a:t>
            </a:r>
            <a:r>
              <a:rPr sz="1400" b="0" i="0">
                <a:solidFill>
                  <a:srgbClr val="1E1B18"/>
                </a:solidFill>
                <a:latin typeface="Calibri"/>
              </a:rPr>
              <a:t>  sans fresques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34256"/>
            <a:ext cx="3549395" cy="731520"/>
          </a:xfrm>
          <a:prstGeom prst="roundRect">
            <a:avLst>
              <a:gd name="adj" fmla="val 6000"/>
            </a:avLst>
          </a:prstGeom>
          <a:solidFill>
            <a:srgbClr val="F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34256"/>
            <a:ext cx="3275075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E1B18"/>
                </a:solidFill>
                <a:latin typeface="Cambria"/>
              </a:rPr>
              <a:t>23 228</a:t>
            </a:r>
            <a:r>
              <a:rPr sz="1400" b="0" i="0">
                <a:solidFill>
                  <a:srgbClr val="1E1B18"/>
                </a:solidFill>
                <a:latin typeface="Calibri"/>
              </a:rPr>
              <a:t>  formats raisonnables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230368"/>
            <a:ext cx="2463356" cy="731520"/>
          </a:xfrm>
          <a:prstGeom prst="roundRect">
            <a:avLst>
              <a:gd name="adj" fmla="val 6000"/>
            </a:avLst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230368"/>
            <a:ext cx="2189036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8 000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 sélection finale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5212080" y="1508760"/>
          <a:ext cx="640080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Pied de page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5A55"/>
                </a:solidFill>
                <a:latin typeface="Calibri"/>
              </a:rPr>
              <a:t>Une œuvre par ligne, 30 peintures max. par artiste, découpage 90/10 par œuvre (pas de fuite)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urtitre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C2F39"/>
                </a:solidFill>
                <a:latin typeface="Calibri"/>
              </a:rPr>
              <a:t>LE JEU D'IMAGES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1B18"/>
                </a:solidFill>
                <a:latin typeface="Cambria"/>
              </a:rPr>
              <a:t>Un scraping reprenable, image par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1920240" cy="1463040"/>
          </a:xfrm>
          <a:prstGeom prst="roundRect">
            <a:avLst>
              <a:gd name="adj" fmla="val 6000"/>
            </a:avLst>
          </a:prstGeom>
          <a:solidFill>
            <a:srgbClr val="1E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D4A84B"/>
                </a:solidFill>
                <a:latin typeface="Cambria"/>
              </a:rPr>
              <a:t>Manifeste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1645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1 ligne par image, statut pending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32888" y="2286000"/>
            <a:ext cx="237744" cy="274320"/>
          </a:xfrm>
          <a:prstGeom prst="rightArrow">
            <a:avLst/>
          </a:prstGeom>
          <a:solidFill>
            <a:srgbClr val="A8A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34640" y="1691640"/>
            <a:ext cx="1920240" cy="1463040"/>
          </a:xfrm>
          <a:prstGeom prst="roundRect">
            <a:avLst>
              <a:gd name="adj" fmla="val 6000"/>
            </a:avLst>
          </a:prstGeom>
          <a:solidFill>
            <a:srgbClr val="F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8288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8C2F39"/>
                </a:solidFill>
                <a:latin typeface="Cambria"/>
              </a:rPr>
              <a:t>Téléchargement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286000"/>
            <a:ext cx="1645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E1B18"/>
                </a:solidFill>
                <a:latin typeface="Calibri"/>
              </a:rPr>
              <a:t>3 essais, 45 s max. par image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18888" y="2286000"/>
            <a:ext cx="237744" cy="274320"/>
          </a:xfrm>
          <a:prstGeom prst="rightArrow">
            <a:avLst/>
          </a:prstGeom>
          <a:solidFill>
            <a:srgbClr val="A8A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20640" y="1691640"/>
            <a:ext cx="1920240" cy="1463040"/>
          </a:xfrm>
          <a:prstGeom prst="roundRect">
            <a:avLst>
              <a:gd name="adj" fmla="val 6000"/>
            </a:avLst>
          </a:prstGeom>
          <a:solidFill>
            <a:srgbClr val="F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18288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8C2F39"/>
                </a:solidFill>
                <a:latin typeface="Cambria"/>
              </a:rPr>
              <a:t>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286000"/>
            <a:ext cx="1645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E1B18"/>
                </a:solidFill>
                <a:latin typeface="Calibri"/>
              </a:rPr>
              <a:t>Image lisible, ≥ 256 px, ratio réel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104888" y="2286000"/>
            <a:ext cx="237744" cy="274320"/>
          </a:xfrm>
          <a:prstGeom prst="rightArrow">
            <a:avLst/>
          </a:prstGeom>
          <a:solidFill>
            <a:srgbClr val="A8A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06640" y="1691640"/>
            <a:ext cx="1920240" cy="1463040"/>
          </a:xfrm>
          <a:prstGeom prst="roundRect">
            <a:avLst>
              <a:gd name="adj" fmla="val 6000"/>
            </a:avLst>
          </a:prstGeom>
          <a:solidFill>
            <a:srgbClr val="F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18288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8C2F39"/>
                </a:solidFill>
                <a:latin typeface="Cambria"/>
              </a:rPr>
              <a:t>Recadrage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286000"/>
            <a:ext cx="1645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E1B18"/>
                </a:solidFill>
                <a:latin typeface="Calibri"/>
              </a:rPr>
              <a:t>Carré central, 256×256, RGB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390888" y="2286000"/>
            <a:ext cx="237744" cy="274320"/>
          </a:xfrm>
          <a:prstGeom prst="rightArrow">
            <a:avLst/>
          </a:prstGeom>
          <a:solidFill>
            <a:srgbClr val="A8A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92640" y="1691640"/>
            <a:ext cx="1920240" cy="1463040"/>
          </a:xfrm>
          <a:prstGeom prst="roundRect">
            <a:avLst>
              <a:gd name="adj" fmla="val 6000"/>
            </a:avLst>
          </a:prstGeom>
          <a:solidFill>
            <a:srgbClr val="1E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800" y="18288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D4A84B"/>
                </a:solidFill>
                <a:latin typeface="Cambria"/>
              </a:rPr>
              <a:t>Statut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2286000"/>
            <a:ext cx="1645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processed, failed ou skipped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52044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8C2F39"/>
                </a:solidFill>
                <a:latin typeface="Cambria"/>
              </a:rPr>
              <a:t>911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05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5A55"/>
                </a:solidFill>
                <a:latin typeface="Calibri"/>
              </a:rPr>
              <a:t>images traitées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64992" y="352044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E1B18"/>
                </a:solidFill>
                <a:latin typeface="Cambria"/>
              </a:rPr>
              <a:t>113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64992" y="41605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5A55"/>
                </a:solidFill>
                <a:latin typeface="Calibri"/>
              </a:rPr>
              <a:t>en échec (retentées)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352044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E1B18"/>
                </a:solidFill>
                <a:latin typeface="Cambria"/>
              </a:rP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81344" y="41605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5A55"/>
                </a:solidFill>
                <a:latin typeface="Calibri"/>
              </a:rPr>
              <a:t>écartées (doublons, formats)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97696" y="352044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E1B18"/>
                </a:solidFill>
                <a:latin typeface="Cambria"/>
              </a:rPr>
              <a:t>6 961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97696" y="41605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5A55"/>
                </a:solidFill>
                <a:latin typeface="Calibri"/>
              </a:rPr>
              <a:t>en attente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00600"/>
            <a:ext cx="11064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8C2F39"/>
                </a:solidFill>
                <a:latin typeface="Calibri"/>
              </a:rPr>
              <a:t>Difficulté : </a:t>
            </a:r>
            <a:r>
              <a:rPr sz="1400" b="0" i="0">
                <a:solidFill>
                  <a:srgbClr val="1E1B18"/>
                </a:solidFill>
                <a:latin typeface="Calibri"/>
              </a:rPr>
              <a:t>le premier téléchargement s'est bloqué sans erreur. Certaines images arrivaient au compte-gouttes et la limite de temps ne portait que sur chaque lecture réseau. Correction : un délai total par image, couvert par un test.</a:t>
            </a:r>
          </a:p>
        </p:txBody>
      </p:sp>
      <p:sp>
        <p:nvSpPr>
          <p:cNvPr id="32" name="Pied de page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5A55"/>
                </a:solidFill>
                <a:latin typeface="Calibri"/>
              </a:rPr>
              <a:t>Téléchargement en cours, état au 11/10/2026 10:30 · stockage : ~34 Ko par image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urtitre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C2F39"/>
                </a:solidFill>
                <a:latin typeface="Calibri"/>
              </a:rPr>
              <a:t>LE JEU D'IMAGES · Q5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1B18"/>
                </a:solidFill>
                <a:latin typeface="Cambria"/>
              </a:rPr>
              <a:t>Ce que montrent les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37160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F5A55"/>
                </a:solidFill>
                <a:latin typeface="Calibri"/>
              </a:rPr>
              <a:t>portrait</a:t>
            </a:r>
          </a:p>
        </p:txBody>
      </p:sp>
      <p:pic>
        <p:nvPicPr>
          <p:cNvPr id="5" name="Picture 4" descr="0095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1554480"/>
            <a:ext cx="841248" cy="841248"/>
          </a:xfrm>
          <a:prstGeom prst="rect">
            <a:avLst/>
          </a:prstGeom>
        </p:spPr>
      </p:pic>
      <p:pic>
        <p:nvPicPr>
          <p:cNvPr id="6" name="Picture 5" descr="009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1554480"/>
            <a:ext cx="841248" cy="841248"/>
          </a:xfrm>
          <a:prstGeom prst="rect">
            <a:avLst/>
          </a:prstGeom>
        </p:spPr>
      </p:pic>
      <p:pic>
        <p:nvPicPr>
          <p:cNvPr id="7" name="Picture 6" descr="0096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1554480"/>
            <a:ext cx="841248" cy="841248"/>
          </a:xfrm>
          <a:prstGeom prst="rect">
            <a:avLst/>
          </a:prstGeom>
        </p:spPr>
      </p:pic>
      <p:pic>
        <p:nvPicPr>
          <p:cNvPr id="8" name="Picture 7" descr="0006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1554480"/>
            <a:ext cx="841248" cy="841248"/>
          </a:xfrm>
          <a:prstGeom prst="rect">
            <a:avLst/>
          </a:prstGeom>
        </p:spPr>
      </p:pic>
      <p:pic>
        <p:nvPicPr>
          <p:cNvPr id="9" name="Picture 8" descr="0037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7840" y="1554480"/>
            <a:ext cx="841248" cy="8412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2468880"/>
            <a:ext cx="137160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F5A55"/>
                </a:solidFill>
                <a:latin typeface="Calibri"/>
              </a:rPr>
              <a:t>paysage</a:t>
            </a:r>
          </a:p>
        </p:txBody>
      </p:sp>
      <p:pic>
        <p:nvPicPr>
          <p:cNvPr id="11" name="Picture 10" descr="0103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20240" y="2468880"/>
            <a:ext cx="841248" cy="841248"/>
          </a:xfrm>
          <a:prstGeom prst="rect">
            <a:avLst/>
          </a:prstGeom>
        </p:spPr>
      </p:pic>
      <p:pic>
        <p:nvPicPr>
          <p:cNvPr id="12" name="Picture 11" descr="00518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34640" y="2468880"/>
            <a:ext cx="841248" cy="841248"/>
          </a:xfrm>
          <a:prstGeom prst="rect">
            <a:avLst/>
          </a:prstGeom>
        </p:spPr>
      </p:pic>
      <p:pic>
        <p:nvPicPr>
          <p:cNvPr id="13" name="Picture 12" descr="00245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49040" y="2468880"/>
            <a:ext cx="841248" cy="841248"/>
          </a:xfrm>
          <a:prstGeom prst="rect">
            <a:avLst/>
          </a:prstGeom>
        </p:spPr>
      </p:pic>
      <p:pic>
        <p:nvPicPr>
          <p:cNvPr id="14" name="Picture 13" descr="00999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63440" y="2468880"/>
            <a:ext cx="841248" cy="841248"/>
          </a:xfrm>
          <a:prstGeom prst="rect">
            <a:avLst/>
          </a:prstGeom>
        </p:spPr>
      </p:pic>
      <p:pic>
        <p:nvPicPr>
          <p:cNvPr id="15" name="Picture 14" descr="00931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77840" y="2468880"/>
            <a:ext cx="841248" cy="8412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3383280"/>
            <a:ext cx="137160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F5A55"/>
                </a:solidFill>
                <a:latin typeface="Calibri"/>
              </a:rPr>
              <a:t>nature morte</a:t>
            </a:r>
          </a:p>
        </p:txBody>
      </p:sp>
      <p:pic>
        <p:nvPicPr>
          <p:cNvPr id="17" name="Picture 16" descr="00389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20240" y="3383280"/>
            <a:ext cx="841248" cy="841248"/>
          </a:xfrm>
          <a:prstGeom prst="rect">
            <a:avLst/>
          </a:prstGeom>
        </p:spPr>
      </p:pic>
      <p:pic>
        <p:nvPicPr>
          <p:cNvPr id="18" name="Picture 17" descr="00305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34640" y="3383280"/>
            <a:ext cx="841248" cy="841248"/>
          </a:xfrm>
          <a:prstGeom prst="rect">
            <a:avLst/>
          </a:prstGeom>
        </p:spPr>
      </p:pic>
      <p:pic>
        <p:nvPicPr>
          <p:cNvPr id="19" name="Picture 18" descr="00287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49040" y="3383280"/>
            <a:ext cx="841248" cy="841248"/>
          </a:xfrm>
          <a:prstGeom prst="rect">
            <a:avLst/>
          </a:prstGeom>
        </p:spPr>
      </p:pic>
      <p:pic>
        <p:nvPicPr>
          <p:cNvPr id="20" name="Picture 19" descr="00676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63440" y="3383280"/>
            <a:ext cx="841248" cy="841248"/>
          </a:xfrm>
          <a:prstGeom prst="rect">
            <a:avLst/>
          </a:prstGeom>
        </p:spPr>
      </p:pic>
      <p:pic>
        <p:nvPicPr>
          <p:cNvPr id="21" name="Picture 20" descr="00881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77840" y="3383280"/>
            <a:ext cx="841248" cy="8412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4297680"/>
            <a:ext cx="137160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F5A55"/>
                </a:solidFill>
                <a:latin typeface="Calibri"/>
              </a:rPr>
              <a:t>religieux</a:t>
            </a:r>
          </a:p>
        </p:txBody>
      </p:sp>
      <p:pic>
        <p:nvPicPr>
          <p:cNvPr id="23" name="Picture 22" descr="00516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20240" y="4297680"/>
            <a:ext cx="841248" cy="841248"/>
          </a:xfrm>
          <a:prstGeom prst="rect">
            <a:avLst/>
          </a:prstGeom>
        </p:spPr>
      </p:pic>
      <p:pic>
        <p:nvPicPr>
          <p:cNvPr id="24" name="Picture 23" descr="00923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34640" y="4297680"/>
            <a:ext cx="841248" cy="841248"/>
          </a:xfrm>
          <a:prstGeom prst="rect">
            <a:avLst/>
          </a:prstGeom>
        </p:spPr>
      </p:pic>
      <p:pic>
        <p:nvPicPr>
          <p:cNvPr id="25" name="Picture 24" descr="00126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749040" y="4297680"/>
            <a:ext cx="841248" cy="841248"/>
          </a:xfrm>
          <a:prstGeom prst="rect">
            <a:avLst/>
          </a:prstGeom>
        </p:spPr>
      </p:pic>
      <p:pic>
        <p:nvPicPr>
          <p:cNvPr id="26" name="Picture 25" descr="00231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663440" y="4297680"/>
            <a:ext cx="841248" cy="841248"/>
          </a:xfrm>
          <a:prstGeom prst="rect">
            <a:avLst/>
          </a:prstGeom>
        </p:spPr>
      </p:pic>
      <p:pic>
        <p:nvPicPr>
          <p:cNvPr id="27" name="Picture 26" descr="00295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577840" y="4297680"/>
            <a:ext cx="841248" cy="8412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8640" y="5212080"/>
            <a:ext cx="137160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F5A55"/>
                </a:solidFill>
                <a:latin typeface="Calibri"/>
              </a:rPr>
              <a:t>scène de genre</a:t>
            </a:r>
          </a:p>
        </p:txBody>
      </p:sp>
      <p:pic>
        <p:nvPicPr>
          <p:cNvPr id="29" name="Picture 28" descr="00398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920240" y="5212080"/>
            <a:ext cx="841248" cy="841248"/>
          </a:xfrm>
          <a:prstGeom prst="rect">
            <a:avLst/>
          </a:prstGeom>
        </p:spPr>
      </p:pic>
      <p:pic>
        <p:nvPicPr>
          <p:cNvPr id="30" name="Picture 29" descr="00864.jp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834640" y="5212080"/>
            <a:ext cx="841248" cy="841248"/>
          </a:xfrm>
          <a:prstGeom prst="rect">
            <a:avLst/>
          </a:prstGeom>
        </p:spPr>
      </p:pic>
      <p:pic>
        <p:nvPicPr>
          <p:cNvPr id="31" name="Picture 30" descr="00104.jp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749040" y="5212080"/>
            <a:ext cx="841248" cy="841248"/>
          </a:xfrm>
          <a:prstGeom prst="rect">
            <a:avLst/>
          </a:prstGeom>
        </p:spPr>
      </p:pic>
      <p:pic>
        <p:nvPicPr>
          <p:cNvPr id="32" name="Picture 31" descr="00566.jp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663440" y="5212080"/>
            <a:ext cx="841248" cy="841248"/>
          </a:xfrm>
          <a:prstGeom prst="rect">
            <a:avLst/>
          </a:prstGeom>
        </p:spPr>
      </p:pic>
      <p:pic>
        <p:nvPicPr>
          <p:cNvPr id="33" name="Picture 32" descr="00833.jp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577840" y="5212080"/>
            <a:ext cx="841248" cy="84124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766560" y="164592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1200"/>
              </a:spcAft>
              <a:buChar char="•"/>
            </a:pPr>
            <a:r>
              <a:rPr sz="1500" b="1" i="0">
                <a:solidFill>
                  <a:srgbClr val="1E1B18"/>
                </a:solidFill>
                <a:latin typeface="Calibri"/>
              </a:rPr>
              <a:t>Tons sombres et bruns : </a:t>
            </a:r>
            <a:r>
              <a:rPr sz="1500" b="0" i="0">
                <a:solidFill>
                  <a:srgbClr val="1E1B18"/>
                </a:solidFill>
                <a:latin typeface="Calibri"/>
              </a:rPr>
              <a:t>vernis anciens, fonds noirs des portraits et natures mortes.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500" b="1" i="0">
                <a:solidFill>
                  <a:srgbClr val="1E1B18"/>
                </a:solidFill>
                <a:latin typeface="Calibri"/>
              </a:rPr>
              <a:t>Cadres visibles </a:t>
            </a:r>
            <a:r>
              <a:rPr sz="1500" b="0" i="0">
                <a:solidFill>
                  <a:srgbClr val="1E1B18"/>
                </a:solidFill>
                <a:latin typeface="Calibri"/>
              </a:rPr>
              <a:t>sur certaines photos, ou mur autour de l'œuvre.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500" b="1" i="0">
                <a:solidFill>
                  <a:srgbClr val="1E1B18"/>
                </a:solidFill>
                <a:latin typeface="Calibri"/>
              </a:rPr>
              <a:t>Sujet souvent centré : </a:t>
            </a:r>
            <a:r>
              <a:rPr sz="1500" b="0" i="0">
                <a:solidFill>
                  <a:srgbClr val="1E1B18"/>
                </a:solidFill>
                <a:latin typeface="Calibri"/>
              </a:rPr>
              <a:t>le recadrage carré central le conserve.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500" b="1" i="0">
                <a:solidFill>
                  <a:srgbClr val="1E1B18"/>
                </a:solidFill>
                <a:latin typeface="Calibri"/>
              </a:rPr>
              <a:t>Reproductions noir et blanc </a:t>
            </a:r>
            <a:r>
              <a:rPr sz="1500" b="0" i="0">
                <a:solidFill>
                  <a:srgbClr val="1E1B18"/>
                </a:solidFill>
                <a:latin typeface="Calibri"/>
              </a:rPr>
              <a:t>à détecter et exclure.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500" b="1" i="0">
                <a:solidFill>
                  <a:srgbClr val="1E1B18"/>
                </a:solidFill>
                <a:latin typeface="Calibri"/>
              </a:rPr>
              <a:t>Résolution d'origine </a:t>
            </a:r>
            <a:r>
              <a:rPr sz="1500" b="0" i="0">
                <a:solidFill>
                  <a:srgbClr val="1E1B18"/>
                </a:solidFill>
                <a:latin typeface="Calibri"/>
              </a:rPr>
              <a:t>largement supérieure à 256 px.</a:t>
            </a:r>
          </a:p>
        </p:txBody>
      </p:sp>
      <p:sp>
        <p:nvSpPr>
          <p:cNvPr id="35" name="Pied de page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5A55"/>
                </a:solidFill>
                <a:latin typeface="Calibri"/>
              </a:rPr>
              <a:t>Images réelles téléchargées, après recadrage carré (256×256)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urtitre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C2F39"/>
                </a:solidFill>
                <a:latin typeface="Calibri"/>
              </a:rPr>
              <a:t>LE JEU D'IMAGES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1B18"/>
                </a:solidFill>
                <a:latin typeface="Cambria"/>
              </a:rPr>
              <a:t>Un prétraitement justifié par les observations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566160"/>
                <a:gridCol w="4206240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Observation</a:t>
                      </a:r>
                    </a:p>
                  </a:txBody>
                  <a:tcPr marL="91440" marR="91440" marT="45720" marB="45720">
                    <a:solidFill>
                      <a:srgbClr val="1E1B1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Décision</a:t>
                      </a:r>
                    </a:p>
                  </a:txBody>
                  <a:tcPr marL="91440" marR="91440" marT="45720" marB="45720">
                    <a:solidFill>
                      <a:srgbClr val="1E1B1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Pourquoi</a:t>
                      </a:r>
                    </a:p>
                  </a:txBody>
                  <a:tcPr marL="91440" marR="91440" marT="45720" marB="45720">
                    <a:solidFill>
                      <a:srgbClr val="1E1B1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1B18"/>
                          </a:solidFill>
                          <a:latin typeface="Calibri"/>
                        </a:rPr>
                        <a:t>Formats verticaux et horizontaux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1B18"/>
                          </a:solidFill>
                          <a:latin typeface="Calibri"/>
                        </a:rPr>
                        <a:t>Recadrage carré central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1B18"/>
                          </a:solidFill>
                          <a:latin typeface="Calibri"/>
                        </a:rPr>
                        <a:t>Le DCGAN génère des images carrées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1B18"/>
                          </a:solidFill>
                          <a:latin typeface="Calibri"/>
                        </a:rPr>
                        <a:t>Ressources limitées, pas de GPU 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1B18"/>
                          </a:solidFill>
                          <a:latin typeface="Calibri"/>
                        </a:rPr>
                        <a:t>Entraînement en 64×64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1B18"/>
                          </a:solidFill>
                          <a:latin typeface="Calibri"/>
                        </a:rPr>
                        <a:t>Baseline rapide ; 128×128 possible sans retélécharger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1B18"/>
                          </a:solidFill>
                          <a:latin typeface="Calibri"/>
                        </a:rPr>
                        <a:t>Tonalités sombres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1B18"/>
                          </a:solidFill>
                          <a:latin typeface="Calibri"/>
                        </a:rPr>
                        <a:t>Pixels normalisés dans [-1, 1]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1B18"/>
                          </a:solidFill>
                          <a:latin typeface="Calibri"/>
                        </a:rPr>
                        <a:t>Sortie tanh du générateur ; on garde les couleurs d'origine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1B18"/>
                          </a:solidFill>
                          <a:latin typeface="Calibri"/>
                        </a:rPr>
                        <a:t>Reproductions noir et blanc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1B18"/>
                          </a:solidFill>
                          <a:latin typeface="Calibri"/>
                        </a:rPr>
                        <a:t>Exclues (saturation faible)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1B18"/>
                          </a:solidFill>
                          <a:latin typeface="Calibri"/>
                        </a:rPr>
                        <a:t>Sinon le GAN apprend à produire du gris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1B18"/>
                          </a:solidFill>
                          <a:latin typeface="Calibri"/>
                        </a:rPr>
                        <a:t>Quasi-doublons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1B18"/>
                          </a:solidFill>
                          <a:latin typeface="Calibri"/>
                        </a:rPr>
                        <a:t>Une image par paire (empreinte aHash)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1B18"/>
                          </a:solidFill>
                          <a:latin typeface="Calibri"/>
                        </a:rPr>
                        <a:t>Évite mémorisation et fuite vers l'évaluation</a:t>
                      </a:r>
                    </a:p>
                  </a:txBody>
                  <a:tcPr marL="91440" marR="91440" marT="45720" marB="45720">
                    <a:solidFill>
                      <a:srgbClr val="F2F1E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1B18"/>
                          </a:solidFill>
                          <a:latin typeface="Calibri"/>
                        </a:rPr>
                        <a:t>Compositions sans sens gauche / droite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1B18"/>
                          </a:solidFill>
                          <a:latin typeface="Calibri"/>
                        </a:rPr>
                        <a:t>Retournement horizontal aléatoire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1B18"/>
                          </a:solidFill>
                          <a:latin typeface="Calibri"/>
                        </a:rPr>
                        <a:t>Double la variété ; pas de retournement vertical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ied de page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5A55"/>
                </a:solidFill>
                <a:latin typeface="Calibri"/>
              </a:rPr>
              <a:t>Seuils et effectifs exacts : notebook 02_dataset, à valider sur le jeu complet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 i="0">
                <a:solidFill>
                  <a:srgbClr val="D4A84B"/>
                </a:solidFill>
                <a:latin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5204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Le modèle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4340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A8A39D"/>
                </a:solidFill>
                <a:latin typeface="Calibri"/>
              </a:rPr>
              <a:t>Baseline DCGAN 64×64</a:t>
            </a:r>
          </a:p>
        </p:txBody>
      </p:sp>
      <p:pic>
        <p:nvPicPr>
          <p:cNvPr id="5" name="Picture 4" descr="0084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5055" y="548640"/>
            <a:ext cx="1051560" cy="1051560"/>
          </a:xfrm>
          <a:prstGeom prst="rect">
            <a:avLst/>
          </a:prstGeom>
        </p:spPr>
      </p:pic>
      <p:pic>
        <p:nvPicPr>
          <p:cNvPr id="6" name="Picture 5" descr="0054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6343" y="548640"/>
            <a:ext cx="1051560" cy="1051560"/>
          </a:xfrm>
          <a:prstGeom prst="rect">
            <a:avLst/>
          </a:prstGeom>
        </p:spPr>
      </p:pic>
      <p:pic>
        <p:nvPicPr>
          <p:cNvPr id="7" name="Picture 6" descr="0012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7631" y="548640"/>
            <a:ext cx="1051560" cy="1051560"/>
          </a:xfrm>
          <a:prstGeom prst="rect">
            <a:avLst/>
          </a:prstGeom>
        </p:spPr>
      </p:pic>
      <p:pic>
        <p:nvPicPr>
          <p:cNvPr id="8" name="Picture 7" descr="00959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8919" y="548640"/>
            <a:ext cx="1051560" cy="1051560"/>
          </a:xfrm>
          <a:prstGeom prst="rect">
            <a:avLst/>
          </a:prstGeom>
        </p:spPr>
      </p:pic>
      <p:pic>
        <p:nvPicPr>
          <p:cNvPr id="9" name="Picture 8" descr="0097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0207" y="548640"/>
            <a:ext cx="1051560" cy="1051560"/>
          </a:xfrm>
          <a:prstGeom prst="rect">
            <a:avLst/>
          </a:prstGeom>
        </p:spPr>
      </p:pic>
      <p:pic>
        <p:nvPicPr>
          <p:cNvPr id="10" name="Picture 9" descr="0062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1495" y="54864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urtitre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C2F39"/>
                </a:solidFill>
                <a:latin typeface="Calibri"/>
              </a:rPr>
              <a:t>LE MODÈLE · PRÉVU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1B18"/>
                </a:solidFill>
                <a:latin typeface="Cambria"/>
              </a:rPr>
              <a:t>Architecture DCGAN retenue comme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8C2F39"/>
                </a:solidFill>
                <a:latin typeface="Cambria"/>
              </a:rPr>
              <a:t>Générateur : convolutions transposées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857500"/>
            <a:ext cx="685800" cy="320040"/>
          </a:xfrm>
          <a:prstGeom prst="roundRect">
            <a:avLst>
              <a:gd name="adj" fmla="val 8000"/>
            </a:avLst>
          </a:prstGeom>
          <a:solidFill>
            <a:srgbClr val="A8A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406908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E1B18"/>
                </a:solidFill>
                <a:latin typeface="Calibri"/>
              </a:rPr>
              <a:t>z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F5A55"/>
                </a:solidFill>
                <a:latin typeface="Calibri"/>
              </a:rPr>
              <a:t>100 canaux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298448" y="2880360"/>
            <a:ext cx="256032" cy="256032"/>
          </a:xfrm>
          <a:prstGeom prst="rightArrow">
            <a:avLst/>
          </a:prstGeom>
          <a:solidFill>
            <a:srgbClr val="A8A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645920" y="2766060"/>
            <a:ext cx="685800" cy="502920"/>
          </a:xfrm>
          <a:prstGeom prst="roundRect">
            <a:avLst>
              <a:gd name="adj" fmla="val 8000"/>
            </a:avLst>
          </a:prstGeom>
          <a:solidFill>
            <a:srgbClr val="A8A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406908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E1B18"/>
                </a:solidFill>
                <a:latin typeface="Calibri"/>
              </a:rPr>
              <a:t>4×4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F5A55"/>
                </a:solidFill>
                <a:latin typeface="Calibri"/>
              </a:rPr>
              <a:t>512 canaux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95728" y="2880360"/>
            <a:ext cx="256032" cy="256032"/>
          </a:xfrm>
          <a:prstGeom prst="rightArrow">
            <a:avLst/>
          </a:prstGeom>
          <a:solidFill>
            <a:srgbClr val="A8A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0" y="2628900"/>
            <a:ext cx="685800" cy="777240"/>
          </a:xfrm>
          <a:prstGeom prst="roundRect">
            <a:avLst>
              <a:gd name="adj" fmla="val 8000"/>
            </a:avLst>
          </a:prstGeom>
          <a:solidFill>
            <a:srgbClr val="A8A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406908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E1B18"/>
                </a:solidFill>
                <a:latin typeface="Calibri"/>
              </a:rPr>
              <a:t>8×8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F5A55"/>
                </a:solidFill>
                <a:latin typeface="Calibri"/>
              </a:rPr>
              <a:t>256 canaux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493008" y="2880360"/>
            <a:ext cx="256032" cy="256032"/>
          </a:xfrm>
          <a:prstGeom prst="rightArrow">
            <a:avLst/>
          </a:prstGeom>
          <a:solidFill>
            <a:srgbClr val="A8A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0480" y="2468880"/>
            <a:ext cx="685800" cy="1097280"/>
          </a:xfrm>
          <a:prstGeom prst="roundRect">
            <a:avLst>
              <a:gd name="adj" fmla="val 8000"/>
            </a:avLst>
          </a:prstGeom>
          <a:solidFill>
            <a:srgbClr val="A8A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406908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E1B18"/>
                </a:solidFill>
                <a:latin typeface="Calibri"/>
              </a:rPr>
              <a:t>16×16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F5A55"/>
                </a:solidFill>
                <a:latin typeface="Calibri"/>
              </a:rPr>
              <a:t>128 canaux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590288" y="2880360"/>
            <a:ext cx="256032" cy="256032"/>
          </a:xfrm>
          <a:prstGeom prst="rightArrow">
            <a:avLst/>
          </a:prstGeom>
          <a:solidFill>
            <a:srgbClr val="A8A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937760" y="2286000"/>
            <a:ext cx="685800" cy="1463040"/>
          </a:xfrm>
          <a:prstGeom prst="roundRect">
            <a:avLst>
              <a:gd name="adj" fmla="val 8000"/>
            </a:avLst>
          </a:prstGeom>
          <a:solidFill>
            <a:srgbClr val="A8A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406908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E1B18"/>
                </a:solidFill>
                <a:latin typeface="Calibri"/>
              </a:rPr>
              <a:t>32×32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F5A55"/>
                </a:solidFill>
                <a:latin typeface="Calibri"/>
              </a:rPr>
              <a:t>64 canaux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687568" y="2880360"/>
            <a:ext cx="256032" cy="256032"/>
          </a:xfrm>
          <a:prstGeom prst="rightArrow">
            <a:avLst/>
          </a:prstGeom>
          <a:solidFill>
            <a:srgbClr val="A8A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35040" y="2103120"/>
            <a:ext cx="685800" cy="1828800"/>
          </a:xfrm>
          <a:prstGeom prst="roundRect">
            <a:avLst>
              <a:gd name="adj" fmla="val 8000"/>
            </a:avLst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80" y="406908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E1B18"/>
                </a:solidFill>
                <a:latin typeface="Calibri"/>
              </a:rPr>
              <a:t>64×64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F5A55"/>
                </a:solidFill>
                <a:latin typeface="Calibri"/>
              </a:rPr>
              <a:t>3 (RGB)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00600"/>
            <a:ext cx="6492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600"/>
              </a:spcAft>
              <a:buChar char="•"/>
            </a:pPr>
            <a:r>
              <a:rPr sz="1400" b="1" i="0">
                <a:solidFill>
                  <a:srgbClr val="1E1B18"/>
                </a:solidFill>
                <a:latin typeface="Calibri"/>
              </a:rPr>
              <a:t>Générateur : </a:t>
            </a:r>
            <a:r>
              <a:rPr sz="1400" b="0" i="0">
                <a:solidFill>
                  <a:srgbClr val="1E1B18"/>
                </a:solidFill>
                <a:latin typeface="Calibri"/>
              </a:rPr>
              <a:t>BatchNorm + ReLU, sortie tanh.</a:t>
            </a:r>
          </a:p>
          <a:p>
            <a:pPr algn="l" marL="201168" indent="-201168">
              <a:spcAft>
                <a:spcPts val="600"/>
              </a:spcAft>
              <a:buChar char="•"/>
            </a:pPr>
            <a:r>
              <a:rPr sz="1400" b="1" i="0">
                <a:solidFill>
                  <a:srgbClr val="1E1B18"/>
                </a:solidFill>
                <a:latin typeface="Calibri"/>
              </a:rPr>
              <a:t>Discriminateur : </a:t>
            </a:r>
            <a:r>
              <a:rPr sz="1400" b="0" i="0">
                <a:solidFill>
                  <a:srgbClr val="1E1B18"/>
                </a:solidFill>
                <a:latin typeface="Calibri"/>
              </a:rPr>
              <a:t>architecture miroir (convolutions à pas), LeakyReLU 0,2, sortie sigmoïde.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1645920"/>
            <a:ext cx="4206240" cy="4480560"/>
          </a:xfrm>
          <a:prstGeom prst="roundRect">
            <a:avLst>
              <a:gd name="adj" fmla="val 6000"/>
            </a:avLst>
          </a:prstGeom>
          <a:solidFill>
            <a:srgbClr val="F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187451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8C2F39"/>
                </a:solidFill>
                <a:latin typeface="Cambria"/>
              </a:rPr>
              <a:t>Hyperparamètres de départ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423160"/>
            <a:ext cx="365760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900"/>
              </a:spcAft>
              <a:buChar char="•"/>
            </a:pPr>
            <a:r>
              <a:rPr sz="1400" b="1" i="0">
                <a:solidFill>
                  <a:srgbClr val="1E1B18"/>
                </a:solidFill>
                <a:latin typeface="Calibri"/>
              </a:rPr>
              <a:t>Perte : </a:t>
            </a:r>
            <a:r>
              <a:rPr sz="1400" b="0" i="0">
                <a:solidFill>
                  <a:srgbClr val="1E1B18"/>
                </a:solidFill>
                <a:latin typeface="Calibri"/>
              </a:rPr>
              <a:t>entropie croisée binaire</a:t>
            </a:r>
          </a:p>
          <a:p>
            <a:pPr algn="l" marL="201168" indent="-201168">
              <a:spcAft>
                <a:spcPts val="900"/>
              </a:spcAft>
              <a:buChar char="•"/>
            </a:pPr>
            <a:r>
              <a:rPr sz="1400" b="1" i="0">
                <a:solidFill>
                  <a:srgbClr val="1E1B18"/>
                </a:solidFill>
                <a:latin typeface="Calibri"/>
              </a:rPr>
              <a:t>Optimiseur : </a:t>
            </a:r>
            <a:r>
              <a:rPr sz="1400" b="0" i="0">
                <a:solidFill>
                  <a:srgbClr val="1E1B18"/>
                </a:solidFill>
                <a:latin typeface="Calibri"/>
              </a:rPr>
              <a:t>Adam, lr 0,0002, β1 = 0,5</a:t>
            </a:r>
          </a:p>
          <a:p>
            <a:pPr algn="l" marL="201168" indent="-201168">
              <a:spcAft>
                <a:spcPts val="900"/>
              </a:spcAft>
              <a:buChar char="•"/>
            </a:pPr>
            <a:r>
              <a:rPr sz="1400" b="1" i="0">
                <a:solidFill>
                  <a:srgbClr val="1E1B18"/>
                </a:solidFill>
                <a:latin typeface="Calibri"/>
              </a:rPr>
              <a:t>Lot : </a:t>
            </a:r>
            <a:r>
              <a:rPr sz="1400" b="0" i="0">
                <a:solidFill>
                  <a:srgbClr val="1E1B18"/>
                </a:solidFill>
                <a:latin typeface="Calibri"/>
              </a:rPr>
              <a:t>128 images</a:t>
            </a:r>
          </a:p>
          <a:p>
            <a:pPr algn="l" marL="201168" indent="-201168">
              <a:spcAft>
                <a:spcPts val="900"/>
              </a:spcAft>
              <a:buChar char="•"/>
            </a:pPr>
            <a:r>
              <a:rPr sz="1400" b="1" i="0">
                <a:solidFill>
                  <a:srgbClr val="1E1B18"/>
                </a:solidFill>
                <a:latin typeface="Calibri"/>
              </a:rPr>
              <a:t>Dimension de z : </a:t>
            </a:r>
            <a:r>
              <a:rPr sz="1400" b="0" i="0">
                <a:solidFill>
                  <a:srgbClr val="1E1B18"/>
                </a:solidFill>
                <a:latin typeface="Calibri"/>
              </a:rPr>
              <a:t>100</a:t>
            </a:r>
          </a:p>
          <a:p>
            <a:pPr algn="l" marL="201168" indent="-201168">
              <a:spcAft>
                <a:spcPts val="900"/>
              </a:spcAft>
              <a:buChar char="•"/>
            </a:pPr>
            <a:r>
              <a:rPr sz="1400" b="1" i="0">
                <a:solidFill>
                  <a:srgbClr val="1E1B18"/>
                </a:solidFill>
                <a:latin typeface="Calibri"/>
              </a:rPr>
              <a:t>Matériel : </a:t>
            </a:r>
            <a:r>
              <a:rPr sz="1400" b="0" i="0">
                <a:solidFill>
                  <a:srgbClr val="1E1B18"/>
                </a:solidFill>
                <a:latin typeface="Calibri"/>
              </a:rPr>
              <a:t>GPU Colab (pas de GPU NVIDIA local)</a:t>
            </a:r>
          </a:p>
          <a:p>
            <a:pPr algn="l" marL="201168" indent="-201168">
              <a:spcAft>
                <a:spcPts val="900"/>
              </a:spcAft>
              <a:buChar char="•"/>
            </a:pPr>
            <a:r>
              <a:rPr sz="1400" b="0" i="1">
                <a:solidFill>
                  <a:srgbClr val="5F5A55"/>
                </a:solidFill>
                <a:latin typeface="Calibri"/>
              </a:rPr>
              <a:t>Valeurs du papier DCGAN, à valider sur nos données.</a:t>
            </a:r>
          </a:p>
        </p:txBody>
      </p:sp>
      <p:sp>
        <p:nvSpPr>
          <p:cNvPr id="26" name="Pied de page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5A55"/>
                </a:solidFill>
                <a:latin typeface="Calibri"/>
              </a:rPr>
              <a:t>Statut : prévu, non entraîné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urtitre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C2F39"/>
                </a:solidFill>
                <a:latin typeface="Calibri"/>
              </a:rPr>
              <a:t>LE MODÈLE · RÉSULTATS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1B18"/>
                </a:solidFill>
                <a:latin typeface="Cambria"/>
              </a:rPr>
              <a:t>Résultats : entraînement à venir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12064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A8A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120640" cy="4480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E1B18"/>
                </a:solidFill>
                <a:latin typeface="Calibri"/>
              </a:rPr>
              <a:t>Emplacement des grilles d'images générées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5F5A55"/>
                </a:solidFill>
                <a:latin typeface="Calibri"/>
              </a:rPr>
              <a:t>à compléter après l'entraînement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73736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8C2F39"/>
                </a:solidFill>
                <a:latin typeface="Cambria"/>
              </a:rPr>
              <a:t>Protocole d'évaluation prévu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286000"/>
            <a:ext cx="53949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1E1B18"/>
                </a:solidFill>
                <a:latin typeface="Calibri"/>
              </a:rPr>
              <a:t>Grilles générées à partir des mêmes vecteurs z à chaque époque, pour suivre la progression</a:t>
            </a:r>
          </a:p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1E1B18"/>
                </a:solidFill>
                <a:latin typeface="Calibri"/>
              </a:rPr>
              <a:t>Courbes de pertes de G et D, croisées avec les images (les pertes seules ne suffisent pas)</a:t>
            </a:r>
          </a:p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1E1B18"/>
                </a:solidFill>
                <a:latin typeface="Calibri"/>
              </a:rPr>
              <a:t>FID et KID entre images générées et jeu d'évaluation (~10 %, jamais vu à l'entraînement)</a:t>
            </a:r>
          </a:p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1E1B18"/>
                </a:solidFill>
                <a:latin typeface="Calibri"/>
              </a:rPr>
              <a:t>Plus proches voisins dans le jeu d'entraînement, pour détecter la mémorisation</a:t>
            </a:r>
          </a:p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1E1B18"/>
                </a:solidFill>
                <a:latin typeface="Calibri"/>
              </a:rPr>
              <a:t>Checkpoints complets (poids, optimiseurs, époque, graines) pour reprendre sur Colab</a:t>
            </a:r>
          </a:p>
        </p:txBody>
      </p:sp>
      <p:sp>
        <p:nvSpPr>
          <p:cNvPr id="8" name="Pied de page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5A55"/>
                </a:solidFill>
                <a:latin typeface="Calibri"/>
              </a:rPr>
              <a:t>Statut : non commencé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urtitre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C2F39"/>
                </a:solidFill>
                <a:latin typeface="Calibri"/>
              </a:rPr>
              <a:t>ÉQUIPE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1B18"/>
                </a:solidFill>
                <a:latin typeface="Cambria"/>
              </a:rPr>
              <a:t>Organisation de l'équipe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520440" cy="4480560"/>
          </a:xfrm>
          <a:prstGeom prst="roundRect">
            <a:avLst>
              <a:gd name="adj" fmla="val 6000"/>
            </a:avLst>
          </a:prstGeom>
          <a:solidFill>
            <a:srgbClr val="F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993392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8C2F39"/>
                </a:solidFill>
                <a:latin typeface="Cambria"/>
              </a:rPr>
              <a:t>Outils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29718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1E1B18"/>
                </a:solidFill>
                <a:latin typeface="Calibri"/>
              </a:rPr>
              <a:t>Dépôt GitHub : [à compléter]</a:t>
            </a:r>
          </a:p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1E1B18"/>
                </a:solidFill>
                <a:latin typeface="Calibri"/>
              </a:rPr>
              <a:t>Suivi des tâches (Trello / Azure DevOps) : [à compléter]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520440" cy="4480560"/>
          </a:xfrm>
          <a:prstGeom prst="roundRect">
            <a:avLst>
              <a:gd name="adj" fmla="val 6000"/>
            </a:avLst>
          </a:prstGeom>
          <a:solidFill>
            <a:srgbClr val="F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17720" y="1920240"/>
            <a:ext cx="548640" cy="548640"/>
          </a:xfrm>
          <a:prstGeom prst="ellipse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993392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8C2F39"/>
                </a:solidFill>
                <a:latin typeface="Cambria"/>
              </a:rPr>
              <a:t>Rituels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743200"/>
            <a:ext cx="29718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1E1B18"/>
                </a:solidFill>
                <a:latin typeface="Calibri"/>
              </a:rPr>
              <a:t>Points d'équipe : [fréquence à compléter]</a:t>
            </a:r>
          </a:p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1E1B18"/>
                </a:solidFill>
                <a:latin typeface="Calibri"/>
              </a:rPr>
              <a:t>Revues de code : [à compléter]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3520440" cy="4480560"/>
          </a:xfrm>
          <a:prstGeom prst="roundRect">
            <a:avLst>
              <a:gd name="adj" fmla="val 6000"/>
            </a:avLst>
          </a:prstGeom>
          <a:solidFill>
            <a:srgbClr val="F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0" y="1920240"/>
            <a:ext cx="548640" cy="548640"/>
          </a:xfrm>
          <a:prstGeom prst="ellipse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993392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8C2F39"/>
                </a:solidFill>
                <a:latin typeface="Cambria"/>
              </a:rPr>
              <a:t>Répartition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743200"/>
            <a:ext cx="29718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1E1B18"/>
                </a:solidFill>
                <a:latin typeface="Calibri"/>
              </a:rPr>
              <a:t>[Membre 1] : [rôle]</a:t>
            </a:r>
          </a:p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1E1B18"/>
                </a:solidFill>
                <a:latin typeface="Calibri"/>
              </a:rPr>
              <a:t>[Membre 2] : [rôle]</a:t>
            </a:r>
          </a:p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1E1B18"/>
                </a:solidFill>
                <a:latin typeface="Calibri"/>
              </a:rPr>
              <a:t>[Membre 3] : [rôle]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4A84B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Des données solides avant le premier 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3520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D4A84B"/>
                </a:solidFill>
                <a:latin typeface="Cambria"/>
              </a:rPr>
              <a:t>Acquis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352044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12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Catalogue analysé, pièges identifiés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8 000 peintures sélectionnées, genres équilibrés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Scraping reprenable et testé (25 tests)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828800"/>
            <a:ext cx="3520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D4A84B"/>
                </a:solidFill>
                <a:latin typeface="Cambria"/>
              </a:rPr>
              <a:t>Difficultés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2468880"/>
            <a:ext cx="352044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12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Serveur lent et irrégulier : blocage puis correctif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Données hétérogènes : cadres, noir et blanc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Fort déséquilibre des genres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828800"/>
            <a:ext cx="3520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D4A84B"/>
                </a:solidFill>
                <a:latin typeface="Cambria"/>
              </a:rPr>
              <a:t>Prochaines étapes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468880"/>
            <a:ext cx="352044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12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Terminer le téléchargement et le contrôle des images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Entraîner la baseline DCGAN sur Colab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Évaluer (FID, KID, visuel), puis l'application Streamlit</a:t>
            </a:r>
          </a:p>
        </p:txBody>
      </p:sp>
      <p:pic>
        <p:nvPicPr>
          <p:cNvPr id="10" name="Picture 9" descr="0077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74920"/>
            <a:ext cx="1143000" cy="1143000"/>
          </a:xfrm>
          <a:prstGeom prst="rect">
            <a:avLst/>
          </a:prstGeom>
        </p:spPr>
      </p:pic>
      <p:pic>
        <p:nvPicPr>
          <p:cNvPr id="11" name="Picture 10" descr="0072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2224" y="5074920"/>
            <a:ext cx="1143000" cy="1143000"/>
          </a:xfrm>
          <a:prstGeom prst="rect">
            <a:avLst/>
          </a:prstGeom>
        </p:spPr>
      </p:pic>
      <p:pic>
        <p:nvPicPr>
          <p:cNvPr id="12" name="Picture 11" descr="0028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5808" y="5074920"/>
            <a:ext cx="1143000" cy="1143000"/>
          </a:xfrm>
          <a:prstGeom prst="rect">
            <a:avLst/>
          </a:prstGeom>
        </p:spPr>
      </p:pic>
      <p:pic>
        <p:nvPicPr>
          <p:cNvPr id="13" name="Picture 12" descr="0096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392" y="5074920"/>
            <a:ext cx="1143000" cy="1143000"/>
          </a:xfrm>
          <a:prstGeom prst="rect">
            <a:avLst/>
          </a:prstGeom>
        </p:spPr>
      </p:pic>
      <p:pic>
        <p:nvPicPr>
          <p:cNvPr id="14" name="Picture 13" descr="00959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2976" y="5074920"/>
            <a:ext cx="1143000" cy="1143000"/>
          </a:xfrm>
          <a:prstGeom prst="rect">
            <a:avLst/>
          </a:prstGeom>
        </p:spPr>
      </p:pic>
      <p:pic>
        <p:nvPicPr>
          <p:cNvPr id="15" name="Picture 14" descr="0103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0" y="5074920"/>
            <a:ext cx="1143000" cy="1143000"/>
          </a:xfrm>
          <a:prstGeom prst="rect">
            <a:avLst/>
          </a:prstGeom>
        </p:spPr>
      </p:pic>
      <p:pic>
        <p:nvPicPr>
          <p:cNvPr id="16" name="Picture 15" descr="00296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0144" y="5074920"/>
            <a:ext cx="1143000" cy="1143000"/>
          </a:xfrm>
          <a:prstGeom prst="rect">
            <a:avLst/>
          </a:prstGeom>
        </p:spPr>
      </p:pic>
      <p:pic>
        <p:nvPicPr>
          <p:cNvPr id="17" name="Picture 16" descr="00216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53728" y="5074920"/>
            <a:ext cx="1143000" cy="1143000"/>
          </a:xfrm>
          <a:prstGeom prst="rect">
            <a:avLst/>
          </a:prstGeom>
        </p:spPr>
      </p:pic>
      <p:pic>
        <p:nvPicPr>
          <p:cNvPr id="18" name="Picture 17" descr="00026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97312" y="5074920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GANisme</dc:title>
  <dc:subject>Générer des peintures avec un GAN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